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274320"/>
            <a:ext cx="1737360" cy="91440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45920"/>
            <a:ext cx="39319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8580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2000" b="1">
                <a:solidFill>
                  <a:srgbClr val="184C94"/>
                </a:solidFill>
                <a:latin typeface="Arial"/>
              </a:rPr>
              <a:t>SIH26056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800" b="1">
                <a:solidFill>
                  <a:srgbClr val="184C94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2000" b="1">
                <a:solidFill>
                  <a:srgbClr val="184C94"/>
                </a:solidFill>
                <a:latin typeface="Arial"/>
              </a:rPr>
              <a:t>Smart Governance / Miscellaneous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2000" b="1">
                <a:solidFill>
                  <a:srgbClr val="184C94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2000" b="1">
                <a:solidFill>
                  <a:srgbClr val="184C94"/>
                </a:solidFill>
                <a:latin typeface="Arial"/>
              </a:rPr>
              <a:t>Team Rookie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2000" b="1">
                <a:solidFill>
                  <a:srgbClr val="184C94"/>
                </a:solidFill>
                <a:latin typeface="Arial"/>
              </a:rPr>
              <a:t>Team Rookie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AIRINTEL INDIA</a:t>
            </a:r>
          </a:p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Augmenting CPI through High-Frequency Algorithmic Web Scraping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3657600" cy="521208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91840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200"/>
              </a:spcAft>
              <a:defRPr sz="2800" b="1">
                <a:solidFill>
                  <a:srgbClr val="7033A0"/>
                </a:solidFill>
                <a:latin typeface="Arial"/>
              </a:defRPr>
            </a:pPr>
            <a:r>
              <a:t>PROBLEM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Manual Survey Bottleneck: Field staff manually query airline portals once a month for single spot quotes.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Blind to Dynamic Pricing: Fails to capture algorithmic yield spikes, peak hour surges, and holiday load factors.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Lead-Time Neglect: Completely ignores booking curves (1-day emergency surge vs. 45-day advance booking).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15-Day Policy Lag: Lagging data limits the responsiveness of RBI monetary policy and aviation regulators.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25880"/>
            <a:ext cx="109728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Scheduled Harvest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04688" y="1325880"/>
            <a:ext cx="1097280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Normalization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325880"/>
            <a:ext cx="109728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Z-Score Filter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8704" y="1325880"/>
            <a:ext cx="1097280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Jevons GM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25712" y="1325880"/>
            <a:ext cx="109728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Laspeyres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20" y="1325880"/>
            <a:ext cx="1097280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Dashboard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011680"/>
            <a:ext cx="3840480" cy="4480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148840"/>
            <a:ext cx="35661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Our solution</a:t>
            </a:r>
          </a:p>
          <a:p>
            <a:pPr>
              <a:spcAft>
                <a:spcPts val="600"/>
              </a:spcAft>
              <a:defRPr sz="1150" b="1">
                <a:solidFill>
                  <a:srgbClr val="000000"/>
                </a:solidFill>
                <a:latin typeface="Arial"/>
              </a:defRPr>
            </a:pPr>
            <a:r>
              <a:t>An automated high-frequency pipeline that: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Scrapes raw fares across IndiGo, Air India, SpiceJet &amp; OTAs via scheduled Playwright crawlers.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Samples 5 forward lead times (1d, 7d, 15d, 30d, 45d) for complete horizon capture.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Applies automated Z-score outlier filtering (|Z| &gt; 3.0) to flag dynamic surges.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Calculates UN/ILO Jevons Elementary Geometric Mean to eliminate substitution bias.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Aggregates National Laspeyres Index weighted by DGCA monthly passenger volume.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Generates cryptographic SHA-256 provenance hashes for official MoSPI auditability.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280160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37160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Why different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Captures real-time dynamic yield algorithms, not single monthly static quotes.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Mathematically proven Jevons GM eliminates upward substitution bias over Dutot.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Cryptographic SHA-256 vault guarantees legal &amp; statistical reproducibility.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977639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406908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Key Value Proposition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&gt;95% reduction in recurring survey costs across 12 metro airports.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Empowers RBI MPC with zero-lag transportation inflation leading indicators.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Equips DGCA with instant surge anomaly alerts to detect regional price gouging.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26080" y="1188720"/>
            <a:ext cx="201168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System Architecture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583680" cy="2377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926080" y="4069080"/>
            <a:ext cx="182880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Process Flowchart</a:t>
            </a:r>
          </a:p>
        </p:txBody>
      </p:sp>
      <p:pic>
        <p:nvPicPr>
          <p:cNvPr id="9" name="Picture 8" descr="flowchart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34840"/>
            <a:ext cx="65836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0" y="1280160"/>
            <a:ext cx="4389120" cy="5212080"/>
          </a:xfrm>
          <a:prstGeom prst="roundRect">
            <a:avLst/>
          </a:prstGeom>
          <a:solidFill>
            <a:srgbClr val="FFFFFF"/>
          </a:solidFill>
          <a:ln w="7620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463040"/>
            <a:ext cx="402336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2400" b="1">
                <a:solidFill>
                  <a:srgbClr val="7C3AED"/>
                </a:solidFill>
                <a:latin typeface="Arial"/>
              </a:defRPr>
            </a:pPr>
            <a:r>
              <a:t>Tech Stack Used: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Python 3.13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Playwright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Pandas &amp; NumPy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SciPy (Z-score)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UN/ILO Jevons Engine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PostgreSQL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React 19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TypeScript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Tailwind CSS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Recharts SVG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FastAPI &amp; Node.js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Docker &amp; Vercel 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6858000" cy="25146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4922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Risk assessment and mitigation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Anti-Scraping / IP Blocks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02:00 AM off-peak cron + residential proxy rotation + jitter delays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OTA DOM Layout Changes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Multi-selector schema (ARIA / data-test) + cached baseline fallbacks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Dynamic Surge &amp; Outliers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Automated ±3.0σ Z-score truncation + UN/ILO Jevons geometric damping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280160"/>
            <a:ext cx="4114800" cy="251460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749039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feasibility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Automated headless Playwright extraction across Air India, IndiGo, SpiceJet &amp; MakeMyTrip.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5 standard forward lead-times (1d, 7d, 15d, 30d, 45d) capturing full yield curves.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Mathematical UN/ILO Jevons geometric mean &amp; DGCA passenger volume Laspeyres weighting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420624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38404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Resource Requirements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Lightweight serverless cloud cron runner / VPS (Python &amp; Node.js).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Open source statistical tools (Playwright, Pandas, SciPy, PostgreSQL, React 19).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Secure cloud database to store flight quotes, formula IDs &amp; SHA-256 provenance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14800"/>
            <a:ext cx="2468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Proven Frameworks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UN/ILO CPI Manual (2020)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DGCA Traffic Statistics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MoSPI CPI (2012=100)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MIT Billion Prices Project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023360"/>
            <a:ext cx="411480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114800"/>
            <a:ext cx="3749039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Economic Approach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Slashes manual airport survey collection costs by &gt;95% across major Indian metros.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Extremely low operational cloud footprint (&lt; ₹3,500 / month).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High ROI: 30x increase in price sampling frequency at a fraction of manual survey costs.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Scales easily across 250+ UDAN regional routes with zero additional hardware.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430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000000"/>
                </a:solidFill>
                <a:latin typeface="Arial"/>
              </a:defRPr>
            </a:pPr>
            <a:r>
              <a:t>“FROM SCATTERED AIRFARES TO SOVEREIGN REAL-TIME INFLATION INTELLIGENCE”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IMPACTS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4572000" cy="804672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E40AF"/>
                </a:solidFill>
                <a:latin typeface="Arial"/>
              </a:defRPr>
            </a:pPr>
            <a:r>
              <a:t>Macroeconomic Policy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Eliminates 15-day CPI lag; empowers RBI MPC with real-time transport inflation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72384"/>
            <a:ext cx="4572000" cy="804672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66534"/>
                </a:solidFill>
                <a:latin typeface="Arial"/>
              </a:defRPr>
            </a:pPr>
            <a:r>
              <a:t>Regulatory &amp; Aviation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Enables DGCA to detect route monopolies, festival fare surges &amp; predatory pricing.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50208"/>
            <a:ext cx="4572000" cy="804672"/>
          </a:xfrm>
          <a:prstGeom prst="roundRect">
            <a:avLst/>
          </a:prstGeom>
          <a:solidFill>
            <a:srgbClr val="FED7AA"/>
          </a:solidFill>
          <a:ln w="1270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9A3412"/>
                </a:solidFill>
                <a:latin typeface="Arial"/>
              </a:defRPr>
            </a:pPr>
            <a:r>
              <a:t>Statistical Rigor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Replaces single monthly spot checks with 10,000+ daily observations obeying UN/ILO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28032"/>
            <a:ext cx="4572000" cy="804672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6B21A8"/>
                </a:solidFill>
                <a:latin typeface="Arial"/>
              </a:defRPr>
            </a:pPr>
            <a:r>
              <a:t>National Governance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Builds India's first sovereign high-frequency price aggregation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05856"/>
            <a:ext cx="4572000" cy="804672"/>
          </a:xfrm>
          <a:prstGeom prst="roundRect">
            <a:avLst/>
          </a:prstGeom>
          <a:solidFill>
            <a:srgbClr val="FEF08A"/>
          </a:solidFill>
          <a:ln w="12700">
            <a:solidFill>
              <a:srgbClr val="854D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854D0E"/>
                </a:solidFill>
                <a:latin typeface="Arial"/>
              </a:defRPr>
            </a:pPr>
            <a:r>
              <a:t>Technical &amp; Digital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Demonstrates how automated scraping &amp; cryptographic provenance modernize national statistics.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2011680"/>
            <a:ext cx="27432" cy="448056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737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FUTURE PROSPECTS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94560"/>
            <a:ext cx="57607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UDAN Route Expansion: </a:t>
            </a:r>
            <a:r>
              <a:rPr sz="1200">
                <a:solidFill>
                  <a:srgbClr val="323232"/>
                </a:solidFill>
                <a:latin typeface="Arial"/>
              </a:rPr>
              <a:t>Scale from current 12 metro corridors to 250+ Tier-2 and Tier-3 regional airports nationwide.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Cabin Tier Differentiation: </a:t>
            </a:r>
            <a:r>
              <a:rPr sz="1200">
                <a:solidFill>
                  <a:srgbClr val="323232"/>
                </a:solidFill>
                <a:latin typeface="Arial"/>
              </a:rPr>
              <a:t>Segregate economy, premium economy, and business class into granular sub-indices.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Intraday Time-of-Day Yield: </a:t>
            </a:r>
            <a:r>
              <a:rPr sz="1200">
                <a:solidFill>
                  <a:srgbClr val="323232"/>
                </a:solidFill>
                <a:latin typeface="Arial"/>
              </a:rPr>
              <a:t>Model peak departure rush hours (06:00-09:00, 17:00-20:00) vs off-peak red-eye rates.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Central MoSPI NDAP Integration: </a:t>
            </a:r>
            <a:r>
              <a:rPr sz="1200">
                <a:solidFill>
                  <a:srgbClr val="323232"/>
                </a:solidFill>
                <a:latin typeface="Arial"/>
              </a:rPr>
              <a:t>Establish direct automated API pipelines feeding real-time indices into the official CPI release.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Autonomous AI Analyst: </a:t>
            </a:r>
            <a:r>
              <a:rPr sz="1200">
                <a:solidFill>
                  <a:srgbClr val="323232"/>
                </a:solidFill>
                <a:latin typeface="Arial"/>
              </a:rPr>
              <a:t>Deploy LLM agents to draft automated weekly inflation briefs and alert DGCA of pricing anomalies.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DEMO/PROTOTYPE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Arial"/>
              </a:defRPr>
            </a:pPr>
            <a:r>
              <a:t>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Arial"/>
              </a:defRPr>
            </a:pPr>
            <a:r>
              <a:t>RESULT</a:t>
            </a:r>
          </a:p>
        </p:txBody>
      </p:sp>
      <p:pic>
        <p:nvPicPr>
          <p:cNvPr id="8" name="Picture 7" descr="demo_chart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303520" cy="3931920"/>
          </a:xfrm>
          <a:prstGeom prst="rect">
            <a:avLst/>
          </a:prstGeom>
        </p:spPr>
      </p:pic>
      <p:pic>
        <p:nvPicPr>
          <p:cNvPr id="9" name="Picture 8" descr="media_17896622698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45920"/>
            <a:ext cx="539496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7607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Here’s the link to AirIntel India — your gateway to real-time airfare CPI intelligence:</a:t>
            </a:r>
          </a:p>
          <a:p>
            <a:pPr algn="ctr">
              <a:defRPr sz="2200" b="1" u="sng">
                <a:solidFill>
                  <a:srgbClr val="1D4ED8"/>
                </a:solidFill>
                <a:latin typeface="Arial"/>
              </a:defRPr>
            </a:pPr>
            <a:r>
              <a:t>https://sihwinners.vercel.app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" y="1234440"/>
            <a:ext cx="5715000" cy="256032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Cavallo, A., &amp; Rigobon, R. (2016). 'The Billion Prices Project: Using Online Data for Measurement and Research.' Journal of Economic Perspectives.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UN, ILO, IMF, OECD, Eurostat, World Bank (2020). Consumer Price Index Manual: Concepts and Methods, Chapter 10 (Elementary Indices).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715000" cy="25603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SOURCES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https://www.dgca.gov.in/ (DGCA Monthly Scheduled Domestic Passenger Traffic)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https://www.mospi.gov.in/ (CSO Consumer Price Index Manual &amp; Guidelines)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https://www.airindia.com/ &amp; https://www.goindigo.in/ (Direct Carrier Portals)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https://www.makemytrip.com/ (Online Travel Aggregator Non-Stop Domestic Flight Rates)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977639"/>
            <a:ext cx="5715000" cy="2560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19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C7D2FE"/>
                </a:solidFill>
                <a:latin typeface="Arial"/>
              </a:defRPr>
            </a:pPr>
            <a:r>
              <a:t>MARKET RESEARCH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Indian domestic air passenger traffic is projected to grow at &gt;15% CAGR (2024–2030).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Algorithmic dynamic pricing creates massive intraday and lead-time fare dispersion.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Zero automated tools currently exist in India for daily algorithmic CPI airfare tracking.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AirIntel India fills the critical 15-day MoSPI manual survey lag with zero latency.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977639"/>
            <a:ext cx="5715000" cy="256032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19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DOCUMENTATION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Index Formulations: UN/ILO Jevons Geometric Mean vs Dutot Arithmetic Comparison.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Scraper Framework: Playwright Chromium Headless with Random UA &amp; Stealth Evasion.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Provenance Architecture: SHA-256 Hash Manifest conforming to NDSAP open standards.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Deployment: Dockerized serverless cron (02:00 AM) + Vercel Edge Web Portal.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