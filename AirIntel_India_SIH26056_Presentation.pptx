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969264"/>
            <a:ext cx="1115568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0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68112" cy="2487168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68112" cy="384048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80" b="1">
                <a:solidFill>
                  <a:srgbClr val="FFFFFF"/>
                </a:solidFill>
                <a:latin typeface="Arial"/>
              </a:defRPr>
            </a:pPr>
            <a:r>
              <a:t>CURRENT MoSPI FRAMEWORK: MANUAL FIELD SURVEY (THE PROBLEM)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19072"/>
            <a:ext cx="5148072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1E293B"/>
                </a:solidFill>
                <a:latin typeface="Arial"/>
              </a:rPr>
              <a:t>Manual surveyor visits delay CPI reporting by 2 weeks, missing rapid price volatility and holiday surges.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1E293B"/>
                </a:solidFill>
                <a:latin typeface="Arial"/>
              </a:rPr>
              <a:t>Only 1 physical quote collected per route/month, failing to capture 10,000+ daily dynamic pricing changes.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1E293B"/>
                </a:solidFill>
                <a:latin typeface="Arial"/>
              </a:rPr>
              <a:t>Arithmetic mean price relatives structurally overstate airfare transport inflation by +20–30 bps (substitution bias).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Logistics: </a:t>
            </a:r>
            <a:r>
              <a:rPr sz="980">
                <a:solidFill>
                  <a:srgbClr val="1E293B"/>
                </a:solidFill>
                <a:latin typeface="Arial"/>
              </a:rPr>
              <a:t>Multi-crore physical airport field surveyor visits with zero cryptographic or verifiable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98448"/>
            <a:ext cx="5468112" cy="2487168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298448"/>
            <a:ext cx="5468112" cy="384048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80" b="1">
                <a:solidFill>
                  <a:srgbClr val="FFFFFF"/>
                </a:solidFill>
                <a:latin typeface="Arial"/>
              </a:defRPr>
            </a:pPr>
            <a:r>
              <a:t>VAYUSUCHAK AUTOMATED PIPELINE (HOW OUR SYSTEM SOLVES 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719072"/>
            <a:ext cx="5148072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Automated Live Extraction: </a:t>
            </a:r>
            <a:r>
              <a:rPr sz="980">
                <a:solidFill>
                  <a:srgbClr val="1E293B"/>
                </a:solidFill>
                <a:latin typeface="Arial"/>
              </a:rPr>
              <a:t>Distributed Playwright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1E293B"/>
                </a:solidFill>
                <a:latin typeface="Arial"/>
              </a:rPr>
              <a:t>Captures urgent vs saver booking curves weighted dynamically by official DGCA passenger volume shares.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1E293B"/>
                </a:solidFill>
                <a:latin typeface="Arial"/>
              </a:rPr>
              <a:t>Geometric mean formula eliminates Dutot substitution bias, delivering an axiomatic 0.0% distortion index.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Sovereign Audit Ledger: </a:t>
            </a:r>
            <a:r>
              <a:rPr sz="980">
                <a:solidFill>
                  <a:srgbClr val="1E293B"/>
                </a:solidFill>
                <a:latin typeface="Arial"/>
              </a:rPr>
              <a:t>SHA-256 Merkle tree fingerprints guarantee tamper-proof legal evidentiary auditability for MoSPI &amp; RBI.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50208"/>
            <a:ext cx="210312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950208"/>
            <a:ext cx="2103120" cy="365760"/>
          </a:xfrm>
          <a:prstGeom prst="roundRect">
            <a:avLst>
              <a:gd name="adj" fmla="val 18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STEP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61688"/>
            <a:ext cx="192024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150" b="1">
                <a:solidFill>
                  <a:srgbClr val="1E40AF"/>
                </a:solidFill>
                <a:latin typeface="Arial"/>
              </a:defRPr>
            </a:pPr>
            <a:r>
              <a:t>Dynamic Yield</a:t>
            </a:r>
            <a:br/>
            <a:r>
              <a:t>Tracking</a:t>
            </a:r>
          </a:p>
          <a:p>
            <a:pPr algn="ctr">
              <a:spcAft>
                <a:spcPts val="6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• T+1..T+45 Windows •</a:t>
            </a:r>
          </a:p>
          <a:p>
            <a:pPr algn="l">
              <a:lnSpc>
                <a:spcPct val="118000"/>
              </a:lnSpc>
              <a:defRPr sz="960">
                <a:solidFill>
                  <a:srgbClr val="1E293B"/>
                </a:solidFill>
                <a:latin typeface="Arial"/>
              </a:defRPr>
            </a:pPr>
            <a:r>
              <a:t>Captures intraday surges across T+1..T+45 advance booking windows.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" y="6263640"/>
            <a:ext cx="1956816" cy="310896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E40AF"/>
                </a:solidFill>
                <a:latin typeface="Arial"/>
              </a:defRPr>
            </a:pPr>
            <a:r>
              <a:t>Playwright Scraper | 10,000+ Fares/Day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5184" y="5001768"/>
            <a:ext cx="1463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500" b="1">
                <a:solidFill>
                  <a:srgbClr val="94A3B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70632" y="3950208"/>
            <a:ext cx="210312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70632" y="3950208"/>
            <a:ext cx="2103120" cy="365760"/>
          </a:xfrm>
          <a:prstGeom prst="roundRect">
            <a:avLst>
              <a:gd name="adj" fmla="val 18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STEP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4361688"/>
            <a:ext cx="192024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150" b="1">
                <a:solidFill>
                  <a:srgbClr val="0284C7"/>
                </a:solidFill>
                <a:latin typeface="Arial"/>
              </a:defRPr>
            </a:pPr>
            <a:r>
              <a:t>Dynamic IQR</a:t>
            </a:r>
            <a:br/>
            <a:r>
              <a:t>Scrubber</a:t>
            </a:r>
          </a:p>
          <a:p>
            <a:pPr algn="ctr">
              <a:spcAft>
                <a:spcPts val="6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• Base Fare Isolation •</a:t>
            </a:r>
          </a:p>
          <a:p>
            <a:pPr algn="l">
              <a:lnSpc>
                <a:spcPct val="118000"/>
              </a:lnSpc>
              <a:defRPr sz="960">
                <a:solidFill>
                  <a:srgbClr val="1E293B"/>
                </a:solidFill>
                <a:latin typeface="Arial"/>
              </a:defRPr>
            </a:pPr>
            <a:r>
              <a:t>Isolates base fares and purges phantom prices and cache glitches.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43784" y="6263640"/>
            <a:ext cx="1956816" cy="310896"/>
          </a:xfrm>
          <a:prstGeom prst="roundRect">
            <a:avLst>
              <a:gd name="adj" fmla="val 20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284C7"/>
                </a:solidFill>
                <a:latin typeface="Arial"/>
              </a:defRPr>
            </a:pPr>
            <a:r>
              <a:t>SciPy Truncation | Outlier Purged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2896" y="5001768"/>
            <a:ext cx="1463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500" b="1">
                <a:solidFill>
                  <a:srgbClr val="94A3B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38344" y="3950208"/>
            <a:ext cx="210312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38344" y="3950208"/>
            <a:ext cx="2103120" cy="365760"/>
          </a:xfrm>
          <a:prstGeom prst="roundRect">
            <a:avLst>
              <a:gd name="adj" fmla="val 18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4" y="4361688"/>
            <a:ext cx="192024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150" b="1">
                <a:solidFill>
                  <a:srgbClr val="0D9488"/>
                </a:solidFill>
                <a:latin typeface="Arial"/>
              </a:defRPr>
            </a:pPr>
            <a:r>
              <a:t>UN/ILO Jevons</a:t>
            </a:r>
            <a:br/>
            <a:r>
              <a:t>Index Engine</a:t>
            </a:r>
          </a:p>
          <a:p>
            <a:pPr algn="ctr">
              <a:spcAft>
                <a:spcPts val="6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• Geometric Mean •</a:t>
            </a:r>
          </a:p>
          <a:p>
            <a:pPr algn="l">
              <a:lnSpc>
                <a:spcPct val="118000"/>
              </a:lnSpc>
              <a:defRPr sz="960">
                <a:solidFill>
                  <a:srgbClr val="1E293B"/>
                </a:solidFill>
                <a:latin typeface="Arial"/>
              </a:defRPr>
            </a:pPr>
            <a:r>
              <a:t>Geometric mean calculation that eliminates upward substitution bias.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11496" y="6263640"/>
            <a:ext cx="1956816" cy="310896"/>
          </a:xfrm>
          <a:prstGeom prst="roundRect">
            <a:avLst>
              <a:gd name="adj" fmla="val 20000"/>
            </a:avLst>
          </a:prstGeom>
          <a:solidFill>
            <a:srgbClr val="F0FDF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  <a:latin typeface="Arial"/>
              </a:defRPr>
            </a:pPr>
            <a:r>
              <a:t>UN/ILO Ch. 10 Math | 0.0% Upward Bias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5001768"/>
            <a:ext cx="1463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500" b="1">
                <a:solidFill>
                  <a:srgbClr val="94A3B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06056" y="3950208"/>
            <a:ext cx="210312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06056" y="3950208"/>
            <a:ext cx="2103120" cy="36576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STEP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4361688"/>
            <a:ext cx="192024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150" b="1">
                <a:solidFill>
                  <a:srgbClr val="16A34A"/>
                </a:solidFill>
                <a:latin typeface="Arial"/>
              </a:defRPr>
            </a:pPr>
            <a:r>
              <a:t>Sovereign Audit</a:t>
            </a:r>
            <a:br/>
            <a:r>
              <a:t>Vault</a:t>
            </a:r>
          </a:p>
          <a:p>
            <a:pPr algn="ctr">
              <a:spcAft>
                <a:spcPts val="6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• Cryptographic Proofs •</a:t>
            </a:r>
          </a:p>
          <a:p>
            <a:pPr algn="l">
              <a:lnSpc>
                <a:spcPct val="118000"/>
              </a:lnSpc>
              <a:defRPr sz="960">
                <a:solidFill>
                  <a:srgbClr val="1E293B"/>
                </a:solidFill>
                <a:latin typeface="Arial"/>
              </a:defRPr>
            </a:pPr>
            <a:r>
              <a:t>SHA-256 batch Merkle tree proofs for judicial and policy scrutiny.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79208" y="6263640"/>
            <a:ext cx="1956816" cy="310896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6A34A"/>
                </a:solidFill>
                <a:latin typeface="Arial"/>
              </a:defRPr>
            </a:pPr>
            <a:r>
              <a:t>SHA-256 Ledger | Tamper-Proof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5001768"/>
            <a:ext cx="1463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500" b="1">
                <a:solidFill>
                  <a:srgbClr val="94A3B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73768" y="3950208"/>
            <a:ext cx="210312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73768" y="3950208"/>
            <a:ext cx="2103120" cy="365760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STEP 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5208" y="4361688"/>
            <a:ext cx="192024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150" b="1">
                <a:solidFill>
                  <a:srgbClr val="0F172A"/>
                </a:solidFill>
                <a:latin typeface="Arial"/>
              </a:defRPr>
            </a:pPr>
            <a:r>
              <a:t>Real-Time API</a:t>
            </a:r>
            <a:br/>
            <a:r>
              <a:t>Delivery</a:t>
            </a:r>
          </a:p>
          <a:p>
            <a:pPr algn="ctr">
              <a:spcAft>
                <a:spcPts val="6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• Instant Feeds •</a:t>
            </a:r>
          </a:p>
          <a:p>
            <a:pPr algn="l">
              <a:lnSpc>
                <a:spcPct val="118000"/>
              </a:lnSpc>
              <a:defRPr sz="960">
                <a:solidFill>
                  <a:srgbClr val="1E293B"/>
                </a:solidFill>
                <a:latin typeface="Arial"/>
              </a:defRPr>
            </a:pPr>
            <a:r>
              <a:t>Sub-10ms REST API and live eSankhyiki CSV feed for MoSPI and RBI.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46920" y="6263640"/>
            <a:ext cx="1956816" cy="310896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FastAPI &amp; CSV Feed | &lt; 10ms Latency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154680" cy="5440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288036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51560"/>
            <a:ext cx="7845552" cy="54406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1216152"/>
            <a:ext cx="7589520" cy="3238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977640" y="4637987"/>
            <a:ext cx="7571232" cy="171709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729427"/>
            <a:ext cx="7388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E40AF"/>
                </a:solidFill>
                <a:latin typeface="Arial"/>
              </a:defRPr>
            </a:pPr>
            <a:r>
              <a:t>Core Engineering Benchmarks &amp; Architectural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Harvester Run SLA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18 Minutes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10,000+ daily live fares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Dynamic IQR Filter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DC2626"/>
                </a:solidFill>
                <a:latin typeface="Arial"/>
              </a:defRPr>
            </a:pPr>
            <a:r>
              <a:t>SciPy Scrubber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Purges phantom taxes &amp; surge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Axiomatic Rigor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0.00% Bias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UN/ILO Jevons Geometric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REST API Delivery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10ms Latency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MoSPI eSankhyiki CSV/JSON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