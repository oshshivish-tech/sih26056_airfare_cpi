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005840"/>
            <a:ext cx="103628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EA5E9"/>
                </a:solidFill>
              </a:defRPr>
            </a:pPr>
            <a:r>
              <a:t>SMART INDIA HACKATHON 2026 | PROBLEM STATEMENT: SIH26056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AirIntel India: Real-time Airfare Price Index</a:t>
            </a:r>
          </a:p>
          <a:p>
            <a:pPr>
              <a:spcBef>
                <a:spcPts val="800"/>
              </a:spcBef>
              <a:defRPr sz="1500">
                <a:solidFill>
                  <a:srgbClr val="94A3B8"/>
                </a:solidFill>
              </a:defRPr>
            </a:pPr>
            <a:r>
              <a:t>Augmenting CPI through High-Frequency Algorithmic Web Scraping &amp; UN/ILO Jevons-Laspeyres Aggregation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389120"/>
            <a:ext cx="2423160" cy="1737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4553712"/>
            <a:ext cx="2093976" cy="14081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TEAM INFORMATION</a:t>
            </a:r>
          </a:p>
          <a:p>
            <a:pPr>
              <a:spcBef>
                <a:spcPts val="600"/>
              </a:spcBef>
              <a:defRPr sz="1100">
                <a:solidFill>
                  <a:srgbClr val="F1F5F9"/>
                </a:solidFill>
              </a:defRPr>
            </a:pPr>
            <a:r>
              <a:t>Team Rookie</a:t>
            </a:r>
            <a:br/>
            <a:r>
              <a:t>College Internal Hackathon</a:t>
            </a:r>
            <a:br/>
            <a:r>
              <a:t>19th September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4389120"/>
            <a:ext cx="2423160" cy="1737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21608" y="4553712"/>
            <a:ext cx="2093976" cy="14081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MINISTRY / CLIENT</a:t>
            </a:r>
          </a:p>
          <a:p>
            <a:pPr>
              <a:spcBef>
                <a:spcPts val="600"/>
              </a:spcBef>
              <a:defRPr sz="1100">
                <a:solidFill>
                  <a:srgbClr val="F1F5F9"/>
                </a:solidFill>
              </a:defRPr>
            </a:pPr>
            <a:r>
              <a:t>MoSPI &amp; National Statistical Office (NSO)</a:t>
            </a:r>
            <a:br/>
            <a:r>
              <a:t>Government of India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4389120"/>
            <a:ext cx="2423160" cy="1737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4224" y="4553712"/>
            <a:ext cx="2093976" cy="14081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THEME &amp; CATEGORY</a:t>
            </a:r>
          </a:p>
          <a:p>
            <a:pPr>
              <a:spcBef>
                <a:spcPts val="600"/>
              </a:spcBef>
              <a:defRPr sz="1100">
                <a:solidFill>
                  <a:srgbClr val="F1F5F9"/>
                </a:solidFill>
              </a:defRPr>
            </a:pPr>
            <a:r>
              <a:t>Smart Governance / FinTech</a:t>
            </a:r>
            <a:br/>
            <a:r>
              <a:t>Software Edition | Web Scraping &amp; Data 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42248" y="4389120"/>
            <a:ext cx="2423160" cy="1737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4553712"/>
            <a:ext cx="2093976" cy="14081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LIVE PRODUCTION PROTOTYPE</a:t>
            </a:r>
          </a:p>
          <a:p>
            <a:pPr>
              <a:spcBef>
                <a:spcPts val="600"/>
              </a:spcBef>
              <a:defRPr sz="1100">
                <a:solidFill>
                  <a:srgbClr val="F1F5F9"/>
                </a:solidFill>
              </a:defRPr>
            </a:pPr>
            <a:r>
              <a:t>https://sihwinners.vercel.app</a:t>
            </a:r>
            <a:br/>
            <a:r>
              <a:t>GitHub: oshshivish-tech/sih26056_airfare_cpi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SIH 2026 | PS ID: 26056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Problem Statement, Algorithmic Pipeline &amp; Proposed Solution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3832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THE PROBLEM (CURRENT MOSPI LIMITATIONS)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31089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Manual Survey Bottleneck: Field staff query OTAs once a month, recording a single stale spot fare.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Blind to Dynamic Pricing: Misses algorithmic yield surges (time-of-day, peak rush hours, festivals).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Lead-Time Neglect: Completely overlooks fare escalation (1d emergency vs. 45d advance booking).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Policy Lag: MoSPI published CPI indices carry a 12 to 15-day reporting lag behind market reality.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33832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690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THE SOLUTION: AIRINTEL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434840"/>
            <a:ext cx="31089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Headless Automated Harvester: Playwright cron scraping across Air India, IndiGo, SpiceJet &amp; MakeMyTrip.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5 Standard Lead-Time Horizons: Continuous sampling across 1, 7, 15, 30, and 45 days forward.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UN/ILO 2020 Compliance: Elementary Jevons Geometric Mean prevents upward substitution bias.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DGCA Passenger Weighting: Weighted Laspeyres aggregation across top 12 arterial flight corridors.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80160"/>
            <a:ext cx="356616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4173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END-TO-END DATAFLOW 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783080"/>
            <a:ext cx="3200400" cy="84124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856232"/>
            <a:ext cx="301752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1. Scheduled Ingestion (02:00 AM IST)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Playwright stealth scrapers harvest all daily non-stop flights for 12 routes x 5 booking horizons.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2743200"/>
            <a:ext cx="3200400" cy="84124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816352"/>
            <a:ext cx="301752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EA5E9"/>
                </a:solidFill>
              </a:defRPr>
            </a:pPr>
            <a:r>
              <a:t>2. Automated Data Cleaning &amp; Z-Score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Strips airport taxes, fuel surcharges, filters junk quotes &amp; flags outliers (|Z| &gt; 3.00).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3703320"/>
            <a:ext cx="3200400" cy="84124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776472"/>
            <a:ext cx="301752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0B981"/>
                </a:solidFill>
              </a:defRPr>
            </a:pPr>
            <a:r>
              <a:t>3. Elementary Aggregation (Jevons GM)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Calculates Jevons Geometric Index per route &amp; booking horizon to neutralize extreme fare spikes.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4663440"/>
            <a:ext cx="3200400" cy="84124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736592"/>
            <a:ext cx="301752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t>4. National Laspeyres Aggregation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Weights each corridor by DGCA actual passenger volume to produce single daily national airfare index.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5623560"/>
            <a:ext cx="3200400" cy="84124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5696712"/>
            <a:ext cx="301752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8B5CF6"/>
                </a:solidFill>
              </a:defRPr>
            </a:pPr>
            <a:r>
              <a:t>5. Provenance &amp; MoSPI Export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SHA-256 tamper-evident cryptographic hash vault + real-time interactive analytics dashboard.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280160"/>
            <a:ext cx="356616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4173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WHY WE ARE DIFFERENT (INNOVATION)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178308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Shift from Static to Dynamic: Captures intraday &amp; seasonal yield shifts, not just single monthly spot fares.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Lead-Time Granularity: Evaluates last-minute travel surge (1d) vs vacation planning (45d) empirically.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Zero Upward Bias: Mathematically proven Jevons GM replaces flawed arithmetic Dutot averages.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Cryptographic Provenance: Every scrape run outputs an immutable SHA-256 audit manifest for MoSPI verifiability.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931920"/>
            <a:ext cx="356616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406908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VALUE PROPOSITION FOR GOVERNMENT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443484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100x Cost Reduction: Replaces physical field surveyors across 12 metro airports with automated cloud runs.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Zero-Lag Inflation Tracking: Provides RBI Monetary Policy Committee with high-frequency transportation data.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Aviation Ministry Oversight: Identifies sudden route price gouging during emergencies or route monopolies.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Production-Ready Integration: Exportable CSV/JSON directly ingestible into MoSPI's central CPI engine.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SIH 2026 | PS ID: 26056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Technical Architecture, Mathematical Formulas &amp; Tech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3832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310896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Tier 1: Harvester Layer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Playwright headless worker pool with user-agent rotation, stealth plugins, and retry exponential backoff scheduled daily at 02:00 AM IST.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Tier 2: Cleansing &amp; Pipeline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Python / Pandas parser extracts base fares, standardizes carrier codes, strips GST/UDF fees, and computes rolling Z-scores for surge outlier flagging.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Tier 3: Index Calculation Engine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UN/ILO compliant computation core running Jevons geometric mean, Dutot comparison, and DGCA monthly passenger-share Laspeyres weighting.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Tier 4: Provenance Vault &amp; Storage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PostgreSQL database storing raw flight quotes with cryptographic SHA-256 provenance hashes for legal auditability.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Tier 5: Analytics Dashboard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React 19 + TypeScript + Recharts + Tailwind CSS web portal with horizon filters, outlier modals, and live MoSPI baseline comparisons.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280160"/>
            <a:ext cx="402336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4173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MATHEMATICAL FORMULATION &amp;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783080"/>
            <a:ext cx="3749039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1. Elementary Jevons Geometric Index:</a:t>
            </a:r>
          </a:p>
          <a:p>
            <a:pPr>
              <a:spcAft>
                <a:spcPts val="800"/>
              </a:spcAft>
              <a:defRPr sz="950">
                <a:solidFill>
                  <a:srgbClr val="0F172A"/>
                </a:solidFill>
              </a:defRPr>
            </a:pPr>
            <a:r>
              <a:t>I_J = [ ∏_{i=1}^n (P_{i,t} / P_{i,0}) ]^(1/n) = exp( (1/n) ∑ ln(P_{i,t} / P_{i,0}) )</a:t>
            </a:r>
            <a:br/>
            <a:r>
              <a:t>• Multiplicative axiom satisfied; immune to extreme single-seat fare shocks.</a:t>
            </a:r>
            <a:br/>
            <a:r>
              <a:t>• Complies with UN/ILO Consumer Price Index Manual (2020) Chapter 10 recommendations.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2. Dutot Arithmetic Index (Baseline Comparison):</a:t>
            </a:r>
          </a:p>
          <a:p>
            <a:pPr>
              <a:spcAft>
                <a:spcPts val="800"/>
              </a:spcAft>
              <a:defRPr sz="950">
                <a:solidFill>
                  <a:srgbClr val="0F172A"/>
                </a:solidFill>
              </a:defRPr>
            </a:pPr>
            <a:r>
              <a:t>I_D = ( ∑ P_{i,t} / n ) / ( ∑ P_{i,0} / n )</a:t>
            </a:r>
            <a:br/>
            <a:r>
              <a:t>• Maintained alongside Jevons to isolate and measure upward substitution bias in legacy indices.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3. DGCA Weighted Laspeyres National Aggregation:</a:t>
            </a:r>
          </a:p>
          <a:p>
            <a:pPr>
              <a:spcAft>
                <a:spcPts val="800"/>
              </a:spcAft>
              <a:defRPr sz="950">
                <a:solidFill>
                  <a:srgbClr val="0F172A"/>
                </a:solidFill>
              </a:defRPr>
            </a:pPr>
            <a:r>
              <a:t>I_{National, t} = ∑_{c=1}^{12} [ W_c × I_{c, t} ]  where  ∑ W_c = 1.0</a:t>
            </a:r>
            <a:br/>
            <a:r>
              <a:t>• Weights (W_c) derived directly from DGCA City-Pair Monthly Passenger Volume (e.g., DEL-BOM: 0.185, BOM-BLR: 0.112).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4. Dynamic Z-Score Outlier Flagging:</a:t>
            </a:r>
          </a:p>
          <a:p>
            <a:pPr>
              <a:spcAft>
                <a:spcPts val="800"/>
              </a:spcAft>
              <a:defRPr sz="950">
                <a:solidFill>
                  <a:srgbClr val="0F172A"/>
                </a:solidFill>
              </a:defRPr>
            </a:pPr>
            <a:r>
              <a:t>Z_i = ( P_i - μ_c ) / σ_c  where |Z_i| &gt; 3.0 is flagged</a:t>
            </a:r>
            <a:br/>
            <a:r>
              <a:t>• Flags extreme festival / last-minute dynamic pricing anomalies for audit.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280160"/>
            <a:ext cx="2926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41732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ENTERPRISE TECH STACK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1783080"/>
            <a:ext cx="265176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Data Scraping Engine</a:t>
            </a:r>
          </a:p>
          <a:p>
            <a:pPr>
              <a:spcAft>
                <a:spcPts val="700"/>
              </a:spcAft>
              <a:defRPr sz="950">
                <a:solidFill>
                  <a:srgbClr val="0F172A"/>
                </a:solidFill>
              </a:defRPr>
            </a:pPr>
            <a:r>
              <a:t>Playwright Node.js, Python, Stealth Plugin, Randomized User-Agents</a:t>
            </a:r>
          </a:p>
          <a:p>
            <a:pPr>
              <a:defRPr sz="1050" b="1">
                <a:solidFill>
                  <a:srgbClr val="2563EB"/>
                </a:solidFill>
              </a:defRPr>
            </a:pPr>
            <a:r>
              <a:t>Data Transformation</a:t>
            </a:r>
          </a:p>
          <a:p>
            <a:pPr>
              <a:spcAft>
                <a:spcPts val="700"/>
              </a:spcAft>
              <a:defRPr sz="950">
                <a:solidFill>
                  <a:srgbClr val="0F172A"/>
                </a:solidFill>
              </a:defRPr>
            </a:pPr>
            <a:r>
              <a:t>Pandas, NumPy, SciPy (Z-score), Pydantic Data Models</a:t>
            </a:r>
          </a:p>
          <a:p>
            <a:pPr>
              <a:defRPr sz="1050" b="1">
                <a:solidFill>
                  <a:srgbClr val="2563EB"/>
                </a:solidFill>
              </a:defRPr>
            </a:pPr>
            <a:r>
              <a:t>Statistical Core</a:t>
            </a:r>
          </a:p>
          <a:p>
            <a:pPr>
              <a:spcAft>
                <a:spcPts val="700"/>
              </a:spcAft>
              <a:defRPr sz="950">
                <a:solidFill>
                  <a:srgbClr val="0F172A"/>
                </a:solidFill>
              </a:defRPr>
            </a:pPr>
            <a:r>
              <a:t>Jevons Geometric Mean, Dutot Ratio, Laspeyres Multi-tier</a:t>
            </a:r>
          </a:p>
          <a:p>
            <a:pPr>
              <a:defRPr sz="1050" b="1">
                <a:solidFill>
                  <a:srgbClr val="2563EB"/>
                </a:solidFill>
              </a:defRPr>
            </a:pPr>
            <a:r>
              <a:t>Backend &amp; Database</a:t>
            </a:r>
          </a:p>
          <a:p>
            <a:pPr>
              <a:spcAft>
                <a:spcPts val="700"/>
              </a:spcAft>
              <a:defRPr sz="950">
                <a:solidFill>
                  <a:srgbClr val="0F172A"/>
                </a:solidFill>
              </a:defRPr>
            </a:pPr>
            <a:r>
              <a:t>FastAPI / Node microservices, PostgreSQL, SHA-256 Vault</a:t>
            </a:r>
          </a:p>
          <a:p>
            <a:pPr>
              <a:defRPr sz="1050" b="1">
                <a:solidFill>
                  <a:srgbClr val="2563EB"/>
                </a:solidFill>
              </a:defRPr>
            </a:pPr>
            <a:r>
              <a:t>Frontend Dashboard</a:t>
            </a:r>
          </a:p>
          <a:p>
            <a:pPr>
              <a:spcAft>
                <a:spcPts val="700"/>
              </a:spcAft>
              <a:defRPr sz="950">
                <a:solidFill>
                  <a:srgbClr val="0F172A"/>
                </a:solidFill>
              </a:defRPr>
            </a:pPr>
            <a:r>
              <a:t>React 19, TypeScript, Tailwind CSS, Lucide Icons, Recharts</a:t>
            </a:r>
          </a:p>
          <a:p>
            <a:pPr>
              <a:defRPr sz="1050" b="1">
                <a:solidFill>
                  <a:srgbClr val="2563EB"/>
                </a:solidFill>
              </a:defRPr>
            </a:pPr>
            <a:r>
              <a:t>Hosting &amp; CI/CD</a:t>
            </a:r>
          </a:p>
          <a:p>
            <a:pPr>
              <a:spcAft>
                <a:spcPts val="700"/>
              </a:spcAft>
              <a:defRPr sz="950">
                <a:solidFill>
                  <a:srgbClr val="0F172A"/>
                </a:solidFill>
              </a:defRPr>
            </a:pPr>
            <a:r>
              <a:t>Vercel Production Edge, GitHub Actions, Docker Containers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SIH 2026 | PS ID: 26056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Feasibility, Risk Management &amp; Economic Viability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1. POTENTIAL RISKS &amp; MITIGATION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</a:defRPr>
            </a:pPr>
            <a:r>
              <a:t>• Anti-Scraping / Cloudflare Blocks: </a:t>
            </a:r>
            <a:r>
              <a:rPr b="0">
                <a:solidFill>
                  <a:srgbClr val="64748B"/>
                </a:solidFill>
              </a:rPr>
              <a:t>Mitigated via residential proxy rotation, randomized delays (2-5s), off-peak 02:00 AM scraping, and direct GDS/OTA public REST endpoint queries.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</a:defRPr>
            </a:pPr>
            <a:r>
              <a:t>• OTA Web Layout Changes: </a:t>
            </a:r>
            <a:r>
              <a:rPr b="0">
                <a:solidFill>
                  <a:srgbClr val="64748B"/>
                </a:solidFill>
              </a:rPr>
              <a:t>Mitigated with robust multi-selector fallback rules (data-test-id, ARIA labels) and automated nightly test validation suites that ping alerts.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</a:defRPr>
            </a:pPr>
            <a:r>
              <a:t>• Extreme Dynamic Price Outliers: </a:t>
            </a:r>
            <a:r>
              <a:rPr b="0">
                <a:solidFill>
                  <a:srgbClr val="64748B"/>
                </a:solidFill>
              </a:rPr>
              <a:t>Controlled via automated ±3.0σ Z-score truncation and geometric Jevons weighting preventing disproportionate skew.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2. TECHNICAL FEASIBILITY &amp;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3736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</a:defRPr>
            </a:pPr>
            <a:r>
              <a:t>• Proven Industry Paradigm: </a:t>
            </a:r>
            <a:r>
              <a:rPr b="0">
                <a:solidFill>
                  <a:srgbClr val="64748B"/>
                </a:solidFill>
              </a:rPr>
              <a:t>Follows MIT Billion Prices Project and UK Office for National Statistics (ONS) automated web-scraping methodologies for CPI items.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</a:defRPr>
            </a:pPr>
            <a:r>
              <a:t>• High Scalability: </a:t>
            </a:r>
            <a:r>
              <a:rPr b="0">
                <a:solidFill>
                  <a:srgbClr val="64748B"/>
                </a:solidFill>
              </a:rPr>
              <a:t>Containerized serverless jobs can expand from 12 corridors to 250+ regional UDAN routes with zero architectural redesign.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</a:defRPr>
            </a:pPr>
            <a:r>
              <a:t>• Tamper-Proof Auditability: </a:t>
            </a:r>
            <a:r>
              <a:rPr b="0">
                <a:solidFill>
                  <a:srgbClr val="64748B"/>
                </a:solidFill>
              </a:rPr>
              <a:t>Every flight record stored with UTC timestamp, raw HTML source hash, and calculation formula parameters in immutable logs.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</a:defRPr>
            </a:pPr>
            <a:r>
              <a:t>• Graceful Degradation: </a:t>
            </a:r>
            <a:r>
              <a:rPr b="0">
                <a:solidFill>
                  <a:srgbClr val="64748B"/>
                </a:solidFill>
              </a:rPr>
              <a:t>Cached baseline pricing models guarantee continuous index generation even if single carrier portals experience temporary downtime.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3. ECONOMIC VIABILITY &amp; COST BENEFIT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8912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</a:defRPr>
            </a:pPr>
            <a:r>
              <a:t>• Legacy MoSPI Survey Cost: </a:t>
            </a:r>
            <a:r>
              <a:rPr b="0">
                <a:solidFill>
                  <a:srgbClr val="64748B"/>
                </a:solidFill>
              </a:rPr>
              <a:t>Significant expenditure on physical field enumerators across major Indian metro airports conducting manual monthly queries.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</a:defRPr>
            </a:pPr>
            <a:r>
              <a:t>• AirIntel Cloud Cost: </a:t>
            </a:r>
            <a:r>
              <a:rPr b="0">
                <a:solidFill>
                  <a:srgbClr val="64748B"/>
                </a:solidFill>
              </a:rPr>
              <a:t>&lt; ₹3,500 ($42 USD) / month running on automated cron servers and lightweight serverless database workers.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</a:defRPr>
            </a:pPr>
            <a:r>
              <a:t>• Cost Reduction Ratio: </a:t>
            </a:r>
            <a:r>
              <a:rPr b="0">
                <a:solidFill>
                  <a:srgbClr val="64748B"/>
                </a:solidFill>
              </a:rPr>
              <a:t>&gt; 95% reduction in recurring data collection expenditure while multiplying sampling frequency by 30x.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</a:defRPr>
            </a:pPr>
            <a:r>
              <a:t>• Public Value: </a:t>
            </a:r>
            <a:r>
              <a:rPr b="0">
                <a:solidFill>
                  <a:srgbClr val="64748B"/>
                </a:solidFill>
              </a:rPr>
              <a:t>Provides RBI with daily real-time leading indicator for core transport services inflation months ahead of lagging survey figures.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69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4. OPERATIONAL SUSTAINABILITY &amp; GOVERNANCE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438912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</a:defRPr>
            </a:pPr>
            <a:r>
              <a:t>• Deployment Footprint: </a:t>
            </a:r>
            <a:r>
              <a:rPr b="0">
                <a:solidFill>
                  <a:srgbClr val="64748B"/>
                </a:solidFill>
              </a:rPr>
              <a:t>Fully open-source stack (Python, PostgreSQL, React) with zero proprietary enterprise licensing lock-in.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</a:defRPr>
            </a:pPr>
            <a:r>
              <a:t>• Maintenance Staffing: </a:t>
            </a:r>
            <a:r>
              <a:rPr b="0">
                <a:solidFill>
                  <a:srgbClr val="64748B"/>
                </a:solidFill>
              </a:rPr>
              <a:t>Requires just one data engineer for pipeline health &amp; periodic scraper DOM selector updates.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</a:defRPr>
            </a:pPr>
            <a:r>
              <a:t>• Compliance &amp; Ethics: </a:t>
            </a:r>
            <a:r>
              <a:rPr b="0">
                <a:solidFill>
                  <a:srgbClr val="64748B"/>
                </a:solidFill>
              </a:rPr>
              <a:t>Adheres to robots.txt, respects site crawl limits by scheduling during midnight troughs, and scrapes only publicly visible fares.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</a:defRPr>
            </a:pPr>
            <a:r>
              <a:t>• MoSPI Integration: </a:t>
            </a:r>
            <a:r>
              <a:rPr b="0">
                <a:solidFill>
                  <a:srgbClr val="64748B"/>
                </a:solidFill>
              </a:rPr>
              <a:t>RESTful JSON API endpoints allow direct plug-in to MoSPI's National Data &amp; Analytics Platform (NDAP).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SIH 2026 | PS ID: 26056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Impact, Benefits &amp; Strategic Scalability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QUANTIFIABLE IMPACT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48463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Macroeconomic &amp; Policy Impact (RBI / Ministry of Finance):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Eliminates the 15-day reporting lag for the transport component of headline CPI. Grants the Monetary Policy Committee (MPC) actionable real-time air travel inflation metrics for interest rate setting.</a:t>
            </a:r>
          </a:p>
          <a:p>
            <a:pPr>
              <a:defRPr sz="1100" b="1">
                <a:solidFill>
                  <a:srgbClr val="0EA5E9"/>
                </a:solidFill>
              </a:defRPr>
            </a:pPr>
            <a:r>
              <a:t>Regulatory Transparency (DGCA &amp; Ministry of Civil Aviation):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Equips aviation watchdogs with algorithmic surge detection to instantly detect regional monopoly gouging, route collusion, or abnormal festive-season fare spikes (&gt;3σ anomalies).</a:t>
            </a:r>
          </a:p>
          <a:p>
            <a:pPr>
              <a:defRPr sz="1100" b="1">
                <a:solidFill>
                  <a:srgbClr val="10B981"/>
                </a:solidFill>
              </a:defRPr>
            </a:pPr>
            <a:r>
              <a:t>Statistical Rigor (MoSPI / National Statistical Office):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Replaces subjective single-point airport surveys with 10,000+ monthly price observations. Solves substitution bias through UN/ILO Jevons aggregation and realistic lead-time weighting.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80160"/>
            <a:ext cx="54864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5-PHASE NATIONAL EXPANSION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783080"/>
            <a:ext cx="52120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Phase 1: Hackathon MVP (Current State)</a:t>
            </a:r>
          </a:p>
          <a:p>
            <a:pPr>
              <a:spcAft>
                <a:spcPts val="700"/>
              </a:spcAft>
              <a:defRPr sz="950">
                <a:solidFill>
                  <a:srgbClr val="0F172A"/>
                </a:solidFill>
              </a:defRPr>
            </a:pPr>
            <a:r>
              <a:t>Live dashboard covering 12 metro corridors, 5 horizons, Jevons/Dutot index, Z-score outlier engine, and SHA-256 provenance vault.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Phase 2: Full National Fleet Coverage (Q1 2027)</a:t>
            </a:r>
          </a:p>
          <a:p>
            <a:pPr>
              <a:spcAft>
                <a:spcPts val="700"/>
              </a:spcAft>
              <a:defRPr sz="950">
                <a:solidFill>
                  <a:srgbClr val="0F172A"/>
                </a:solidFill>
              </a:defRPr>
            </a:pPr>
            <a:r>
              <a:t>Expansion to 250+ Tier-2/Tier-3 routes including UDAN regional flights, Akasa Air, and regional turboprop carriers.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Phase 3: Deep Dynamic Segmentation (Q2 2027)</a:t>
            </a:r>
          </a:p>
          <a:p>
            <a:pPr>
              <a:spcAft>
                <a:spcPts val="700"/>
              </a:spcAft>
              <a:defRPr sz="950">
                <a:solidFill>
                  <a:srgbClr val="0F172A"/>
                </a:solidFill>
              </a:defRPr>
            </a:pPr>
            <a:r>
              <a:t>Class-specific sub-indices (Premium Economy, Business, Economy) with granular departure time-of-day weighting (morning peak vs. red-eye).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Phase 4: MoSPI NDAP Automated Pipeline (Q3 2027)</a:t>
            </a:r>
          </a:p>
          <a:p>
            <a:pPr>
              <a:spcAft>
                <a:spcPts val="700"/>
              </a:spcAft>
              <a:defRPr sz="950">
                <a:solidFill>
                  <a:srgbClr val="0F172A"/>
                </a:solidFill>
              </a:defRPr>
            </a:pPr>
            <a:r>
              <a:t>Secure API integration pushing daily verified airfare price indices directly into National Data &amp; Analytics Platform for official CPI releases.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Phase 5: Autonomous AI Analyst &amp; Alerting (Q4 2027)</a:t>
            </a:r>
          </a:p>
          <a:p>
            <a:pPr>
              <a:spcAft>
                <a:spcPts val="700"/>
              </a:spcAft>
              <a:defRPr sz="950">
                <a:solidFill>
                  <a:srgbClr val="0F172A"/>
                </a:solidFill>
              </a:defRPr>
            </a:pPr>
            <a:r>
              <a:t>LLM-powered executive summarizer drafting weekly inflation briefs and automated anomaly webhooks alerting DGCA of fare violations.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SIH 2026 | PS ID: 26056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Live Working Prototype &amp; Platform Verification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10728655" cy="6858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98448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🌐 LIVE PRODUCTION SYSTEM:  https://sihwinners.vercel.app   |   REPOSITORY:  github.com/oshshivish-tech/sih26056_airfare_cpi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57400"/>
            <a:ext cx="34290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1. Real-Time Index Visualizer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3154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✔ Interactive multi-horizon line chart (1d, 7d, 15d, 30d, 45d, All).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✔ Dynamic visual scaling showing urgent flight surge (158.2) vs advance booking (90.4).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✔ Side-by-side comparison of Jevons GM (111.4) vs. legacy MoSPI manual baseline (112.0) and Dutot (114.8).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✔ Instant lead-time button toggle with smooth real-time SVG re-rendering.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2057400"/>
            <a:ext cx="34290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62856" y="21945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2. Real-Time Scrape &amp; Outliers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560320"/>
            <a:ext cx="3154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✔ Interactive 'Trigger Live Scrape' button simulating real-time Playwright quote harvest.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✔ Exponential Moving Average (EMA) prevents abrupt index swings during continuous live triggers.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✔ Automated Z-score modal displaying flagged dynamic surge quotes (|Z| &gt; 3.0) with live timestamps.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✔ 12-Corridor real-time rate table with individual route inflation percentages.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2057400"/>
            <a:ext cx="34290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21945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3. Provenance Audit Vault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560320"/>
            <a:ext cx="3154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✔ MoSPI compliance modal displaying SHA-256 cryptographic hashes for every scrape batch.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✔ Auditable metadata: UTC timestamps, sample record counts, operator user-agents, and formula IDs.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✔ Export functionality: Instant CSV / JSON download formatted to MoSPI national data standards.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✔ Immutable record logs preventing retroactive price tampering or data manipulation.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SIH 2026 | PS ID: 26056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Research Foundations, Official Literature &amp; Standards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1. UN / ILO CONSUMER PRICE INDEX MANUAL (2020)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Authors &amp; Publishers: International Monetary Fund (IMF), ILO, OECD, Eurostat, UN Economic Commission for Europe, World Bank.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Key Recommendation (Chapter 10): Strongly mandates elementary geometric aggregation (Jevons Index) over arithmetic means (Dutot / Carli) when expenditure weights are unavailable.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Axiomatic Property: Ensures transitivity, time reversal test satisfaction, and eliminates upward consumer substitution bias in volatile online price series.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2. DGCA DOMESTIC AIR TRAFFIC REPORTS (2025-2026)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3736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Data Source: Directorate General of Civil Aviation, Government of India - Monthly Scheduled Domestic Passenger Traffic Statistics.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Weight Calibration: City-pair passenger volume data used to derive empirical Laspeyres corridor weights (e.g., Delhi-Mumbai handles ~18.5% of total metro seat volume).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Statistical Justification: Prevents secondary low-density routes from disproportionately distorting the national inflation benchmark.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3. MIT BILLION PRICES PROJECT &amp; WEB SCRAPING IN CPI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8912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Foundational Research: Cavallo, A., &amp; Rigobon, R. (2016). 'The Billion Prices Project: Using Online Data for Measurement and Research.' Journal of Economic Perspectives.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Methodology Proof: Proves that high-frequency automated scraping mirrors official offline price movements with zero time lag.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Global National Adoption: UK Office for National Statistics (ONS), Statistics Netherlands (CBS), and US BLS have actively institutionalized web scraping for transport CPI.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69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4. MOSPI / NSO BASE YEAR (2012=100) GUIDELINES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438912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Official Standard: Ministry of Statistics and Programme Implementation, Central Statistics Office (CSO), Consumer Price Index Manual.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Integration Alignment: AirIntel India produces index outputs directly scaled to Base Year = 100 with Laspeyres higher-level weighting.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Audit Compatibility: Cryptographic provenance vault guarantees 100% adherence to National Data Sharing and Accessibility Policy (NDSAP) standards.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