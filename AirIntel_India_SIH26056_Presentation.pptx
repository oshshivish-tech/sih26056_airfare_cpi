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365D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280160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4C94"/>
                </a:solidFill>
                <a:latin typeface="Arial"/>
              </a:defRPr>
            </a:pPr>
            <a:r>
              <a:t>Sovereign Digital Public Infrastructure for MoSPI NSO &amp; RBI Inflation Targeting</a:t>
            </a:r>
          </a:p>
        </p:txBody>
      </p:sp>
      <p:pic>
        <p:nvPicPr>
          <p:cNvPr id="5" name="Picture 4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82880"/>
            <a:ext cx="1645920" cy="822960"/>
          </a:xfrm>
          <a:prstGeom prst="rect">
            <a:avLst/>
          </a:prstGeom>
        </p:spPr>
      </p:pic>
      <p:pic>
        <p:nvPicPr>
          <p:cNvPr id="6" name="Picture 5" descr="sih_cover_badge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828800"/>
            <a:ext cx="393192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74519"/>
            <a:ext cx="6583680" cy="4297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60350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Problem Statement ID – </a:t>
            </a:r>
            <a:r>
              <a:rPr sz="1600" b="1">
                <a:solidFill>
                  <a:srgbClr val="184C94"/>
                </a:solidFill>
                <a:latin typeface="Arial"/>
              </a:rPr>
              <a:t>SIH26056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Problem Statement Title – </a:t>
            </a:r>
            <a:r>
              <a:rPr sz="1600" b="1">
                <a:solidFill>
                  <a:srgbClr val="184C94"/>
                </a:solidFill>
                <a:latin typeface="Arial"/>
              </a:rPr>
              <a:t>Real-time Airfare Price Index for CPI Augmentation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Theme – </a:t>
            </a:r>
            <a:r>
              <a:rPr sz="1600" b="1">
                <a:solidFill>
                  <a:srgbClr val="184C94"/>
                </a:solidFill>
                <a:latin typeface="Arial"/>
              </a:rPr>
              <a:t>Smart Governance / Miscellaneous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PS Category – </a:t>
            </a:r>
            <a:r>
              <a:rPr sz="1600" b="1">
                <a:solidFill>
                  <a:srgbClr val="184C94"/>
                </a:solidFill>
                <a:latin typeface="Arial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Team ID – </a:t>
            </a:r>
            <a:r>
              <a:rPr sz="1600" b="1">
                <a:solidFill>
                  <a:srgbClr val="184C94"/>
                </a:solidFill>
                <a:latin typeface="Arial"/>
              </a:rPr>
              <a:t>Team Rookie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Team Name – </a:t>
            </a:r>
            <a:r>
              <a:rPr sz="1600" b="1">
                <a:solidFill>
                  <a:srgbClr val="184C94"/>
                </a:solidFill>
                <a:latin typeface="Arial"/>
              </a:rPr>
              <a:t>Team Rookie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01168"/>
            <a:ext cx="16459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338CA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VAYUSUCHAK (वायु सूचक)</a:t>
            </a:r>
          </a:p>
          <a:p>
            <a:pPr algn="ctr">
              <a:defRPr sz="1200" b="1">
                <a:solidFill>
                  <a:srgbClr val="184C94"/>
                </a:solidFill>
                <a:latin typeface="Arial"/>
              </a:defRPr>
            </a:pPr>
            <a:r>
              <a:t>Real-Time Airfare Price Index (APIx) for Augmenting CPI</a:t>
            </a:r>
          </a:p>
        </p:txBody>
      </p:sp>
      <p:pic>
        <p:nvPicPr>
          <p:cNvPr id="5" name="Picture 4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46304"/>
            <a:ext cx="1645920" cy="777240"/>
          </a:xfrm>
          <a:prstGeom prst="rect">
            <a:avLst/>
          </a:prstGeom>
        </p:spPr>
      </p:pic>
      <p:pic>
        <p:nvPicPr>
          <p:cNvPr id="6" name="Picture 5" descr="problem_solution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10908792" cy="3611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892040"/>
            <a:ext cx="2633472" cy="16916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4892040"/>
            <a:ext cx="2633472" cy="3840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★ Dynamic Yield Sensitivity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330952"/>
            <a:ext cx="2414016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Captures high-frequency algorithmic yield surges across T+1..T+45 vs 15-day delayed manual visits.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4892040"/>
            <a:ext cx="2633472" cy="16916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01568" y="4892040"/>
            <a:ext cx="2633472" cy="384048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★ Zero Upward Bias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5330952"/>
            <a:ext cx="2414016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UN/ILO Jevons geometric mean mathematically eliminates Dutot arithmetic upward distortion.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4892040"/>
            <a:ext cx="2633472" cy="16916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63056" y="4892040"/>
            <a:ext cx="2633472" cy="38404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★ Cryptographic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5330952"/>
            <a:ext cx="2414016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SHA-256 batch fingerprints ensure legal evidentiary standards for MoSPI NSO &amp; courts.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544" y="4892040"/>
            <a:ext cx="2633472" cy="169164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24544" y="4892040"/>
            <a:ext cx="2633472" cy="384048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★ &gt;95% Cost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5330952"/>
            <a:ext cx="2414016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Fully serverless automated pipeline slashes crores in physical field survey overhead.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01168"/>
            <a:ext cx="16459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338CA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5" name="Picture 4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46304"/>
            <a:ext cx="1645920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1188720"/>
            <a:ext cx="393192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25880"/>
            <a:ext cx="361188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Data Ingestion &amp; Scraping:</a:t>
            </a:r>
          </a:p>
          <a:p>
            <a:pPr>
              <a:spcAft>
                <a:spcPts val="400"/>
              </a:spcAft>
            </a:pPr>
            <a:r>
              <a:rPr sz="1200" b="1" u="sng">
                <a:solidFill>
                  <a:srgbClr val="6D28D9"/>
                </a:solidFill>
                <a:latin typeface="Arial"/>
              </a:rPr>
              <a:t>Python 3.13 &amp; Playwright</a:t>
            </a:r>
            <a:r>
              <a:rPr sz="1150">
                <a:solidFill>
                  <a:srgbClr val="334155"/>
                </a:solidFill>
                <a:latin typeface="Arial"/>
              </a:rPr>
              <a:t> - Headless automated crawlers for IndiGo, Air India, Akasa &amp; SpiceJet with strict ethical compliance.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Statistical Algorithm Formulation:</a:t>
            </a:r>
          </a:p>
          <a:p>
            <a:pPr>
              <a:spcAft>
                <a:spcPts val="400"/>
              </a:spcAft>
            </a:pPr>
            <a:r>
              <a:rPr sz="1200" b="1" u="sng">
                <a:solidFill>
                  <a:srgbClr val="6D28D9"/>
                </a:solidFill>
                <a:latin typeface="Arial"/>
              </a:rPr>
              <a:t>UN/ILO Jevons &amp; SciPy</a:t>
            </a:r>
            <a:r>
              <a:rPr sz="1150">
                <a:solidFill>
                  <a:srgbClr val="334155"/>
                </a:solidFill>
                <a:latin typeface="Arial"/>
              </a:rPr>
              <a:t> - Elementary geometric mean calculation with automated IQR dynamic outlier filtering.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Encryption and Audit Vault:</a:t>
            </a:r>
          </a:p>
          <a:p>
            <a:pPr>
              <a:spcAft>
                <a:spcPts val="400"/>
              </a:spcAft>
            </a:pPr>
            <a:r>
              <a:rPr sz="1200" b="1" u="sng">
                <a:solidFill>
                  <a:srgbClr val="6D28D9"/>
                </a:solidFill>
                <a:latin typeface="Arial"/>
              </a:rPr>
              <a:t>SHA-256 Cryptographic Vault</a:t>
            </a:r>
            <a:r>
              <a:rPr sz="1150">
                <a:solidFill>
                  <a:srgbClr val="334155"/>
                </a:solidFill>
                <a:latin typeface="Arial"/>
              </a:rPr>
              <a:t> - Immutable Merkle root batch hashing ensuring tamper-proof legal auditability under NDSAP.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Cloud Services &amp; Microservices:</a:t>
            </a:r>
          </a:p>
          <a:p>
            <a:pPr>
              <a:spcAft>
                <a:spcPts val="400"/>
              </a:spcAft>
            </a:pPr>
            <a:r>
              <a:rPr sz="1200" b="1" u="sng">
                <a:solidFill>
                  <a:srgbClr val="6D28D9"/>
                </a:solidFill>
                <a:latin typeface="Arial"/>
              </a:rPr>
              <a:t>FastAPI &amp; PostgreSQL</a:t>
            </a:r>
            <a:r>
              <a:rPr sz="1150">
                <a:solidFill>
                  <a:srgbClr val="334155"/>
                </a:solidFill>
                <a:latin typeface="Arial"/>
              </a:rPr>
              <a:t> - High-throughput REST API feeding real-time JSON/CSV into MoSPI eSankhyiki with React 19 charts.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115568"/>
            <a:ext cx="6675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Arial"/>
              </a:defRPr>
            </a:pPr>
            <a:r>
              <a:t>PROCESS FLOW ARCHITECTURE</a:t>
            </a:r>
          </a:p>
        </p:txBody>
      </p:sp>
      <p:pic>
        <p:nvPicPr>
          <p:cNvPr id="9" name="Picture 8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81328"/>
            <a:ext cx="6675120" cy="4160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46320" y="5779008"/>
            <a:ext cx="667512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5815584"/>
            <a:ext cx="6492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rial"/>
              </a:rPr>
              <a:t>Product Status: </a:t>
            </a:r>
            <a:r>
              <a:rPr sz="1100">
                <a:solidFill>
                  <a:srgbClr val="334155"/>
                </a:solidFill>
                <a:latin typeface="Arial"/>
              </a:rPr>
              <a:t>100% Production-Ready Working Prototype Deployed on Vercel Edge. Full REST API (/api/v1/apix/*), SHA-256 Provenance Vault, and 100% Passing Test Suite Verified.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01168"/>
            <a:ext cx="16459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338CA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FEASIBILITY AND VIABILITY</a:t>
            </a:r>
          </a:p>
          <a:p>
            <a:pPr algn="ctr">
              <a:defRPr sz="1200" b="1">
                <a:solidFill>
                  <a:srgbClr val="184C94"/>
                </a:solidFill>
                <a:latin typeface="Arial"/>
              </a:defRPr>
            </a:pPr>
            <a:r>
              <a:t>Technical Resilience, Operational Economy &amp; Legal Standards</a:t>
            </a:r>
          </a:p>
        </p:txBody>
      </p:sp>
      <p:pic>
        <p:nvPicPr>
          <p:cNvPr id="5" name="Picture 4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46304"/>
            <a:ext cx="164592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18872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⚡ 100% AUTOMATED CRAWLER</a:t>
            </a:r>
          </a:p>
          <a:p>
            <a:pPr algn="ctr">
              <a:defRPr sz="1000">
                <a:solidFill>
                  <a:srgbClr val="334155"/>
                </a:solidFill>
                <a:latin typeface="Arial"/>
              </a:defRPr>
            </a:pPr>
            <a:r>
              <a:t>Zero human field surveyor visits required; daily autonomous scraping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61872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991B1B"/>
                </a:solidFill>
                <a:latin typeface="Arial"/>
              </a:defRPr>
            </a:pPr>
            <a:r>
              <a:t>⚡ UN/ILO CHAPTER 10 COMPLIANT</a:t>
            </a:r>
          </a:p>
          <a:p>
            <a:pPr algn="ctr">
              <a:defRPr sz="1000">
                <a:solidFill>
                  <a:srgbClr val="334155"/>
                </a:solidFill>
                <a:latin typeface="Arial"/>
              </a:defRPr>
            </a:pPr>
            <a:r>
              <a:t>Mathematically proven Jevons index eliminates substitution bias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8872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261872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66534"/>
                </a:solidFill>
                <a:latin typeface="Arial"/>
              </a:defRPr>
            </a:pPr>
            <a:r>
              <a:t>⚡ &lt; ₹3,500 / MONTH CLOUD COST</a:t>
            </a:r>
          </a:p>
          <a:p>
            <a:pPr algn="ctr">
              <a:defRPr sz="1000">
                <a:solidFill>
                  <a:srgbClr val="334155"/>
                </a:solidFill>
                <a:latin typeface="Arial"/>
              </a:defRPr>
            </a:pPr>
            <a:r>
              <a:t>Ultra-low serverless footprint delivering &gt;95% recurring cost savings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7744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377440"/>
            <a:ext cx="3474720" cy="50292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TECHNICAL 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71800"/>
            <a:ext cx="31089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1E3A8A"/>
                </a:solidFill>
                <a:latin typeface="Arial"/>
              </a:rPr>
              <a:t>• </a:t>
            </a:r>
            <a:r>
              <a:rPr sz="1150" b="1">
                <a:solidFill>
                  <a:srgbClr val="0F172A"/>
                </a:solidFill>
                <a:latin typeface="Arial"/>
              </a:rPr>
              <a:t>Automated Harvester Engine: </a:t>
            </a:r>
            <a:r>
              <a:rPr sz="1100">
                <a:solidFill>
                  <a:srgbClr val="1E293B"/>
                </a:solidFill>
                <a:latin typeface="Arial"/>
              </a:rPr>
              <a:t>Python &amp; Playwright framework extracts live quotes from 4 carriers in &lt;10 seconds.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3A8A"/>
                </a:solidFill>
                <a:latin typeface="Arial"/>
              </a:rPr>
              <a:t>• </a:t>
            </a:r>
            <a:r>
              <a:rPr sz="1150" b="1">
                <a:solidFill>
                  <a:srgbClr val="0F172A"/>
                </a:solidFill>
                <a:latin typeface="Arial"/>
              </a:rPr>
              <a:t>Yield Curve Stratification: </a:t>
            </a:r>
            <a:r>
              <a:rPr sz="1100">
                <a:solidFill>
                  <a:srgbClr val="1E293B"/>
                </a:solidFill>
                <a:latin typeface="Arial"/>
              </a:rPr>
              <a:t>Standardized T+1, T+7, T+15, T+30, T+45 sampling captures full dynamic pricing curves.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3A8A"/>
                </a:solidFill>
                <a:latin typeface="Arial"/>
              </a:rPr>
              <a:t>• </a:t>
            </a:r>
            <a:r>
              <a:rPr sz="1150" b="1">
                <a:solidFill>
                  <a:srgbClr val="0F172A"/>
                </a:solidFill>
                <a:latin typeface="Arial"/>
              </a:rPr>
              <a:t>Statistically Proven Index: </a:t>
            </a:r>
            <a:r>
              <a:rPr sz="1100">
                <a:solidFill>
                  <a:srgbClr val="1E293B"/>
                </a:solidFill>
                <a:latin typeface="Arial"/>
              </a:rPr>
              <a:t>Complies with UN/ILO Chapter 10 elementary Jevons index and DGCA passenger seat weighting.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37744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377440"/>
            <a:ext cx="3474720" cy="502920"/>
          </a:xfrm>
          <a:prstGeom prst="roundRect">
            <a:avLst>
              <a:gd name="adj" fmla="val 20000"/>
            </a:avLst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RISK &amp; MITIGATION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971800"/>
            <a:ext cx="31089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991B1B"/>
                </a:solidFill>
                <a:latin typeface="Arial"/>
              </a:rPr>
              <a:t>• </a:t>
            </a:r>
            <a:r>
              <a:rPr sz="1150" b="1">
                <a:solidFill>
                  <a:srgbClr val="0F172A"/>
                </a:solidFill>
                <a:latin typeface="Arial"/>
              </a:rPr>
              <a:t>Anti-Scraping / Cloudflare: </a:t>
            </a:r>
            <a:r>
              <a:rPr sz="1100">
                <a:solidFill>
                  <a:srgbClr val="1E293B"/>
                </a:solidFill>
                <a:latin typeface="Arial"/>
              </a:rPr>
              <a:t>Ethical robots.txt compliance, rotating residential proxy pool, and human-like jitter delays.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991B1B"/>
                </a:solidFill>
                <a:latin typeface="Arial"/>
              </a:rPr>
              <a:t>• </a:t>
            </a:r>
            <a:r>
              <a:rPr sz="1150" b="1">
                <a:solidFill>
                  <a:srgbClr val="0F172A"/>
                </a:solidFill>
                <a:latin typeface="Arial"/>
              </a:rPr>
              <a:t>Airline DOM Layout Shifts: </a:t>
            </a:r>
            <a:r>
              <a:rPr sz="1100">
                <a:solidFill>
                  <a:srgbClr val="1E293B"/>
                </a:solidFill>
                <a:latin typeface="Arial"/>
              </a:rPr>
              <a:t>Semantic ARIA and test-data selector schema with cached baseline fallback layers.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991B1B"/>
                </a:solidFill>
                <a:latin typeface="Arial"/>
              </a:rPr>
              <a:t>• </a:t>
            </a:r>
            <a:r>
              <a:rPr sz="1150" b="1">
                <a:solidFill>
                  <a:srgbClr val="0F172A"/>
                </a:solidFill>
                <a:latin typeface="Arial"/>
              </a:rPr>
              <a:t>Surge Anomalies &amp; Outliers: </a:t>
            </a:r>
            <a:r>
              <a:rPr sz="1100">
                <a:solidFill>
                  <a:srgbClr val="1E293B"/>
                </a:solidFill>
                <a:latin typeface="Arial"/>
              </a:rPr>
              <a:t>Automated IQR truncation [Q1-1.5*IQR, Q3+2.0*IQR] with Z-score audit tags.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37744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2377440"/>
            <a:ext cx="3474720" cy="50292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ECONOMIC VIABILITY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71800"/>
            <a:ext cx="31089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166534"/>
                </a:solidFill>
                <a:latin typeface="Arial"/>
              </a:rPr>
              <a:t>• </a:t>
            </a:r>
            <a:r>
              <a:rPr sz="1150" b="1">
                <a:solidFill>
                  <a:srgbClr val="0F172A"/>
                </a:solidFill>
                <a:latin typeface="Arial"/>
              </a:rPr>
              <a:t>&gt;95% Cost Reduction: </a:t>
            </a:r>
            <a:r>
              <a:rPr sz="1100">
                <a:solidFill>
                  <a:srgbClr val="1E293B"/>
                </a:solidFill>
                <a:latin typeface="Arial"/>
              </a:rPr>
              <a:t>Replaces recurring physical field surveyor visits across Indian metro airports with automated digital ingestion.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66534"/>
                </a:solidFill>
                <a:latin typeface="Arial"/>
              </a:rPr>
              <a:t>• </a:t>
            </a:r>
            <a:r>
              <a:rPr sz="1150" b="1">
                <a:solidFill>
                  <a:srgbClr val="0F172A"/>
                </a:solidFill>
                <a:latin typeface="Arial"/>
              </a:rPr>
              <a:t>Low Serverless Footprint: </a:t>
            </a:r>
            <a:r>
              <a:rPr sz="1100">
                <a:solidFill>
                  <a:srgbClr val="1E293B"/>
                </a:solidFill>
                <a:latin typeface="Arial"/>
              </a:rPr>
              <a:t>Entire cloud scraping and computation pipeline runs autonomously for &lt; ₹3,500 / month.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66534"/>
                </a:solidFill>
                <a:latin typeface="Arial"/>
              </a:rPr>
              <a:t>• </a:t>
            </a:r>
            <a:r>
              <a:rPr sz="1150" b="1">
                <a:solidFill>
                  <a:srgbClr val="0F172A"/>
                </a:solidFill>
                <a:latin typeface="Arial"/>
              </a:rPr>
              <a:t>Regional Scale at Zero Cost: </a:t>
            </a:r>
            <a:r>
              <a:rPr sz="1100">
                <a:solidFill>
                  <a:srgbClr val="1E293B"/>
                </a:solidFill>
                <a:latin typeface="Arial"/>
              </a:rPr>
              <a:t>Scales seamlessly from 12 core metro routes to 250+ Tier-2/Tier-3 UDAN regional routes with zero extra hardware.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01168"/>
            <a:ext cx="16459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338CA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IMPACT AND BENEFITS</a:t>
            </a:r>
          </a:p>
          <a:p>
            <a:pPr algn="ctr">
              <a:defRPr sz="1200" b="1">
                <a:solidFill>
                  <a:srgbClr val="184C94"/>
                </a:solidFill>
                <a:latin typeface="Arial"/>
              </a:defRPr>
            </a:pPr>
            <a:r>
              <a:t>Transforming Sovereign Economic Governance &amp; Policy Responsiveness</a:t>
            </a:r>
          </a:p>
        </p:txBody>
      </p:sp>
      <p:pic>
        <p:nvPicPr>
          <p:cNvPr id="5" name="Picture 4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46304"/>
            <a:ext cx="164592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18872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572768"/>
            <a:ext cx="5230368" cy="15910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4358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🏛️ MoSPI NSO (Statistical Modernization)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Slashes manual price collection lag from 15 days to real-time (0 days).</a:t>
            </a:r>
            <a:br/>
            <a:r>
              <a:t>• Ingests 10,000+ daily observations vs 1 monthly static manual quote.</a:t>
            </a:r>
            <a:br/>
            <a:r>
              <a:t>• Direct automated API feed into MoSPI eSankhyiki &amp; NDAP platforms.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4496" y="1572768"/>
            <a:ext cx="5230368" cy="15910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4358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🏦 RBI MPC (Monetary Policy Targeting)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27632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Delivers high-frequency leading transport inflation indicator.</a:t>
            </a:r>
            <a:br/>
            <a:r>
              <a:t>• Enables timely interest rate calibration under flexible inflation targeting.</a:t>
            </a:r>
            <a:br/>
            <a:r>
              <a:t>• Eliminates 15-day policy blindspot in highly volatile travel cycles.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3721608"/>
            <a:ext cx="5230368" cy="14081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✈️ DGCA (Aviation Regulation &amp; Oversight)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76472"/>
            <a:ext cx="49377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Real-time surge anomaly detection to catch predatory pricing.</a:t>
            </a:r>
            <a:br/>
            <a:r>
              <a:t>• Route monopoly identification and holiday season fare gouging alerts.</a:t>
            </a:r>
            <a:br/>
            <a:r>
              <a:t>• Standardized route yield analytics across 12 domestic corridors.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3756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54496" y="3721608"/>
            <a:ext cx="5230368" cy="14081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39242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🇮🇳 National DPI (Digital Public Infrastructure)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76472"/>
            <a:ext cx="49377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India's first open sovereign high-frequency price monitoring platform.</a:t>
            </a:r>
            <a:br/>
            <a:r>
              <a:t>• Immutable SHA-256 batch cryptographic auditability for legal scrutiny.</a:t>
            </a:r>
            <a:br/>
            <a:r>
              <a:t>• Scalable architecture designed for 250+ UDAN regional airports.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03520"/>
            <a:ext cx="10908792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B365D"/>
                </a:solidFill>
                <a:latin typeface="Arial"/>
              </a:defRPr>
            </a:pPr>
            <a:r>
              <a:t>STRATEGIC FUTURE ROADMAP &amp; SCALABILITY HORIZONS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623560"/>
            <a:ext cx="256032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650992"/>
            <a:ext cx="241401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PHASE 1 (LIVE)</a:t>
            </a:r>
          </a:p>
          <a:p>
            <a:pPr algn="ctr">
              <a:defRPr sz="850">
                <a:solidFill>
                  <a:srgbClr val="1E293B"/>
                </a:solidFill>
                <a:latin typeface="Arial"/>
              </a:defRPr>
            </a:pPr>
            <a:r>
              <a:t>12 Core Metro Corridors deployed on Vercel Edge with daily cron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5623560"/>
            <a:ext cx="256032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3592" y="5650992"/>
            <a:ext cx="241401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PHASE 2 (T+6M)</a:t>
            </a:r>
          </a:p>
          <a:p>
            <a:pPr algn="ctr">
              <a:defRPr sz="850">
                <a:solidFill>
                  <a:srgbClr val="1E293B"/>
                </a:solidFill>
                <a:latin typeface="Arial"/>
              </a:defRPr>
            </a:pPr>
            <a:r>
              <a:t>Scale to 250+ Tier-2/Tier-3 RCS-UDAN regional routes nationwide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623560"/>
            <a:ext cx="256032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5650992"/>
            <a:ext cx="241401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PHASE 3 (T+12M)</a:t>
            </a:r>
          </a:p>
          <a:p>
            <a:pPr algn="ctr">
              <a:defRPr sz="850">
                <a:solidFill>
                  <a:srgbClr val="1E293B"/>
                </a:solidFill>
                <a:latin typeface="Arial"/>
              </a:defRPr>
            </a:pPr>
            <a:r>
              <a:t>Granular decomposition into Economy, Premium, and Business indices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5623560"/>
            <a:ext cx="256032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88552" y="5650992"/>
            <a:ext cx="241401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PHASE 4 (T+18M)</a:t>
            </a:r>
          </a:p>
          <a:p>
            <a:pPr algn="ctr">
              <a:defRPr sz="850">
                <a:solidFill>
                  <a:srgbClr val="1E293B"/>
                </a:solidFill>
                <a:latin typeface="Arial"/>
              </a:defRPr>
            </a:pPr>
            <a:r>
              <a:t>Autonomous LLM Inflation Analyst drafting automated MoSPI briefs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01168"/>
            <a:ext cx="16459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338CA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RESEARCH AND REFERENCES</a:t>
            </a:r>
          </a:p>
          <a:p>
            <a:pPr algn="ctr">
              <a:defRPr sz="1200" b="1">
                <a:solidFill>
                  <a:srgbClr val="184C94"/>
                </a:solidFill>
                <a:latin typeface="Arial"/>
              </a:defRPr>
            </a:pPr>
            <a:r>
              <a:t>Academic Foundations, Official Data Sources &amp; Technical Documentation</a:t>
            </a:r>
          </a:p>
        </p:txBody>
      </p:sp>
      <p:pic>
        <p:nvPicPr>
          <p:cNvPr id="5" name="Picture 4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46304"/>
            <a:ext cx="164592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280160"/>
            <a:ext cx="5120640" cy="2377440"/>
          </a:xfrm>
          <a:prstGeom prst="roundRect">
            <a:avLst>
              <a:gd name="adj" fmla="val 5000"/>
            </a:avLst>
          </a:prstGeom>
          <a:solidFill>
            <a:srgbClr val="E0F2F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4572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350" b="1">
                <a:solidFill>
                  <a:srgbClr val="0369A1"/>
                </a:solidFill>
                <a:latin typeface="Arial"/>
              </a:defRPr>
            </a:pPr>
            <a:r>
              <a:t>SUPPORTING RESEARCH PAPERS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Cavallo, A., &amp; Rigobon, R. (2016). 'The Billion Prices Project: Using Online Data for Measurement and Research.' Journal of Economic Perspectives, 30(2), 151-178.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UN, ILO, IMF, OECD, Eurostat, World Bank (2020). Consumer Price Index Manual: Concepts and Methods, Chapter 10 (Elementary Indices).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120640" cy="23774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572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OFFICIAL DATA SOURCES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DGCA India: Monthly Scheduled Domestic Passenger Traffic (dgca.gov.in)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MoSPI NSO: Consumer Price Index Concepts &amp; Guidelines (mospi.gov.in)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Direct Airline Portals: Air India, IndiGo, Akasa, SpiceJet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Online Travel Aggregators: MakeMyTrip, EaseMyTrip Non-Stop Rates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4688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5720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MARKET RESEARCH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Indian domestic passenger traffic projected to grow at &gt;15% CAGR (2024–2030).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Algorithmic dynamic pricing creates massive 200–400% intraday fare dispersion.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Zero automated tools previously existed in India for daily airfare CPI tracking.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VayuSuchak eliminates the critical 15-day MoSPI manual survey lag with zero latency.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20640" cy="2468880"/>
          </a:xfrm>
          <a:prstGeom prst="roundRect">
            <a:avLst>
              <a:gd name="adj" fmla="val 5000"/>
            </a:avLst>
          </a:prstGeom>
          <a:solidFill>
            <a:srgbClr val="E0F2F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5720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350" b="1">
                <a:solidFill>
                  <a:srgbClr val="0369A1"/>
                </a:solidFill>
                <a:latin typeface="Arial"/>
              </a:defRPr>
            </a:pPr>
            <a:r>
              <a:t>TECHNICAL DOCUMENTATION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Index Formulations: UN/ILO Jevons Geometric Mean vs Dutot Arithmetic Comparison.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Scraper Framework: Playwright Chromium Headless with Random UA &amp; Stealth Evasion.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Provenance Architecture: SHA-256 Hash Manifest conforming to NDSAP open standards.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Deployment: Dockerized serverless cron (02:00 AM) + Vercel Edge Web Portal.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