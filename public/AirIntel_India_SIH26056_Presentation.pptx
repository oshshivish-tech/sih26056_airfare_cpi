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sih26056-airfare-cpi.vercel.app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289864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100">
                <a:solidFill>
                  <a:srgbClr val="475569"/>
                </a:solidFill>
                <a:latin typeface="Arial"/>
              </a:rPr>
              <a:t>High-speed engine &amp; REST API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100">
                <a:solidFill>
                  <a:srgbClr val="475569"/>
                </a:solidFill>
                <a:latin typeface="Arial"/>
              </a:rPr>
              <a:t>Compliant, rate-limited collection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100">
                <a:solidFill>
                  <a:srgbClr val="475569"/>
                </a:solidFill>
                <a:latin typeface="Arial"/>
              </a:rPr>
              <a:t>MoSPI executive analytics portal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1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TimescaleDB: </a:t>
            </a:r>
            <a:r>
              <a:rPr sz="1100">
                <a:solidFill>
                  <a:srgbClr val="475569"/>
                </a:solidFill>
                <a:latin typeface="Arial"/>
              </a:rPr>
              <a:t>Sovereign time-series data archive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100">
                <a:solidFill>
                  <a:srgbClr val="475569"/>
                </a:solidFill>
                <a:latin typeface="Arial"/>
              </a:rPr>
              <a:t>Merkle audit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3858768"/>
            <a:ext cx="2898648" cy="2633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931920"/>
            <a:ext cx="2752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50" b="1">
                <a:solidFill>
                  <a:srgbClr val="1D4ED8"/>
                </a:solidFill>
                <a:latin typeface="Arial"/>
              </a:defRPr>
            </a:pPr>
            <a:r>
              <a:t>LIVE INTERACTIVE PROTOTYPE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Scan QR or click below to launch live engine</a:t>
            </a:r>
          </a:p>
        </p:txBody>
      </p:sp>
      <p:pic>
        <p:nvPicPr>
          <p:cNvPr id="10" name="Picture 9" descr="sih_prototyp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4334256"/>
            <a:ext cx="1152144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" y="5559552"/>
            <a:ext cx="2752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u="sng">
                <a:solidFill>
                  <a:srgbClr val="1D4ED8"/>
                </a:solidFill>
                <a:latin typeface="Arial"/>
                <a:hlinkClick r:id="rId4"/>
              </a:rPr>
              <a:t>sih26056-airfare-cpi.vercel.app ↗</a:t>
            </a:r>
          </a:p>
          <a:p>
            <a:pPr algn="ctr">
              <a:defRPr sz="850">
                <a:solidFill>
                  <a:srgbClr val="64748B"/>
                </a:solidFill>
                <a:latin typeface="Arial"/>
              </a:defRPr>
            </a:pPr>
            <a:r>
              <a:t>Edge Serverless • Real-Time MoSPI Ingestion</a:t>
            </a:r>
          </a:p>
        </p:txBody>
      </p:sp>
      <p:pic>
        <p:nvPicPr>
          <p:cNvPr id="12" name="Picture 11" descr="workflow_top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22" name="Picture 21" descr="eq2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⚡ Zero Policy Lag (&lt;24h vs ~15d)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86207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E7490"/>
                </a:solidFill>
                <a:latin typeface="Arial"/>
              </a:defRPr>
            </a:pPr>
            <a:r>
              <a:t>📊 Denser Route Coverage (3,650+/day)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3,650+ quotes/day across 12 routes x 4 airlines x 5 horizons (vs 1 single quote/route/month).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2336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9651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25780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33095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C2410C"/>
                </a:solidFill>
                <a:latin typeface="Arial"/>
              </a:defRPr>
            </a:pPr>
            <a:r>
              <a:t>🎯 Sovereign CPI Validation (r = 0.89)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Back-tested against official CPI air-fare component; sovereign series back-test planned with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5448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62763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78892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86207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02336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409651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525780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533095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24712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17320"/>
            <a:ext cx="3685032" cy="40233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909560" y="5513832"/>
            <a:ext cx="3685032" cy="9601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6136" y="5568696"/>
            <a:ext cx="3611880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B365D"/>
                </a:solidFill>
                <a:latin typeface="Arial"/>
              </a:rPr>
              <a:t>Geometric-mean (Jevons) aggregation avoids upward substitution bias (Diewert, 2004).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Arial"/>
              </a:rPr>
              <a:t>Live Benchmark: 111.4 • 12 Corridors Monitored • MoSPI eSankhyiki Aligned</a:t>
            </a:r>
          </a:p>
          <a:p>
            <a:pPr algn="ctr"/>
            <a:r>
              <a:rPr sz="850">
                <a:solidFill>
                  <a:srgbClr val="475569"/>
                </a:solidFill>
                <a:latin typeface="Arial"/>
              </a:rPr>
              <a:t>High-frequency daily collection eliminates 15-day policy latency for RBI MPC &amp; MoSPI.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