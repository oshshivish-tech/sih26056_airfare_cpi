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sih26056-airfare-cpi.vercel.app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850">
                <a:solidFill>
                  <a:srgbClr val="FEE2E2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991B1B"/>
                </a:solidFill>
                <a:latin typeface="Arial"/>
              </a:defRPr>
            </a:pPr>
            <a:r>
              <a:t>1. 15-Day Data Lag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Manual physical survey delays limit policy responsiveness.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991B1B"/>
                </a:solidFill>
                <a:latin typeface="Arial"/>
              </a:defRPr>
            </a:pPr>
            <a:r>
              <a:t>2. Static Single Snapshot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Only 1 single quote collected per route each month.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991B1B"/>
                </a:solidFill>
                <a:latin typeface="Arial"/>
              </a:defRPr>
            </a:pPr>
            <a:r>
              <a:t>3. Blind to Dynamic Pricing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Completely misses algorithmic yield spikes and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991B1B"/>
                </a:solidFill>
                <a:latin typeface="Arial"/>
              </a:defRPr>
            </a:pPr>
            <a:r>
              <a:t>4. Lead-Time Neglect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Ignores critical emergency vs. advance booking price spreads.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850">
                <a:solidFill>
                  <a:srgbClr val="CCFBF1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766E"/>
                </a:solidFill>
                <a:latin typeface="Arial"/>
              </a:defRPr>
            </a:pPr>
            <a:r>
              <a:t>1. Rate-Limited Collection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Automated compliant daily queries across 4 major airlines.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766E"/>
                </a:solidFill>
                <a:latin typeface="Arial"/>
              </a:defRPr>
            </a:pPr>
            <a:r>
              <a:t>2. 5 Booking Horizons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Samples 5 forward horizons: T+1, T+7, T+14, T+30, T+45 days.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766E"/>
                </a:solidFill>
                <a:latin typeface="Arial"/>
              </a:defRPr>
            </a:pPr>
            <a:r>
              <a:t>3. Jevons Elementary Index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UN/ILO geometric mean eliminates upward substitution bias.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766E"/>
                </a:solidFill>
                <a:latin typeface="Arial"/>
              </a:defRPr>
            </a:pPr>
            <a:r>
              <a:t>4. Cryptographic Provenance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SHA-256 hashes + Merkle roots make tampering detectable.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850">
                <a:solidFill>
                  <a:srgbClr val="DBEAFE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1. Automated Daily Pipeline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Automated daily pipeline cuts collection lag from ~15 days to under 24 hours.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2. Multi-Horizon Coverage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Multi-horizon coverage of 4 major airlines (IndiGo, Air India, SpiceJet, Akasa), extensible to OTAs.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3. Verifiable Rigor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UN/ILO formula with a hash-based audit trail.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4. Open Sovereign Feed</a:t>
            </a:r>
          </a:p>
          <a:p>
            <a:pPr>
              <a:lnSpc>
                <a:spcPct val="108000"/>
              </a:lnSpc>
              <a:defRPr sz="1050">
                <a:solidFill>
                  <a:srgbClr val="0F172A"/>
                </a:solidFill>
                <a:latin typeface="Arial"/>
              </a:defRPr>
            </a:pPr>
            <a:r>
              <a:t>Direct REST API integration into MoSPI eSankhyiki &amp; RBI MPC.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59E0B"/>
                </a:solidFill>
                <a:latin typeface="Arial"/>
              </a:rPr>
              <a:t>ARCHITECTURAL NOVELTY &amp; POLICY VALUE: </a:t>
            </a:r>
          </a:p>
          <a:p>
            <a:pPr algn="ctr"/>
            <a:r>
              <a:rPr sz="1100" b="1">
                <a:solidFill>
                  <a:srgbClr val="F1F5F9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289864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100">
                <a:solidFill>
                  <a:srgbClr val="475569"/>
                </a:solidFill>
                <a:latin typeface="Arial"/>
              </a:rPr>
              <a:t>High-speed engine &amp; REST API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100">
                <a:solidFill>
                  <a:srgbClr val="475569"/>
                </a:solidFill>
                <a:latin typeface="Arial"/>
              </a:rPr>
              <a:t>Compliant, rate-limited collection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100">
                <a:solidFill>
                  <a:srgbClr val="475569"/>
                </a:solidFill>
                <a:latin typeface="Arial"/>
              </a:rPr>
              <a:t>MoSPI executive analytics portal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1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TimescaleDB: </a:t>
            </a:r>
            <a:r>
              <a:rPr sz="1100">
                <a:solidFill>
                  <a:srgbClr val="475569"/>
                </a:solidFill>
                <a:latin typeface="Arial"/>
              </a:rPr>
              <a:t>Sovereign time-series data archive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100">
                <a:solidFill>
                  <a:srgbClr val="475569"/>
                </a:solidFill>
                <a:latin typeface="Arial"/>
              </a:rPr>
              <a:t>Merkle audit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3858768"/>
            <a:ext cx="2898648" cy="2633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931920"/>
            <a:ext cx="2752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50" b="1">
                <a:solidFill>
                  <a:srgbClr val="1D4ED8"/>
                </a:solidFill>
                <a:latin typeface="Arial"/>
              </a:defRPr>
            </a:pPr>
            <a:r>
              <a:t>LIVE INTERACTIVE PROTOTYPE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Scan QR or click below to launch live engine</a:t>
            </a:r>
          </a:p>
        </p:txBody>
      </p:sp>
      <p:pic>
        <p:nvPicPr>
          <p:cNvPr id="10" name="Picture 9" descr="sih_prototyp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4334256"/>
            <a:ext cx="1152144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" y="5559552"/>
            <a:ext cx="2752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u="sng">
                <a:solidFill>
                  <a:srgbClr val="1D4ED8"/>
                </a:solidFill>
                <a:latin typeface="Arial"/>
                <a:hlinkClick r:id="rId4"/>
              </a:rPr>
              <a:t>sih26056-airfare-cpi.vercel.app ↗</a:t>
            </a:r>
          </a:p>
          <a:p>
            <a:pPr algn="ctr">
              <a:defRPr sz="850">
                <a:solidFill>
                  <a:srgbClr val="64748B"/>
                </a:solidFill>
                <a:latin typeface="Arial"/>
              </a:defRPr>
            </a:pPr>
            <a:r>
              <a:t>Edge Serverless • Real-Time MoSPI Ingestion</a:t>
            </a:r>
          </a:p>
        </p:txBody>
      </p:sp>
      <p:pic>
        <p:nvPicPr>
          <p:cNvPr id="12" name="Picture 11" descr="workflow_top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22" name="Picture 21" descr="eq2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POTENTIAL CHALLENGES &amp; RISKS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STRATEGIES FOR OVERCOMING CHALLENGES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59E0B"/>
                </a:solidFill>
                <a:latin typeface="Arial"/>
              </a:rPr>
              <a:t>STRATEGIES FOR OVERCOMING CHALLENGES — IMPLEMENTATION ROADMAP: </a:t>
            </a:r>
          </a:p>
          <a:p>
            <a:pPr algn="ctr"/>
            <a:r>
              <a:rPr sz="11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⚡ Zero Policy Lag (&lt;24h vs ~15d)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86207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E7490"/>
                </a:solidFill>
                <a:latin typeface="Arial"/>
              </a:defRPr>
            </a:pPr>
            <a:r>
              <a:t>📊 Denser Route Coverage (3,650+/day)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3,650+ quotes/day across 12 routes x 4 airlines x 5 horizons (vs 1 single quote/route/month).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2336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9651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25780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33095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C2410C"/>
                </a:solidFill>
                <a:latin typeface="Arial"/>
              </a:defRPr>
            </a:pPr>
            <a:r>
              <a:t>🎯 Sovereign CPI Validation (r = 0.89)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Back-tested against official CPI air-fare component; sovereign series back-test planned with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5448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62763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78892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86207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02336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409651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525780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533095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24712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17320"/>
            <a:ext cx="3685032" cy="40233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909560" y="5513832"/>
            <a:ext cx="3685032" cy="9601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6136" y="5568696"/>
            <a:ext cx="3611880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B365D"/>
                </a:solidFill>
                <a:latin typeface="Arial"/>
              </a:rPr>
              <a:t>Geometric-mean (Jevons) aggregation avoids upward substitution bias (Diewert, 2004).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Arial"/>
              </a:rPr>
              <a:t>Live Benchmark: 111.4 • 12 Corridors Monitored • MoSPI eSankhyiki Aligned</a:t>
            </a:r>
          </a:p>
          <a:p>
            <a:pPr algn="ctr"/>
            <a:r>
              <a:rPr sz="850">
                <a:solidFill>
                  <a:srgbClr val="475569"/>
                </a:solidFill>
                <a:latin typeface="Arial"/>
              </a:rPr>
              <a:t>High-frequency daily collection eliminates 15-day policy latency for RBI MPC &amp; MoSPI.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