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188720"/>
            <a:ext cx="4389120" cy="5303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71600"/>
            <a:ext cx="694944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70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700" b="1">
                <a:solidFill>
                  <a:srgbClr val="DC2626"/>
                </a:solidFill>
                <a:latin typeface="Arial"/>
              </a:rPr>
              <a:t>Real-Time Airfare Price Index for CPI Augmentation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700" b="1">
                <a:solidFill>
                  <a:srgbClr val="000000"/>
                </a:solidFill>
                <a:latin typeface="Arial"/>
              </a:rPr>
              <a:t>Smart Governance / Miscellaneous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7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7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sz="17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7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100" b="1">
                <a:solidFill>
                  <a:srgbClr val="000000"/>
                </a:solidFill>
                <a:latin typeface="Arial"/>
              </a:defRPr>
            </a:pPr>
            <a:r>
              <a:t>VayuSuchak: Real-Time Airfare Price Index</a:t>
            </a:r>
          </a:p>
          <a:p>
            <a:pPr algn="ctr">
              <a:defRPr sz="1500" b="1">
                <a:solidFill>
                  <a:srgbClr val="000000"/>
                </a:solidFill>
                <a:latin typeface="Arial"/>
              </a:defRPr>
            </a:pPr>
            <a:r>
              <a:t>Augmenting CPI Transport Inflation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1005840"/>
            <a:ext cx="111556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550" b="1">
                <a:solidFill>
                  <a:srgbClr val="1E40AF"/>
                </a:solidFill>
                <a:latin typeface="Arial"/>
              </a:defRPr>
            </a:pPr>
            <a:r>
              <a:t>❖ Proposed Solution: Problem vs. Solution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▲ THE PROBLEM (Current MoSPI Manual Survey)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15-Day Information Lag: </a:t>
            </a:r>
            <a:r>
              <a:rPr sz="980">
                <a:solidFill>
                  <a:srgbClr val="0F172A"/>
                </a:solidFill>
                <a:latin typeface="Arial"/>
              </a:rPr>
              <a:t>Manual surveyor visits delay CPI reporting by 2 weeks, missing high-frequency price volatility.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Static Single Snapshot: </a:t>
            </a:r>
            <a:r>
              <a:rPr sz="980">
                <a:solidFill>
                  <a:srgbClr val="0F172A"/>
                </a:solidFill>
                <a:latin typeface="Arial"/>
              </a:rPr>
              <a:t>Only 1 quote collected per route/month, failing to capture 10,000+ daily dynamic algorithmic fares.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Dutot Upward Bias: </a:t>
            </a:r>
            <a:r>
              <a:rPr sz="980">
                <a:solidFill>
                  <a:srgbClr val="0F172A"/>
                </a:solidFill>
                <a:latin typeface="Arial"/>
              </a:rPr>
              <a:t>Arithmetic mean formula overstates airfare transport inflation by 20-30 bps.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B91C1C"/>
                </a:solidFill>
                <a:latin typeface="Arial"/>
              </a:rPr>
              <a:t>• High Operational Cost: </a:t>
            </a:r>
            <a:r>
              <a:rPr sz="980">
                <a:solidFill>
                  <a:srgbClr val="0F172A"/>
                </a:solidFill>
                <a:latin typeface="Arial"/>
              </a:rPr>
              <a:t>Multi-crore physical surveyor logistics across airports with zero cryptographic audit trail.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298448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5352" y="1298448"/>
            <a:ext cx="5440680" cy="384048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▶ HOW OUR APP SOLVES IT (VayuSuchak Engine)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1737360"/>
            <a:ext cx="5074920" cy="2221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Real-Time Extraction: </a:t>
            </a:r>
            <a:r>
              <a:rPr sz="980">
                <a:solidFill>
                  <a:srgbClr val="0F172A"/>
                </a:solidFill>
                <a:latin typeface="Arial"/>
              </a:rPr>
              <a:t>Playwright headless bots harvest 10,000+ live fares daily with sub-24h latency at 02:00 AM IST.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T+1..T+45 Advance Horizons: </a:t>
            </a:r>
            <a:r>
              <a:rPr sz="980">
                <a:solidFill>
                  <a:srgbClr val="0F172A"/>
                </a:solidFill>
                <a:latin typeface="Arial"/>
              </a:rPr>
              <a:t>Captures urgent vs saver fares weighted dynamically by official DGCA passenger volumes.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UN/ILO Jevons Index: </a:t>
            </a:r>
            <a:r>
              <a:rPr sz="980">
                <a:solidFill>
                  <a:srgbClr val="0F172A"/>
                </a:solidFill>
                <a:latin typeface="Arial"/>
              </a:rPr>
              <a:t>Geometric mean formulation mathematically eliminates Dutot upward substitution distortion.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019" b="1">
                <a:solidFill>
                  <a:srgbClr val="15803D"/>
                </a:solidFill>
                <a:latin typeface="Arial"/>
              </a:rPr>
              <a:t>• SHA-256 Audit Ledger: </a:t>
            </a:r>
            <a:r>
              <a:rPr sz="980">
                <a:solidFill>
                  <a:srgbClr val="0F172A"/>
                </a:solidFill>
                <a:latin typeface="Arial"/>
              </a:rPr>
              <a:t>Immutable cryptographic fingerprints ensure sovereign-grade evidentiary auditability for MoSPI.</a:t>
            </a:r>
          </a:p>
        </p:txBody>
      </p:sp>
      <p:pic>
        <p:nvPicPr>
          <p:cNvPr id="13" name="Picture 12" descr="workflow_circular_no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069080"/>
            <a:ext cx="11183112" cy="175564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20000"/>
            </a:avLst>
          </a:prstGeom>
          <a:solidFill>
            <a:srgbClr val="0F172A"/>
          </a:solidFill>
          <a:ln w="1524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98464"/>
            <a:ext cx="11000232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DATA HARVESTING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IQR OUTLIER TRUNCATION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JEVONS GEOMETRIC INDEX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SHA-256 PROVENANCE</a:t>
            </a:r>
            <a:r>
              <a:rPr sz="1050" b="1">
                <a:solidFill>
                  <a:srgbClr val="38BDF8"/>
                </a:solidFill>
                <a:latin typeface="Arial"/>
              </a:rPr>
              <a:t>  ➔  </a:t>
            </a:r>
            <a:r>
              <a:rPr sz="1050" b="1">
                <a:solidFill>
                  <a:srgbClr val="FFFFFF"/>
                </a:solidFill>
                <a:latin typeface="Arial"/>
              </a:rPr>
              <a:t>MoSPI &amp; RBI CPI INTEGRATION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51560"/>
            <a:ext cx="3520440" cy="5440680"/>
          </a:xfrm>
          <a:prstGeom prst="rect">
            <a:avLst/>
          </a:prstGeom>
          <a:solidFill>
            <a:srgbClr val="F8FAFC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61288"/>
            <a:ext cx="3246120" cy="52212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DC2626"/>
                </a:solidFill>
                <a:latin typeface="Arial"/>
              </a:rPr>
              <a:t>Languages &amp; Runtimes: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Python 3.13 (Async Harvester &amp; Engine)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TypeScript &amp; React 19 (Dashboard UI)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SQL (PostgreSQL Time-Series &amp; SQLite)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1E40AF"/>
                </a:solidFill>
                <a:latin typeface="Arial"/>
              </a:rPr>
              <a:t>Extraction &amp; Cleansing: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Playwright Headless (Anti-Bot Crawlers)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SciPy &amp; NumPy (Dynamic IQR Filter)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Index Calculation &amp; Crypto: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UN/ILO Jevons Index Formula (GMI)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SHA-256 Batch Merkle Audit Ledger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API, Cloud &amp; Standards: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FastAPI &amp; Uvicorn (Sub-10ms REST APIs)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Vercel Edge &amp; GitHub Actions Cron</a:t>
            </a:r>
          </a:p>
          <a:p>
            <a:pPr>
              <a:spcAft>
                <a:spcPts val="25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• </a:t>
            </a:r>
            <a:r>
              <a:rPr sz="919" b="0">
                <a:solidFill>
                  <a:srgbClr val="0F172A"/>
                </a:solidFill>
                <a:latin typeface="Arial"/>
              </a:rPr>
              <a:t>NDSAP Open Data &amp; UN/ILO Ch. 10</a:t>
            </a:r>
          </a:p>
        </p:txBody>
      </p:sp>
      <p:pic>
        <p:nvPicPr>
          <p:cNvPr id="8" name="Picture 7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51560"/>
            <a:ext cx="7525512" cy="3246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60520" y="4407408"/>
            <a:ext cx="3694176" cy="2084832"/>
          </a:xfrm>
          <a:prstGeom prst="rect">
            <a:avLst/>
          </a:prstGeom>
          <a:solidFill>
            <a:srgbClr val="F0F9FF"/>
          </a:solidFill>
          <a:ln w="1778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88536" y="4498848"/>
            <a:ext cx="3438144" cy="1901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284C7"/>
                </a:solidFill>
                <a:latin typeface="Arial"/>
              </a:defRPr>
            </a:pPr>
            <a:r>
              <a:t>📐 Mathematical Formulation (UN/ILO Ch. 10)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Elementary Jevons Geometric Mean:</a:t>
            </a:r>
            <a:r>
              <a:rPr sz="880">
                <a:solidFill>
                  <a:srgbClr val="0F172A"/>
                </a:solidFill>
                <a:latin typeface="Arial"/>
              </a:rPr>
              <a:t> J = ∏ (pt,i / p0,i)^(1/n)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Axiomatic Proof:</a:t>
            </a:r>
            <a:r>
              <a:rPr sz="880">
                <a:solidFill>
                  <a:srgbClr val="0F172A"/>
                </a:solidFill>
                <a:latin typeface="Arial"/>
              </a:rPr>
              <a:t> Eliminates Dutot arithmetic upward substitution bias (~25 bps distortion removed).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DGCA Laspeyres Aggregation:</a:t>
            </a:r>
            <a:r>
              <a:rPr sz="880">
                <a:solidFill>
                  <a:srgbClr val="0F172A"/>
                </a:solidFill>
                <a:latin typeface="Arial"/>
              </a:rPr>
              <a:t> It = ∑ Wr · Jr,t across corridors weighted by official passenger volume shares.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1856" y="4407408"/>
            <a:ext cx="3694176" cy="2084832"/>
          </a:xfrm>
          <a:prstGeom prst="rect">
            <a:avLst/>
          </a:prstGeom>
          <a:solidFill>
            <a:srgbClr val="F0FDF4"/>
          </a:solidFill>
          <a:ln w="1778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19872" y="4498848"/>
            <a:ext cx="3438144" cy="19019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5803D"/>
                </a:solidFill>
                <a:latin typeface="Arial"/>
              </a:defRPr>
            </a:pPr>
            <a:r>
              <a:t>⚙️ Production Benchmarks &amp; Engineering SLAs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Harvester Throughput:</a:t>
            </a:r>
            <a:r>
              <a:rPr sz="880">
                <a:solidFill>
                  <a:srgbClr val="0F172A"/>
                </a:solidFill>
                <a:latin typeface="Arial"/>
              </a:rPr>
              <a:t> 10,000+ daily live quotes captured across 12 sectors in under 18 minutes.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Dynamic IQR Outlier Filter:</a:t>
            </a:r>
            <a:r>
              <a:rPr sz="880">
                <a:solidFill>
                  <a:srgbClr val="0F172A"/>
                </a:solidFill>
                <a:latin typeface="Arial"/>
              </a:rPr>
              <a:t> SciPy dynamically purges bottom 2.5% phantom taxes and top 5% surge anomalies.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19" b="1">
                <a:solidFill>
                  <a:srgbClr val="000000"/>
                </a:solidFill>
                <a:latin typeface="Arial"/>
              </a:rPr>
              <a:t>• Sub-10ms REST API:</a:t>
            </a:r>
            <a:r>
              <a:rPr sz="880">
                <a:solidFill>
                  <a:srgbClr val="0F172A"/>
                </a:solidFill>
                <a:latin typeface="Arial"/>
              </a:rPr>
              <a:t> Fully automated JSON/CSV endpoints ready for MoSPI eSankhyiki &amp; RBI integration.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