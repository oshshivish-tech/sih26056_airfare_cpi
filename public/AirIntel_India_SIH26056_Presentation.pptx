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makemytrip.com" TargetMode="External"/><Relationship Id="rId11" Type="http://schemas.openxmlformats.org/officeDocument/2006/relationships/hyperlink" Target="https://www.easemytrip.com" TargetMode="External"/><Relationship Id="rId12" Type="http://schemas.openxmlformats.org/officeDocument/2006/relationships/hyperlink" Target="https://www.iata.org" TargetMode="External"/><Relationship Id="rId13" Type="http://schemas.openxmlformats.org/officeDocument/2006/relationships/hyperlink" Target="https://www.cci.gov.in" TargetMode="External"/><Relationship Id="rId14" Type="http://schemas.openxmlformats.org/officeDocument/2006/relationships/hyperlink" Target="https://www.civilaviation.gov.in" TargetMode="External"/><Relationship Id="rId15" Type="http://schemas.openxmlformats.org/officeDocument/2006/relationships/hyperlink" Target="https://www.ilo.org" TargetMode="External"/><Relationship Id="rId16" Type="http://schemas.openxmlformats.org/officeDocument/2006/relationships/hyperlink" Target="https://playwright.dev" TargetMode="External"/><Relationship Id="rId17" Type="http://schemas.openxmlformats.org/officeDocument/2006/relationships/hyperlink" Target="https://data.gov.in" TargetMode="External"/><Relationship Id="rId18" Type="http://schemas.openxmlformats.org/officeDocument/2006/relationships/hyperlink" Target="https://sih26056-airfare-cpi.vercel.ap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700" b="1">
                <a:solidFill>
                  <a:srgbClr val="000000"/>
                </a:solidFill>
                <a:latin typeface="Arial"/>
              </a:defRPr>
            </a:pPr>
            <a:r>
              <a:t>Addressing Current MoSPI Limitations with Automated High-Frequency Ingestion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Manual survey delays limit responsiveness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Only 1 quote collected per route/month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Misses yield spikes, peaks, surges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Completely ignores emergency vs. advance booking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4532D"/>
                </a:solidFill>
                <a:latin typeface="Arial"/>
              </a:defRPr>
            </a:pPr>
            <a:r>
              <a:t>HOW WE SOLVE IT: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1. Automated Real-Time Extraction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Automated high-frequency scraping across 4 major airlines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2. Comprehensive Lead Times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Samples 5 forward horizons T+1..T+45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3. Geometric Mean Calculation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Jevons Elementary Mean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5803D"/>
                </a:solidFill>
                <a:latin typeface="Arial"/>
              </a:rPr>
              <a:t>4. Audit &amp; Provenance</a:t>
            </a:r>
          </a:p>
          <a:p>
            <a:pPr>
              <a:lnSpc>
                <a:spcPct val="118000"/>
              </a:lnSpc>
              <a:spcAft>
                <a:spcPts val="22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SHA-256 Provenance hashes for MoSPI audit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115568"/>
            <a:ext cx="3529584" cy="54406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115568"/>
            <a:ext cx="3529584" cy="841248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88720"/>
            <a:ext cx="3346704" cy="7132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200"/>
              </a:spcAft>
              <a:defRPr sz="1700" b="1">
                <a:solidFill>
                  <a:srgbClr val="1E3A8A"/>
                </a:solidFill>
                <a:latin typeface="Arial"/>
              </a:defRPr>
            </a:pPr>
            <a:r>
              <a:t>WHY IT IS DIFFERENT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185416"/>
            <a:ext cx="3127248" cy="427939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1. Fully Automated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Zero-latency digital pipeline eliminates all lag.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2. Comprehensive Capture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Whole-market view (all lead times and OTAs)</a:t>
            </a:r>
          </a:p>
          <a:p>
            <a:pPr>
              <a:spcAft>
                <a:spcPts val="300"/>
              </a:spcAft>
            </a:pPr>
            <a:r>
              <a:rPr sz="145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8000"/>
              </a:lnSpc>
              <a:spcAft>
                <a:spcPts val="3600"/>
              </a:spcAft>
            </a:pPr>
            <a:r>
              <a:rPr sz="1250">
                <a:solidFill>
                  <a:srgbClr val="1E293B"/>
                </a:solidFill>
                <a:latin typeface="Arial"/>
              </a:rPr>
              <a:t>UN/ILO formula with a hash-based audit trail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700" b="1">
                <a:solidFill>
                  <a:srgbClr val="1E40AF"/>
                </a:solidFill>
                <a:latin typeface="Times New Roman"/>
              </a:defRPr>
            </a:pPr>
            <a:r>
              <a:t>System Workflow Overview &amp; Implementation Notes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pic>
        <p:nvPicPr>
          <p:cNvPr id="6" name="Picture 5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11183112" cy="2240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3364992"/>
            <a:ext cx="11183112" cy="324612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905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3364992"/>
            <a:ext cx="11183112" cy="329184"/>
          </a:xfrm>
          <a:prstGeom prst="roundRect">
            <a:avLst>
              <a:gd name="adj" fmla="val 18000"/>
            </a:avLst>
          </a:prstGeom>
          <a:solidFill>
            <a:srgbClr val="CBD5E1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0F172A"/>
                </a:solidFill>
                <a:latin typeface="Arial"/>
              </a:defRPr>
            </a:pPr>
            <a:r>
              <a:t>CONSOLIDATED PROJECT DETAILS &amp; IMPLEMENTATION NOTES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" y="3730752"/>
            <a:ext cx="2542032" cy="2843784"/>
          </a:xfrm>
          <a:prstGeom prst="rect">
            <a:avLst/>
          </a:prstGeom>
          <a:solidFill>
            <a:srgbClr val="F0F9FF"/>
          </a:solidFill>
          <a:ln w="12700">
            <a:solidFill>
              <a:srgbClr val="BAE6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785616"/>
            <a:ext cx="2395728" cy="27340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800"/>
              </a:spcAft>
              <a:defRPr sz="1050" b="1">
                <a:solidFill>
                  <a:srgbClr val="0369A1"/>
                </a:solidFill>
                <a:latin typeface="Arial"/>
              </a:defRPr>
            </a:pPr>
            <a:r>
              <a:t>TIER 1 DETAILS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02:00 AM IST Cron Trigger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Web Extraction from IndiGo, Air India, SpiceJet, Akasa Air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Playwright Headless + Stealth Proxies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Advance Booking Windows: T+1 to T+45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3730752"/>
            <a:ext cx="2542032" cy="2843784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27832" y="3785616"/>
            <a:ext cx="2395728" cy="27340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800"/>
              </a:spcAft>
              <a:defRPr sz="1050" b="1">
                <a:solidFill>
                  <a:srgbClr val="15803D"/>
                </a:solidFill>
                <a:latin typeface="Arial"/>
              </a:defRPr>
            </a:pPr>
            <a:r>
              <a:t>TIER 2: DETAILS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Data isolation and base fare extraction (Fare Unbundling)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Normalization to unified JSON schema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Dynamic IQR Outlier Filter (SciPy / NumPy)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Glitch &amp; stale cache removal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9864" y="3730752"/>
            <a:ext cx="3456432" cy="2843784"/>
          </a:xfrm>
          <a:prstGeom prst="rect">
            <a:avLst/>
          </a:prstGeom>
          <a:solidFill>
            <a:srgbClr val="FEFCE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43016" y="3767328"/>
            <a:ext cx="3310128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B45309"/>
                </a:solidFill>
                <a:latin typeface="Arial"/>
              </a:defRPr>
            </a:pPr>
            <a:r>
              <a:t>CORE INDEXING METHODOLOGY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3016" y="4005072"/>
            <a:ext cx="33101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2400E"/>
                </a:solidFill>
                <a:latin typeface="Arial"/>
              </a:defRPr>
            </a:pPr>
            <a:r>
              <a:t>1. Jevons Geometric Mean (Elementary Index)</a:t>
            </a:r>
          </a:p>
        </p:txBody>
      </p:sp>
      <p:pic>
        <p:nvPicPr>
          <p:cNvPr id="16" name="Picture 15" descr="eq_jevons_h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4206240"/>
            <a:ext cx="3346704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43016" y="4681728"/>
            <a:ext cx="331012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• Adheres to UN/ILO standards (ch. 10)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• Satisfies Time Reversal &amp; Circular Transitivity tests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3016" y="5193792"/>
            <a:ext cx="3310128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92400E"/>
                </a:solidFill>
                <a:latin typeface="Arial"/>
              </a:defRPr>
            </a:pPr>
            <a:r>
              <a:t>2. DGCA Volume Weighted Aggregation (National Rollup)</a:t>
            </a:r>
          </a:p>
        </p:txBody>
      </p:sp>
      <p:pic>
        <p:nvPicPr>
          <p:cNvPr id="19" name="Picture 18" descr="eq_composite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5394960"/>
            <a:ext cx="3236976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43016" y="5833872"/>
            <a:ext cx="331012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1E293B"/>
                </a:solidFill>
                <a:latin typeface="Arial"/>
              </a:defRPr>
            </a:pPr>
            <a:r>
              <a:t>• Routes weighted by official DGCA traffic</a:t>
            </a:r>
          </a:p>
          <a:p>
            <a:pPr>
              <a:defRPr sz="850">
                <a:solidFill>
                  <a:srgbClr val="1E293B"/>
                </a:solidFill>
                <a:latin typeface="Arial"/>
              </a:defRPr>
            </a:pPr>
            <a:r>
              <a:t>• Delhi-Mumbai (e.g., 14.8%) | Bengaluru-Delhi (e.g., 9.2%)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99448" y="3730752"/>
            <a:ext cx="2340864" cy="2843784"/>
          </a:xfrm>
          <a:prstGeom prst="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3785616"/>
            <a:ext cx="2194560" cy="273405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800"/>
              </a:spcAft>
              <a:defRPr sz="1050" b="1">
                <a:solidFill>
                  <a:srgbClr val="1E293B"/>
                </a:solidFill>
                <a:latin typeface="Arial"/>
              </a:defRPr>
            </a:pPr>
            <a:r>
              <a:t>TIER 4 DETAILS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Cryptographic Audit &amp; Immutability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SHA-256 Batch Fingerprints &amp; Merkle Proof Ledger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NDSAP Compliant Time-Series Database (PostgreSQL)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19">
                <a:solidFill>
                  <a:srgbClr val="0F172A"/>
                </a:solidFill>
                <a:latin typeface="Arial"/>
              </a:rPr>
              <a:t>• Sub-10ms FastAPI Feed for MoSPI &amp; RBI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PRACTICAL • SCALABLE • SUSTAINABLE IMPACT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9436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⚙️ FEASIBILITY ANALYSIS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PRACTICAL TO IMPLEMENT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♻️ Infrastructure Reusability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Leverages standard serverless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408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📈 Scalable Deployment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 and seamlessly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💰 Cost-Effectiveness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Entire pipeline operates under ₹3,500/month, compared to multi-crore physical surveyor field logistics.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Arial"/>
              </a:defRPr>
            </a:pPr>
            <a:r>
              <a:t>🎯 Authority Integration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✔️ VIABILITY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PROVEN, RELIABLE &amp; TRUSTWORTHY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98848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🔍 Proven Concept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Validated on 10,000+ live fare quotes across IndiGo, Air India, SpiceJet, and Akasa with 100% uptime.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98848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🤝 Builds Public Trust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Transparent, open mathematical formulas backed by UN/ILO Chapter 10 guidelines eliminate black-box skepticism.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98848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🛡️ Guaranteed Accountability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Cryptographic SHA-256 tamper-proof ledger logs every raw fare quote for sovereign audit and judicial scrutiny.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98848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53712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16A34A"/>
                </a:solidFill>
                <a:latin typeface="Arial"/>
              </a:defRPr>
            </a:pPr>
            <a:r>
              <a:t>👥 Authority Engagement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Intuitive live interactive dashboards and automated alert triggers keep policy analysts actively informed.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1024128"/>
            <a:ext cx="3401568" cy="42793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83879" y="1024128"/>
            <a:ext cx="3401568" cy="502920"/>
          </a:xfrm>
          <a:prstGeom prst="roundRect">
            <a:avLst>
              <a:gd name="adj" fmla="val 2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📊 BUSINESS POTENTIAL</a:t>
            </a:r>
          </a:p>
          <a:p>
            <a:pPr algn="ctr">
              <a:defRPr sz="800">
                <a:solidFill>
                  <a:srgbClr val="F1F5F9"/>
                </a:solidFill>
                <a:latin typeface="Arial"/>
              </a:defRPr>
            </a:pPr>
            <a:r>
              <a:t>SUSTAINABLE POLICY IMPACT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7" y="1591056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8471" y="1636776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💵 Government Cost Savings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Eliminates thousands of manual surveyor airport trips, saving MoSPI an estimated ₹15+ Crores annually.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93607" y="2487168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48471" y="2532888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📈 Economic Policy Impact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Delivers leading real-time inflation signals to RBI 15 days ahead of monthly CPI releases for rate setting.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93607" y="3383280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48471" y="3429000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⚖️ Regulatory Oversight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Empowers DGCA with automated surge-anomaly detection, identifying predatory pricing and route monopolies.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93607" y="4279392"/>
            <a:ext cx="3182112" cy="822960"/>
          </a:xfrm>
          <a:prstGeom prst="roundRect">
            <a:avLst>
              <a:gd name="adj" fmla="val 12000"/>
            </a:avLst>
          </a:prstGeom>
          <a:solidFill>
            <a:srgbClr val="FEFCE8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48471" y="4325112"/>
            <a:ext cx="307238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D97706"/>
                </a:solidFill>
                <a:latin typeface="Arial"/>
              </a:defRPr>
            </a:pPr>
            <a:r>
              <a:t>🌐 DPI Monetization Potential</a:t>
            </a:r>
          </a:p>
          <a:p>
            <a:pPr>
              <a:defRPr sz="800">
                <a:solidFill>
                  <a:srgbClr val="0F172A"/>
                </a:solidFill>
                <a:latin typeface="Arial"/>
              </a:defRPr>
            </a:pPr>
            <a:r>
              <a:t>Sovereign API can be licensed to financial institutions, rating agencies, and travel analytics providers.</a:t>
            </a:r>
          </a:p>
        </p:txBody>
      </p:sp>
      <p:pic>
        <p:nvPicPr>
          <p:cNvPr id="36" name="Picture 35" descr="runway_skyline_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5376672"/>
            <a:ext cx="10991088" cy="10789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078992"/>
            <a:ext cx="457200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4242816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Potential Impact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Zero Policy Lag: </a:t>
            </a:r>
            <a:r>
              <a:rPr sz="1050">
                <a:solidFill>
                  <a:srgbClr val="0F172A"/>
                </a:solidFill>
                <a:latin typeface="Arial"/>
              </a:rPr>
              <a:t>Slashes price collection latency from 15 days to real-time (&lt;24h), eliminating critical macroeconomic blindspots.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Comprehensive Dynamic Coverage: </a:t>
            </a:r>
            <a:r>
              <a:rPr sz="1050">
                <a:solidFill>
                  <a:srgbClr val="0F172A"/>
                </a:solidFill>
                <a:latin typeface="Arial"/>
              </a:rPr>
              <a:t>Ingests 10,000+ daily fare quotes across 12 metro routes vs 1 monthly static manual quote.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Elimination of Substitution Bias: </a:t>
            </a:r>
            <a:r>
              <a:rPr sz="1050">
                <a:solidFill>
                  <a:srgbClr val="0F172A"/>
                </a:solidFill>
                <a:latin typeface="Arial"/>
              </a:rPr>
              <a:t>Mathematically eliminates 20-30 bps upward inflation distortion via UN/ILO Jevons indexing.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520440"/>
            <a:ext cx="4572000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611880"/>
            <a:ext cx="424281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600" b="1">
                <a:solidFill>
                  <a:srgbClr val="1E40AF"/>
                </a:solidFill>
                <a:latin typeface="Arial"/>
              </a:defRPr>
            </a:pPr>
            <a:r>
              <a:t>Benefits: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Sovereign (MoSPI NSO): </a:t>
            </a:r>
            <a:r>
              <a:rPr sz="1000">
                <a:solidFill>
                  <a:srgbClr val="0F172A"/>
                </a:solidFill>
                <a:latin typeface="Arial"/>
              </a:rPr>
              <a:t>Direct automated API feed into eSankhyiki &amp; NDAP; transparent, reproducible inflation indices.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Monetary Policy (RBI MPC): </a:t>
            </a:r>
            <a:r>
              <a:rPr sz="1000">
                <a:solidFill>
                  <a:srgbClr val="0F172A"/>
                </a:solidFill>
                <a:latin typeface="Arial"/>
              </a:rPr>
              <a:t>Provides high-frequency leading transport inflation signals for proactive interest rate setting.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Economic &amp; Fiscal: </a:t>
            </a:r>
            <a:r>
              <a:rPr sz="1000">
                <a:solidFill>
                  <a:srgbClr val="0F172A"/>
                </a:solidFill>
                <a:latin typeface="Arial"/>
              </a:rPr>
              <a:t>Saves ₹15+ Crores annually in physical surveyor travel and logistics overheads (&lt; ₹3,500/mo cloud cost).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DC2626"/>
                </a:solidFill>
                <a:latin typeface="Arial"/>
              </a:rPr>
              <a:t>• National DPI: </a:t>
            </a:r>
            <a:r>
              <a:rPr sz="1000">
                <a:solidFill>
                  <a:srgbClr val="0F172A"/>
                </a:solidFill>
                <a:latin typeface="Arial"/>
              </a:rPr>
              <a:t>India's first open, verifiable high-frequency price monitoring infrastructure with SHA-256 legal auditability.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57800" y="1078992"/>
            <a:ext cx="6428232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67528" y="1115568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1 (Live Real-Time Airfare Price Index Dashboard)</a:t>
            </a:r>
          </a:p>
        </p:txBody>
      </p:sp>
      <p:pic>
        <p:nvPicPr>
          <p:cNvPr id="12" name="Picture 11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389888"/>
            <a:ext cx="6281928" cy="19659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257800" y="3520440"/>
            <a:ext cx="6428232" cy="242316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67528" y="3557016"/>
            <a:ext cx="6208776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050" b="1">
                <a:solidFill>
                  <a:srgbClr val="DC2626"/>
                </a:solidFill>
                <a:latin typeface="Arial"/>
              </a:rPr>
              <a:t>PROTOTYPE IMAGE 2 (Corridor-Wise Yield &amp; Surge Analytics Table)</a:t>
            </a:r>
          </a:p>
        </p:txBody>
      </p:sp>
      <p:pic>
        <p:nvPicPr>
          <p:cNvPr id="15" name="Picture 14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0952" y="3840480"/>
            <a:ext cx="6281928" cy="205740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02920" y="6053328"/>
            <a:ext cx="11183112" cy="40233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🚀 Live Interactive Prototype: </a:t>
            </a:r>
            <a:r>
              <a:rPr sz="1100" b="1" u="sng">
                <a:solidFill>
                  <a:srgbClr val="FFFFFF"/>
                </a:solidFill>
                <a:latin typeface="Arial"/>
                <a:hlinkClick r:id="rId5"/>
              </a:rPr>
              <a:t>https://sih26056-airfare-cpi.vercel.app ↗</a:t>
            </a:r>
            <a:r>
              <a:rPr sz="1050">
                <a:solidFill>
                  <a:srgbClr val="F0FDF4"/>
                </a:solidFill>
                <a:latin typeface="Arial"/>
              </a:rPr>
              <a:t>   |   Click to Explore Live Real-Time Dashboard &amp; Ingestion Engine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01168"/>
            <a:ext cx="16459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109728"/>
            <a:ext cx="75895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5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800" b="1">
                <a:solidFill>
                  <a:srgbClr val="1E40AF"/>
                </a:solidFill>
                <a:latin typeface="Times New Roman"/>
              </a:defRPr>
            </a:pPr>
            <a:r>
              <a:t>Academic Foundations, Official Data Sources &amp; Technical Documentation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109728"/>
            <a:ext cx="164592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88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212080" cy="2487168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252728"/>
            <a:ext cx="4809744" cy="2267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OFFICIAL DATA SOURCES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MoSPI NSO: Consumer Price Index Guidelines &amp; Base 2012 Methodology.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Direct Airline Portals: Daily Fare Quotes across IndiGo, Air India, Akasa, SpiceJet. </a:t>
            </a:r>
            <a:r>
              <a:rPr sz="88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Online Travel Aggregators: Non-Stop Corridor Pricing Feeds.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0"/>
              </a:rPr>
              <a:t>[makemytrip.com ↗]</a:t>
            </a:r>
            <a:r>
              <a:rPr sz="880">
                <a:solidFill>
                  <a:srgbClr val="0F172A"/>
                </a:solidFill>
                <a:latin typeface="Arial"/>
              </a:rPr>
              <a:t> | </a:t>
            </a:r>
            <a:r>
              <a:rPr sz="880" b="1" u="sng">
                <a:solidFill>
                  <a:srgbClr val="1D4ED8"/>
                </a:solidFill>
                <a:latin typeface="Arial"/>
                <a:hlinkClick r:id="rId11"/>
              </a:rPr>
              <a:t>[easemytrip.com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0F172A"/>
                </a:solidFill>
                <a:latin typeface="Arial"/>
              </a:defRPr>
            </a:pPr>
            <a:r>
              <a:t>MARKET RESEARCH &amp; MOTIVATION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Indian domestic aviation traffic projected to grow at &gt;15% CAGR (2024–2030).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2"/>
              </a:rPr>
              <a:t>[iata.org/india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Algorithmic dynamic pricing generates 200–400% intraday fare volatility across metros.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3"/>
              </a:rPr>
              <a:t>[cci.gov.in/market-study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Over 90% of domestic air tickets sold digitally, making physical surveying obsolete.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4"/>
              </a:rPr>
              <a:t>[civilaviation.gov.in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VayuSuchak eliminates the critical 15-day MoSPI manual survey reporting lag with zero latency. </a:t>
            </a:r>
            <a:r>
              <a:rPr sz="880" b="1" u="sng">
                <a:solidFill>
                  <a:srgbClr val="1D4ED8"/>
                </a:solidFill>
                <a:latin typeface="Arial"/>
                <a:hlinkClick r:id="rId7"/>
              </a:rPr>
              <a:t>[mospi.gov.in/cpi-calendar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822191"/>
            <a:ext cx="5212080" cy="25603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3931919"/>
            <a:ext cx="4809744" cy="2340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600"/>
              </a:spcAft>
              <a:defRPr sz="1200" b="1">
                <a:solidFill>
                  <a:srgbClr val="1D4ED8"/>
                </a:solidFill>
                <a:latin typeface="Arial"/>
              </a:defRPr>
            </a:pPr>
            <a:r>
              <a:t>TECHNICAL DOCUMENTATION &amp; SPECS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Index Formulations: UN/ILO Jevons Geometric Mean Specification.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5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Harvester Engine: Playwright Chromium Headless with Ethical Scraping Protocols.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6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Provenance Vault: SHA-256 Hash Manifest conforming to NDSAP Standards.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7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900" b="1">
                <a:solidFill>
                  <a:srgbClr val="0F172A"/>
                </a:solidFill>
                <a:latin typeface="Arial"/>
              </a:rPr>
              <a:t>• </a:t>
            </a:r>
            <a:r>
              <a:rPr sz="880">
                <a:solidFill>
                  <a:srgbClr val="0F172A"/>
                </a:solidFill>
                <a:latin typeface="Arial"/>
              </a:rPr>
              <a:t>Production Deployment: Live Vercel Edge Serverless Architecture &amp; Dashboard. </a:t>
            </a:r>
            <a:r>
              <a:rPr sz="880" b="1" u="sng">
                <a:solidFill>
                  <a:srgbClr val="1D4ED8"/>
                </a:solidFill>
                <a:latin typeface="Arial"/>
                <a:hlinkClick r:id="rId18"/>
              </a:rPr>
              <a:t>[sih26056-airfare-cpi.vercel.app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