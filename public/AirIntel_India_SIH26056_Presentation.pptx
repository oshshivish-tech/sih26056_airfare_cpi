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hyperlink" Target="https://sih26056-airfare-cpi.vercel.app" TargetMode="External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publications/WCMS_761444/lang--en/index.htm" TargetMode="External"/><Relationship Id="rId5" Type="http://schemas.openxmlformats.org/officeDocument/2006/relationships/hyperlink" Target="https://webapps.ilo.org/CPI/CPI_Manual.html" TargetMode="External"/><Relationship Id="rId6" Type="http://schemas.openxmlformats.org/officeDocument/2006/relationships/hyperlink" Target="https://www.dgca.gov.in/digigov-portal/?page=4265/4206/servicename" TargetMode="External"/><Relationship Id="rId7" Type="http://schemas.openxmlformats.org/officeDocument/2006/relationships/hyperlink" Target="https://mospi.gov.in/consumer-price-index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playwright.dev/python/docs/intro" TargetMode="External"/><Relationship Id="rId11" Type="http://schemas.openxmlformats.org/officeDocument/2006/relationships/hyperlink" Target="https://sih26056-airfare-cpi.vercel.app" TargetMode="External"/><Relationship Id="rId12" Type="http://schemas.openxmlformats.org/officeDocument/2006/relationships/hyperlink" Target="https://github.com/oshshivish-tech/sih26056_airfare_cpi" TargetMode="External"/><Relationship Id="rId13" Type="http://schemas.openxmlformats.org/officeDocument/2006/relationships/hyperlink" Target="https://data.gov.in" TargetMode="External"/><Relationship Id="rId14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"/>
            <a:ext cx="91440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8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spcBef>
                <a:spcPts val="400"/>
              </a:spcBef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TITLE PAGE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194560"/>
            <a:ext cx="69037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45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Problem Statement Title- </a:t>
            </a:r>
            <a:r>
              <a:rPr sz="145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(CPI).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Theme- </a:t>
            </a:r>
            <a:r>
              <a:rPr sz="145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PS Category- </a:t>
            </a:r>
            <a:r>
              <a:rPr sz="145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ID- </a:t>
            </a:r>
            <a:r>
              <a:rPr sz="145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lnSpc>
                <a:spcPct val="115000"/>
              </a:lnSpc>
              <a:spcBef>
                <a:spcPts val="900"/>
              </a:spcBef>
              <a:spcAft>
                <a:spcPts val="900"/>
              </a:spcAft>
            </a:pPr>
            <a:r>
              <a:rPr sz="1450" b="1">
                <a:solidFill>
                  <a:srgbClr val="000000"/>
                </a:solidFill>
                <a:latin typeface="Arial"/>
              </a:rPr>
              <a:t>• Team Name- </a:t>
            </a:r>
            <a:r>
              <a:rPr sz="145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reduces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REST API designed for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24712"/>
            <a:ext cx="289864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100">
                <a:solidFill>
                  <a:srgbClr val="475569"/>
                </a:solidFill>
                <a:latin typeface="Arial"/>
              </a:rPr>
              <a:t>High-speed engine &amp; REST API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100">
                <a:solidFill>
                  <a:srgbClr val="475569"/>
                </a:solidFill>
                <a:latin typeface="Arial"/>
              </a:rPr>
              <a:t>Compliant, rate-limited collection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100">
                <a:solidFill>
                  <a:srgbClr val="475569"/>
                </a:solidFill>
                <a:latin typeface="Arial"/>
              </a:rPr>
              <a:t>Policy analytics dashboard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1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PostgreSQL: </a:t>
            </a:r>
            <a:r>
              <a:rPr sz="1100">
                <a:solidFill>
                  <a:srgbClr val="475569"/>
                </a:solidFill>
                <a:latin typeface="Arial"/>
              </a:rPr>
              <a:t>Sovereign time-series data archive</a:t>
            </a:r>
          </a:p>
          <a:p>
            <a:pPr>
              <a:lnSpc>
                <a:spcPct val="104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100">
                <a:solidFill>
                  <a:srgbClr val="475569"/>
                </a:solidFill>
                <a:latin typeface="Arial"/>
              </a:rPr>
              <a:t>Merkle audit ledger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3858768"/>
            <a:ext cx="2898648" cy="2633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3931920"/>
            <a:ext cx="27523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50" b="1">
                <a:solidFill>
                  <a:srgbClr val="1D4ED8"/>
                </a:solidFill>
                <a:latin typeface="Arial"/>
              </a:defRPr>
            </a:pPr>
            <a:r>
              <a:t>LIVE INTERACTIVE PROTOTYPE</a:t>
            </a:r>
          </a:p>
          <a:p>
            <a:pPr algn="ctr">
              <a:defRPr sz="900">
                <a:solidFill>
                  <a:srgbClr val="475569"/>
                </a:solidFill>
                <a:latin typeface="Arial"/>
              </a:defRPr>
            </a:pPr>
            <a:r>
              <a:t>Scan QR or click below to launch live engine</a:t>
            </a:r>
          </a:p>
        </p:txBody>
      </p:sp>
      <p:pic>
        <p:nvPicPr>
          <p:cNvPr id="10" name="Picture 9" descr="sih_prototype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188" y="4334256"/>
            <a:ext cx="1152144" cy="11521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" y="5559552"/>
            <a:ext cx="2752344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u="sng">
                <a:solidFill>
                  <a:srgbClr val="1D4ED8"/>
                </a:solidFill>
                <a:latin typeface="Arial"/>
                <a:hlinkClick r:id="rId4"/>
              </a:rPr>
              <a:t>sih26056-airfare-cpi.vercel.app ↗</a:t>
            </a:r>
          </a:p>
          <a:p>
            <a:pPr algn="ctr">
              <a:defRPr sz="850">
                <a:solidFill>
                  <a:srgbClr val="64748B"/>
                </a:solidFill>
                <a:latin typeface="Arial"/>
              </a:defRPr>
            </a:pPr>
            <a:r>
              <a:t>Edge Serverless • Live Prototype Dashboard</a:t>
            </a:r>
          </a:p>
        </p:txBody>
      </p:sp>
      <p:pic>
        <p:nvPicPr>
          <p:cNvPr id="12" name="Picture 11" descr="workflow_top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CPI MANUAL)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20" name="Picture 19" descr="eq1_perfec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22" name="Picture 21" descr="eq2_perfec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Illustrative weights from DGCA city-pair data (e.g., Delhi–Mumbai 18.2% basket / 14.8% raw share, Bengaluru–Delhi 13.5% basket / 11.0% raw share).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Compliance-Aware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ANALYSIS OF FEASIBILITY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Piloted on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Native REST API and JSON feeds designed to integrate with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POTENTIAL CHALLENGES &amp; RISKS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Algorithmic yield surges and last-minute fare spikes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991B1B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STRATEGIES FOR OVERCOMING CHALLENGES</a:t>
            </a:r>
          </a:p>
          <a:p>
            <a:pPr algn="ctr">
              <a:defRPr sz="85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surge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F766E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59E0B"/>
                </a:solidFill>
                <a:latin typeface="Arial"/>
              </a:rPr>
              <a:t>STRATEGIES FOR OVERCOMING CHALLENGES — IMPLEMENTATION ROADMAP: </a:t>
            </a:r>
          </a:p>
          <a:p>
            <a:pPr algn="ctr"/>
            <a:r>
              <a:rPr sz="11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42900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320954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E40AF"/>
                </a:solidFill>
                <a:latin typeface="Arial"/>
              </a:defRPr>
            </a:pPr>
            <a:r>
              <a:t>🎯 POTENTIAL IMPACT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Target audience: MoSPI, RBI, DGCA, travellers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5448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62763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⚡ Near-real-time Collection (&lt;24h vs ~15d)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Price collection cut from ~15 days to under 24 hours via rate-limited compliant harvesting.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78892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86207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E7490"/>
                </a:solidFill>
                <a:latin typeface="Arial"/>
              </a:defRPr>
            </a:pPr>
            <a:r>
              <a:t>📊 Denser Route Coverage (240 quotes per daily run)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240 quotes per daily run across 12 routes × 4 airlines × 5 horizons (vs 1 single quote/route/month in manual survey).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02336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524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9651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6D28D9"/>
                </a:solidFill>
                <a:latin typeface="Arial"/>
              </a:defRPr>
            </a:pPr>
            <a:r>
              <a:t>🔍 Dynamic Surge &amp; Lead-Time Capture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Captures what manual surveys miss: lead-time effects (T+1..T+45) and real-time booking surges.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257800"/>
            <a:ext cx="3246120" cy="1133856"/>
          </a:xfrm>
          <a:prstGeom prst="roundRect">
            <a:avLst>
              <a:gd name="adj" fmla="val 8000"/>
            </a:avLst>
          </a:prstGeom>
          <a:solidFill>
            <a:srgbClr val="FFF7ED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330952"/>
            <a:ext cx="3136392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C2410C"/>
                </a:solidFill>
                <a:latin typeface="Arial"/>
              </a:defRPr>
            </a:pPr>
            <a:r>
              <a:t>🎯 Validation Planned</a:t>
            </a:r>
          </a:p>
          <a:p>
            <a:pPr>
              <a:lnSpc>
                <a:spcPct val="114000"/>
              </a:lnSpc>
              <a:defRPr sz="1000">
                <a:solidFill>
                  <a:srgbClr val="0F172A"/>
                </a:solidFill>
                <a:latin typeface="Arial"/>
              </a:defRPr>
            </a:pPr>
            <a:r>
              <a:t>Back-test against the official CPI air-fare series planned with MoSPI NSO.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1051560"/>
            <a:ext cx="3611880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8808" y="1124712"/>
            <a:ext cx="3392424" cy="40233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16A34A"/>
                </a:solidFill>
                <a:latin typeface="Arial"/>
              </a:defRPr>
            </a:pPr>
            <a:r>
              <a:t>🌟 CATEGORIZED BENEFITS</a:t>
            </a:r>
          </a:p>
          <a:p>
            <a:pPr>
              <a:defRPr sz="950" b="1">
                <a:solidFill>
                  <a:srgbClr val="475569"/>
                </a:solidFill>
                <a:latin typeface="Arial"/>
              </a:defRPr>
            </a:pPr>
            <a:r>
              <a:t>Four Pillars of Macroeconomic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60520" y="155448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97096" y="162763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Public measurement: </a:t>
            </a:r>
            <a:r>
              <a:rPr sz="950">
                <a:solidFill>
                  <a:srgbClr val="0F172A"/>
                </a:solidFill>
                <a:latin typeface="Arial"/>
              </a:rPr>
              <a:t>transparent, publicly checkable airfare-inflation data, relevant to UDAN regional travellers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278892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97096" y="286207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Monetary policy signals: </a:t>
            </a:r>
            <a:r>
              <a:rPr sz="950">
                <a:solidFill>
                  <a:srgbClr val="0F172A"/>
                </a:solidFill>
                <a:latin typeface="Arial"/>
              </a:rPr>
              <a:t>leading transport-inflation indicator for RBI MPC; less manual field collection (savings under validation)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402336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97096" y="409651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Reduced field commutes: </a:t>
            </a:r>
            <a:r>
              <a:rPr sz="950">
                <a:solidFill>
                  <a:srgbClr val="0F172A"/>
                </a:solidFill>
                <a:latin typeface="Arial"/>
              </a:rPr>
              <a:t>less physical surveyor travel across travel counters and airports (qualitative)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60520" y="5257800"/>
            <a:ext cx="3429000" cy="1133856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7096" y="5330952"/>
            <a:ext cx="3355848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9"/>
                </a:solidFill>
                <a:latin typeface="Arial"/>
              </a:defRPr>
            </a:pPr>
            <a:r>
              <a:t>🏛️ POLICY &amp; INSTITUTIONAL</a:t>
            </a:r>
          </a:p>
          <a:p>
            <a:pPr>
              <a:lnSpc>
                <a:spcPct val="114000"/>
              </a:lnSpc>
            </a:pPr>
            <a:r>
              <a:rPr sz="1000" b="1">
                <a:solidFill>
                  <a:srgbClr val="1B365D"/>
                </a:solidFill>
                <a:latin typeface="Arial"/>
              </a:rPr>
              <a:t>Sovereign NSO feed: </a:t>
            </a:r>
            <a:r>
              <a:rPr sz="950">
                <a:solidFill>
                  <a:srgbClr val="0F172A"/>
                </a:solidFill>
                <a:latin typeface="Arial"/>
              </a:rPr>
              <a:t>API designed for ingestion into MoSPI eSankhyiki and NDAP; abnormal fare surges flagged to DGCA for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1051560"/>
            <a:ext cx="3867912" cy="5532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1124712"/>
            <a:ext cx="368503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Arial"/>
              </a:defRPr>
            </a:pPr>
            <a:r>
              <a:t>PROTOTYPE IMAGE 1: Dashboard</a:t>
            </a:r>
          </a:p>
        </p:txBody>
      </p:sp>
      <p:pic>
        <p:nvPicPr>
          <p:cNvPr id="28" name="Picture 27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417320"/>
            <a:ext cx="3685032" cy="4023360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7909560" y="5513832"/>
            <a:ext cx="3685032" cy="9601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46136" y="5568696"/>
            <a:ext cx="3611880" cy="8503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1B365D"/>
                </a:solidFill>
                <a:latin typeface="Arial"/>
              </a:rPr>
              <a:t>Geometric-mean (Jevons) aggregation reduces upward substitution bias (Diewert, 2004).</a:t>
            </a:r>
          </a:p>
          <a:p>
            <a:pPr algn="ctr"/>
            <a:r>
              <a:rPr sz="950" b="1">
                <a:solidFill>
                  <a:srgbClr val="0284C7"/>
                </a:solidFill>
                <a:latin typeface="Arial"/>
              </a:rPr>
              <a:t>Prototype benchmark: 111.4 • 12 Corridors Monitored</a:t>
            </a:r>
          </a:p>
          <a:p>
            <a:pPr algn="ctr"/>
            <a:r>
              <a:rPr sz="850">
                <a:solidFill>
                  <a:srgbClr val="475569"/>
                </a:solidFill>
                <a:latin typeface="Arial"/>
              </a:rPr>
              <a:t>High-frequency daily collection cuts 15-day policy latency for RBI MPC &amp; MoSPI.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and Methods,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Indices,' CPI Manual: Theory and Practice (ILO et al., 2004).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[ilo.org/cpi-theory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[playwright.dev/python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Aligned with NDSAP: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Scheduled daily pipeline runs &amp; unit tests validate Jevons index math.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