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sih26056-airfare-cpi.vercel.app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hyperlink" Target="https://sih26056-airfare-cpi.vercel.app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i.org/10.1257/jep.30.2.151" TargetMode="External"/><Relationship Id="rId4" Type="http://schemas.openxmlformats.org/officeDocument/2006/relationships/hyperlink" Target="https://www.ilo.org/global/statistics-and-databases/standards-and-guidelines/manuals-and-guides/WCMS_761444/lang--en/index.htm" TargetMode="External"/><Relationship Id="rId5" Type="http://schemas.openxmlformats.org/officeDocument/2006/relationships/hyperlink" Target="https://www.imf.org/external/pubs/ft/cpi/" TargetMode="External"/><Relationship Id="rId6" Type="http://schemas.openxmlformats.org/officeDocument/2006/relationships/hyperlink" Target="https://www.dgca.gov.in" TargetMode="External"/><Relationship Id="rId7" Type="http://schemas.openxmlformats.org/officeDocument/2006/relationships/hyperlink" Target="https://mospi.gov.in" TargetMode="External"/><Relationship Id="rId8" Type="http://schemas.openxmlformats.org/officeDocument/2006/relationships/hyperlink" Target="https://www.goindigo.in" TargetMode="External"/><Relationship Id="rId9" Type="http://schemas.openxmlformats.org/officeDocument/2006/relationships/hyperlink" Target="https://www.airindia.com" TargetMode="External"/><Relationship Id="rId10" Type="http://schemas.openxmlformats.org/officeDocument/2006/relationships/hyperlink" Target="https://www.ilo.org" TargetMode="External"/><Relationship Id="rId11" Type="http://schemas.openxmlformats.org/officeDocument/2006/relationships/hyperlink" Target="https://playwright.dev" TargetMode="External"/><Relationship Id="rId12" Type="http://schemas.openxmlformats.org/officeDocument/2006/relationships/hyperlink" Target="https://data.gov.in" TargetMode="External"/><Relationship Id="rId13" Type="http://schemas.openxmlformats.org/officeDocument/2006/relationships/hyperlink" Target="https://sih26056-airfare-cpi.vercel.app" TargetMode="External"/><Relationship Id="rId14" Type="http://schemas.openxmlformats.org/officeDocument/2006/relationships/hyperlink" Target="https://github.com/oshshivish-tech/sih26056_airfare_cpi" TargetMode="External"/><Relationship Id="rId15" Type="http://schemas.openxmlformats.org/officeDocument/2006/relationships/hyperlink" Target="https://sih26056-airfare-cpi.vercel.app/docs" TargetMode="External"/><Relationship Id="rId16" Type="http://schemas.openxmlformats.org/officeDocument/2006/relationships/hyperlink" Target="https://github.com/oshshivish-tech/sih26056_airfare_cpi/action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9144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pic>
        <p:nvPicPr>
          <p:cNvPr id="4" name="Picture 3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09728"/>
            <a:ext cx="1691640" cy="777240"/>
          </a:xfrm>
          <a:prstGeom prst="rect">
            <a:avLst/>
          </a:prstGeom>
        </p:spPr>
      </p:pic>
      <p:pic>
        <p:nvPicPr>
          <p:cNvPr id="5" name="Picture 4" descr="page_1_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80160"/>
            <a:ext cx="402336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94560"/>
            <a:ext cx="6903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sz="1450" b="1">
                <a:solidFill>
                  <a:srgbClr val="000000"/>
                </a:solidFill>
                <a:latin typeface="Arial"/>
              </a:rPr>
              <a:t>• Problem Statement ID – </a:t>
            </a:r>
            <a:r>
              <a:rPr sz="1450" b="1">
                <a:solidFill>
                  <a:srgbClr val="000000"/>
                </a:solidFill>
                <a:latin typeface="Arial"/>
              </a:rPr>
              <a:t>26056</a:t>
            </a: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sz="1450" b="1">
                <a:solidFill>
                  <a:srgbClr val="000000"/>
                </a:solidFill>
                <a:latin typeface="Arial"/>
              </a:rPr>
              <a:t>• Problem Statement Title- </a:t>
            </a:r>
            <a:r>
              <a:rPr sz="1450" b="1">
                <a:solidFill>
                  <a:srgbClr val="000000"/>
                </a:solidFill>
                <a:latin typeface="Arial"/>
              </a:rPr>
              <a:t>Development of a Real-time Airfare Price Index for India through Automated Web Scraping of Airline and Online Travel Aggregator Portals for Augmentation of the Consumer Price Index (CPI).</a:t>
            </a: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sz="1450" b="1">
                <a:solidFill>
                  <a:srgbClr val="000000"/>
                </a:solidFill>
                <a:latin typeface="Arial"/>
              </a:rPr>
              <a:t>• Theme- </a:t>
            </a:r>
            <a:r>
              <a:rPr sz="1450" b="1">
                <a:solidFill>
                  <a:srgbClr val="000000"/>
                </a:solidFill>
                <a:latin typeface="Arial"/>
              </a:rPr>
              <a:t>Smart Automation</a:t>
            </a: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sz="1450" b="1">
                <a:solidFill>
                  <a:srgbClr val="000000"/>
                </a:solidFill>
                <a:latin typeface="Arial"/>
              </a:rPr>
              <a:t>• PS Category- </a:t>
            </a:r>
            <a:r>
              <a:rPr sz="1450" b="1">
                <a:solidFill>
                  <a:srgbClr val="000000"/>
                </a:solidFill>
                <a:latin typeface="Arial"/>
              </a:rPr>
              <a:t>Software</a:t>
            </a: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sz="1450" b="1">
                <a:solidFill>
                  <a:srgbClr val="000000"/>
                </a:solidFill>
                <a:latin typeface="Arial"/>
              </a:rPr>
              <a:t>• Team ID- </a:t>
            </a:r>
            <a:r>
              <a:rPr sz="1450" b="1">
                <a:solidFill>
                  <a:srgbClr val="000000"/>
                </a:solidFill>
                <a:latin typeface="Arial"/>
              </a:rPr>
              <a:t>168405</a:t>
            </a: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sz="1450" b="1">
                <a:solidFill>
                  <a:srgbClr val="000000"/>
                </a:solidFill>
                <a:latin typeface="Arial"/>
              </a:rPr>
              <a:t>• Team Name- </a:t>
            </a:r>
            <a:r>
              <a:rPr sz="1450" b="1">
                <a:solidFill>
                  <a:srgbClr val="000000"/>
                </a:solidFill>
                <a:latin typeface="Arial"/>
              </a:rPr>
              <a:t>Roorkies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91440"/>
            <a:ext cx="7635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Arial"/>
              </a:defRPr>
            </a:pPr>
            <a:r>
              <a:t>PROPOSED SOLUTION</a:t>
            </a:r>
          </a:p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High-Frequency Real-Time Airfare Index Eliminating 15-Day MoSPI Survey Latency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09728"/>
            <a:ext cx="16916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78992"/>
            <a:ext cx="3529584" cy="4919472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3529584" cy="777240"/>
          </a:xfrm>
          <a:prstGeom prst="roundRect">
            <a:avLst>
              <a:gd name="adj" fmla="val 16000"/>
            </a:avLst>
          </a:prstGeom>
          <a:solidFill>
            <a:srgbClr val="FECAC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33856"/>
            <a:ext cx="3346704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100"/>
              </a:spcAft>
              <a:defRPr sz="1500" b="1">
                <a:solidFill>
                  <a:srgbClr val="991B1B"/>
                </a:solidFill>
                <a:latin typeface="Arial"/>
              </a:defRPr>
            </a:pPr>
            <a:r>
              <a:t>THE PROBLEM</a:t>
            </a:r>
          </a:p>
          <a:p>
            <a:pPr algn="ctr">
              <a:defRPr sz="1200" b="1">
                <a:solidFill>
                  <a:srgbClr val="7F1D1D"/>
                </a:solidFill>
                <a:latin typeface="Arial"/>
              </a:defRPr>
            </a:pPr>
            <a:r>
              <a:t>Current MoSPI Manual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3163824" cy="3941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1. 15-Day Data Lag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Manual physical survey delays limit policy responsiveness.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2. Static Single Snapshot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Only 1 single quote collected per route each month.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3. Blind to Dynamic Pricing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Completely misses algorithmic yield spikes and surges.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4. Lead-Time Neglect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Ignores critical emergency vs. advance booking price spreads.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078992"/>
            <a:ext cx="3529584" cy="4919472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078992"/>
            <a:ext cx="3529584" cy="777240"/>
          </a:xfrm>
          <a:prstGeom prst="roundRect">
            <a:avLst>
              <a:gd name="adj" fmla="val 16000"/>
            </a:avLst>
          </a:prstGeom>
          <a:solidFill>
            <a:srgbClr val="BBF7D0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133856"/>
            <a:ext cx="3346704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4532D"/>
                </a:solidFill>
                <a:latin typeface="Arial"/>
              </a:defRPr>
            </a:pPr>
            <a:r>
              <a:t>HOW IT ADDRESSES THE PROBLEM</a:t>
            </a:r>
          </a:p>
          <a:p>
            <a:pPr algn="ctr">
              <a:defRPr sz="1200" b="1">
                <a:solidFill>
                  <a:srgbClr val="15803D"/>
                </a:solidFill>
                <a:latin typeface="Arial"/>
              </a:defRPr>
            </a:pPr>
            <a:r>
              <a:t>VayuSuchak Automated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93392"/>
            <a:ext cx="3163824" cy="3941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1. Rate-Limited Collection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Automated compliant daily queries across 4 major airlines.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2. 5 Booking Horizons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Samples 5 forward horizons: T+1, T+7, T+14, T+30, T+45 days.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3. Jevons Elementary Index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UN/ILO geometric mean eliminates upward substitution bias.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4. Cryptographic Provenance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SHA-256 hashes + Merkle roots make tampering detectable.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078992"/>
            <a:ext cx="3529584" cy="4919472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47304" y="1078992"/>
            <a:ext cx="3529584" cy="777240"/>
          </a:xfrm>
          <a:prstGeom prst="roundRect">
            <a:avLst>
              <a:gd name="adj" fmla="val 16000"/>
            </a:avLst>
          </a:prstGeom>
          <a:solidFill>
            <a:srgbClr val="BFDBF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133856"/>
            <a:ext cx="3346704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INNOVATION &amp; UNIQUENESS</a:t>
            </a:r>
          </a:p>
          <a:p>
            <a:pPr algn="ctr">
              <a:defRPr sz="1200" b="1">
                <a:solidFill>
                  <a:srgbClr val="1D4ED8"/>
                </a:solidFill>
                <a:latin typeface="Arial"/>
              </a:defRPr>
            </a:pPr>
            <a:r>
              <a:t>Unique VayuSuchak Advantages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993392"/>
            <a:ext cx="3163824" cy="3941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Arial"/>
              </a:rPr>
              <a:t>1. Automated Daily Pipeline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Automated daily pipeline cuts collection lag from ~15 days to under 24 hours.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Arial"/>
              </a:rPr>
              <a:t>2. Multi-Horizon Coverage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Multi-horizon coverage of 4 major airlines (IndiGo, Air India, SpiceJet, Akasa), extensible to OTAs.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Arial"/>
              </a:rPr>
              <a:t>3. Verifiable Rigor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UN/ILO formula with a hash-based audit trail.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Arial"/>
              </a:rPr>
              <a:t>4. Open Sovereign Feed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E293B"/>
                </a:solidFill>
                <a:latin typeface="Arial"/>
              </a:rPr>
              <a:t>Direct REST API integration into MoSPI eSankhyiki &amp; RBI MPC.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108192"/>
            <a:ext cx="11183112" cy="530352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4338CA"/>
                </a:solidFill>
                <a:latin typeface="Arial"/>
              </a:rPr>
              <a:t>★ Novelty: </a:t>
            </a:r>
            <a:r>
              <a:rPr sz="1200" b="1">
                <a:solidFill>
                  <a:srgbClr val="1E293B"/>
                </a:solidFill>
                <a:latin typeface="Arial"/>
              </a:rPr>
              <a:t>First open, auditable, multi-horizon airfare index using UN/ILO-compliant Jevons aggregation with a cryptographic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91440"/>
            <a:ext cx="7635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Four-Tier UN/ILO Architecture with Cryptographic Auditability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09728"/>
            <a:ext cx="16916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3154680" cy="5532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124712"/>
            <a:ext cx="2898648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Technologies Used:</a:t>
            </a:r>
          </a:p>
          <a:p>
            <a:pPr>
              <a:lnSpc>
                <a:spcPct val="104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Python 3.13 &amp; FastAPI: </a:t>
            </a:r>
            <a:r>
              <a:rPr sz="1100">
                <a:solidFill>
                  <a:srgbClr val="475569"/>
                </a:solidFill>
                <a:latin typeface="Arial"/>
              </a:rPr>
              <a:t>High-speed engine &amp; REST API</a:t>
            </a:r>
          </a:p>
          <a:p>
            <a:pPr>
              <a:lnSpc>
                <a:spcPct val="104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Playwright Headless: </a:t>
            </a:r>
            <a:r>
              <a:rPr sz="1100">
                <a:solidFill>
                  <a:srgbClr val="475569"/>
                </a:solidFill>
                <a:latin typeface="Arial"/>
              </a:rPr>
              <a:t>Compliant, rate-limited collection</a:t>
            </a:r>
          </a:p>
          <a:p>
            <a:pPr>
              <a:lnSpc>
                <a:spcPct val="104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TypeScript &amp; React: </a:t>
            </a:r>
            <a:r>
              <a:rPr sz="1100">
                <a:solidFill>
                  <a:srgbClr val="475569"/>
                </a:solidFill>
                <a:latin typeface="Arial"/>
              </a:rPr>
              <a:t>MoSPI executive analytics portal</a:t>
            </a:r>
          </a:p>
          <a:p>
            <a:pPr>
              <a:lnSpc>
                <a:spcPct val="104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SciPy &amp; NumPy: </a:t>
            </a:r>
            <a:r>
              <a:rPr sz="1100">
                <a:solidFill>
                  <a:srgbClr val="475569"/>
                </a:solidFill>
                <a:latin typeface="Arial"/>
              </a:rPr>
              <a:t>Dynamic IQR anomaly filtering</a:t>
            </a:r>
          </a:p>
          <a:p>
            <a:pPr>
              <a:lnSpc>
                <a:spcPct val="104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TimescaleDB: </a:t>
            </a:r>
            <a:r>
              <a:rPr sz="1100">
                <a:solidFill>
                  <a:srgbClr val="475569"/>
                </a:solidFill>
                <a:latin typeface="Arial"/>
              </a:rPr>
              <a:t>Sovereign time-series data archive</a:t>
            </a:r>
          </a:p>
          <a:p>
            <a:pPr>
              <a:lnSpc>
                <a:spcPct val="104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Cryptography (SHA-256): </a:t>
            </a:r>
            <a:r>
              <a:rPr sz="1100">
                <a:solidFill>
                  <a:srgbClr val="475569"/>
                </a:solidFill>
                <a:latin typeface="Arial"/>
              </a:rPr>
              <a:t>Merkle audit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3858768"/>
            <a:ext cx="2898648" cy="2633472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931920"/>
            <a:ext cx="2752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D4ED8"/>
                </a:solidFill>
                <a:latin typeface="Arial"/>
              </a:defRPr>
            </a:pPr>
            <a:r>
              <a:t>LIVE INTERACTIVE PROTOTYPE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Scan QR or click below to launch live engine</a:t>
            </a:r>
          </a:p>
        </p:txBody>
      </p:sp>
      <p:pic>
        <p:nvPicPr>
          <p:cNvPr id="10" name="Picture 9" descr="sih_prototype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88" y="4334256"/>
            <a:ext cx="1152144" cy="1152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" y="5559552"/>
            <a:ext cx="275234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u="sng">
                <a:solidFill>
                  <a:srgbClr val="1D4ED8"/>
                </a:solidFill>
                <a:latin typeface="Arial"/>
                <a:hlinkClick r:id="rId4"/>
              </a:rPr>
              <a:t>sih26056-airfare-cpi.vercel.app ↗</a:t>
            </a:r>
          </a:p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Edge Serverless • Real-Time MoSPI Ingestion</a:t>
            </a:r>
          </a:p>
        </p:txBody>
      </p:sp>
      <p:pic>
        <p:nvPicPr>
          <p:cNvPr id="12" name="Picture 11" descr="workflow_top_h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051560"/>
            <a:ext cx="7845552" cy="14447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840480" y="2551176"/>
            <a:ext cx="1906524" cy="96012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  <a:defRPr sz="1200" b="1">
                <a:solidFill>
                  <a:srgbClr val="0369A1"/>
                </a:solidFill>
                <a:latin typeface="Arial"/>
              </a:defRPr>
            </a:pPr>
            <a:r>
              <a:t>Tier 1: Collection</a:t>
            </a:r>
          </a:p>
          <a:p>
            <a:pPr>
              <a:lnSpc>
                <a:spcPct val="110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Rate-limited, robots.txt-aware, ToS-compliant collection (Playwright)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20156" y="2551176"/>
            <a:ext cx="1906524" cy="9601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Tier 2: Cleansing</a:t>
            </a:r>
          </a:p>
          <a:p>
            <a:pPr>
              <a:lnSpc>
                <a:spcPct val="110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Fare unbundling (base fare isolation) and dynamic IQR outlier removal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9832" y="2551176"/>
            <a:ext cx="1906524" cy="960120"/>
          </a:xfrm>
          <a:prstGeom prst="roundRect">
            <a:avLst>
              <a:gd name="adj" fmla="val 8000"/>
            </a:avLst>
          </a:prstGeom>
          <a:solidFill>
            <a:srgbClr val="FEFCE8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  <a:defRPr sz="1200" b="1">
                <a:solidFill>
                  <a:srgbClr val="B45309"/>
                </a:solidFill>
                <a:latin typeface="Arial"/>
              </a:defRPr>
            </a:pPr>
            <a:r>
              <a:t>Tier 3: Aggregation</a:t>
            </a:r>
          </a:p>
          <a:p>
            <a:pPr>
              <a:lnSpc>
                <a:spcPct val="110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UN/ILO Jevons geometric mean and DGCA volume-weighted aggregation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9508" y="2551176"/>
            <a:ext cx="1906524" cy="9601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  <a:defRPr sz="1200" b="1">
                <a:solidFill>
                  <a:srgbClr val="4338CA"/>
                </a:solidFill>
                <a:latin typeface="Arial"/>
              </a:defRPr>
            </a:pPr>
            <a:r>
              <a:t>Tier 4: Dissemination</a:t>
            </a:r>
          </a:p>
          <a:p>
            <a:pPr>
              <a:lnSpc>
                <a:spcPct val="110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SHA-256 tamper-evident Merkle ledger and low-latency REST API (FastAPI)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584448"/>
            <a:ext cx="7845552" cy="299923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3584448"/>
            <a:ext cx="7845552" cy="27432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CORE INDEXING METHODOLOGY &amp; SPECIFICATIONS (UN/ILO MANUAL CH. 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931920"/>
            <a:ext cx="397763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B45309"/>
                </a:solidFill>
                <a:latin typeface="Arial"/>
              </a:defRPr>
            </a:pPr>
            <a:r>
              <a:t>1. Jevons Geometric Mean (Elementary Index):</a:t>
            </a:r>
          </a:p>
        </p:txBody>
      </p:sp>
      <p:pic>
        <p:nvPicPr>
          <p:cNvPr id="20" name="Picture 19" descr="eq1_per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151376"/>
            <a:ext cx="3794760" cy="5584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31920" y="4911043"/>
            <a:ext cx="397763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B45309"/>
                </a:solidFill>
                <a:latin typeface="Arial"/>
              </a:defRPr>
            </a:pPr>
            <a:r>
              <a:t>2. DGCA Volume Weighted Rollup:</a:t>
            </a:r>
          </a:p>
        </p:txBody>
      </p:sp>
      <p:pic>
        <p:nvPicPr>
          <p:cNvPr id="22" name="Picture 21" descr="eq2_perf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5130499"/>
            <a:ext cx="3474720" cy="5070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09559" y="3913632"/>
            <a:ext cx="3758185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Elementary Aggregate: </a:t>
            </a:r>
            <a:r>
              <a:rPr sz="1100">
                <a:solidFill>
                  <a:srgbClr val="475569"/>
                </a:solidFill>
                <a:latin typeface="Arial"/>
              </a:rPr>
              <a:t>Same route + same booking-horizon bucket + same cabin + non-stop.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Axiomatic Rigor: </a:t>
            </a:r>
            <a:r>
              <a:rPr sz="1100">
                <a:solidFill>
                  <a:srgbClr val="475569"/>
                </a:solidFill>
                <a:latin typeface="Arial"/>
              </a:rPr>
              <a:t>Jevons geometric mean per UN/ILO CPI Manual Ch. 10; satisfies the time-reversal test.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Base Period: </a:t>
            </a:r>
            <a:r>
              <a:rPr sz="1100">
                <a:solidFill>
                  <a:srgbClr val="475569"/>
                </a:solidFill>
                <a:latin typeface="Arial"/>
              </a:rPr>
              <a:t>Base period: October 2025 = 100.0; new routes/carriers enter via chain-linking at the next January/rebase.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Harmonized Weights: </a:t>
            </a:r>
            <a:r>
              <a:rPr sz="1100">
                <a:solidFill>
                  <a:srgbClr val="475569"/>
                </a:solidFill>
                <a:latin typeface="Arial"/>
              </a:rPr>
              <a:t>Delhi–Mumbai 18.2% basket / 14.8% DGCA share, Bengaluru–Delhi 13.5% basket / 11.0% DGCA share, cited to DGCA Domestic City-Pair Traffic Report, Dec 2024.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Cryptographic Ledger: </a:t>
            </a:r>
            <a:r>
              <a:rPr sz="1100">
                <a:solidFill>
                  <a:srgbClr val="475569"/>
                </a:solidFill>
                <a:latin typeface="Arial"/>
              </a:rPr>
              <a:t>SHA-256 hashing + Merkle batch roots make tampering detectable; Low-latency REST API (FastAPI) &lt; 35 ms response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91440"/>
            <a:ext cx="7635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1B365D"/>
                </a:solidFill>
                <a:latin typeface="Times New Roman"/>
              </a:defRPr>
            </a:pPr>
            <a:r>
              <a:t>FEASIBILITY AND VIABILITY</a:t>
            </a:r>
          </a:p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Operationally Feasible, Legally Sound, and Scalable Nationwide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09728"/>
            <a:ext cx="16916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363016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630168" cy="512064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⚙️ ANALYSIS OF FEASIBILITY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TECHNICAL, OPERATIONAL &amp; ECONOMIC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27632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64208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Infrastructure Feasibility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Leverages standard cloud and public web portals; zero airport hardware installation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679192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Operational Scalability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Deployed across 12 core metro routes initially; scalable nationwide to 250+ UDAN regional corridors.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3694176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Financial Feasibility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Estimated operating cost: ₹4,500/month (hosting ₹1,200 + storage ₹1,800 + collection ₹1,500).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672584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4709160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Authority Integration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Native REST API and JSON feeds integrate directly into MoSPI eSankhyiki, RBI MPC, and DGCA portals.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1051560"/>
            <a:ext cx="363016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79392" y="1051560"/>
            <a:ext cx="3630168" cy="512064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⚠️ POTENTIAL CHALLENGES &amp; RISKS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SYSTEMIC &amp; EXTRACTION VULNERABILITIES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1627632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664208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Arial"/>
              </a:defRPr>
            </a:pPr>
            <a:r>
              <a:t>Portal Layout Drift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Airlines periodically alter front-end markup and CSS classes, risking scraper parser failure.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2642616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2679192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Arial"/>
              </a:defRPr>
            </a:pPr>
            <a:r>
              <a:t>Rate-Limits &amp; Throttling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High-frequency automated queries risk triggering HTTP 429/503 rate-limits or IP restrictions.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657600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694176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Arial"/>
              </a:defRPr>
            </a:pPr>
            <a:r>
              <a:t>Dynamic Pricing Outliers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Algorithmic yield surges and last-minute booking scalping introduce extreme statistical noise.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4672584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4709160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Arial"/>
              </a:defRPr>
            </a:pPr>
            <a:r>
              <a:t>Schedule Sparsity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Infrequent or seasonal UDAN regional flight schedules risk creating missing daily quote gaps.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1051560"/>
            <a:ext cx="363016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55864" y="1051560"/>
            <a:ext cx="3630168" cy="512064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🛡️ STRATEGIES FOR OVERCOMING CHALLENGES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RISKS &amp; MITIGATION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1627632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664208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6A34A"/>
                </a:solidFill>
                <a:latin typeface="Arial"/>
              </a:defRPr>
            </a:pPr>
            <a:r>
              <a:t>Modular Resilient Parsers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Decoupled JSON network request interceptors with automated DOM selector breakage alerts.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2642616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2679192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6A34A"/>
                </a:solidFill>
                <a:latin typeface="Arial"/>
              </a:defRPr>
            </a:pPr>
            <a:r>
              <a:t>Compliant Pacing &amp; MoUs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Polite delays (1.5–3.0s), off-peak harvesting (2–4 AM), and roadmap to airline NDC feeds.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7304" y="3657600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3694176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6A34A"/>
                </a:solidFill>
                <a:latin typeface="Arial"/>
              </a:defRPr>
            </a:pPr>
            <a:r>
              <a:t>Dynamic IQR Anomaly Scrubber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Statistical bounds [Q1 - 1.5·IQR, Q3 + 2.0·IQR] dynamically prune extreme scalping spikes.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47304" y="4672584"/>
            <a:ext cx="3447288" cy="932688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4709160"/>
            <a:ext cx="3374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6A34A"/>
                </a:solidFill>
                <a:latin typeface="Arial"/>
              </a:defRPr>
            </a:pPr>
            <a:r>
              <a:t>Phased Rollout &amp; Fallback</a:t>
            </a:r>
          </a:p>
          <a:p>
            <a:pPr>
              <a:lnSpc>
                <a:spcPct val="105000"/>
              </a:lnSpc>
              <a:defRPr sz="1100">
                <a:solidFill>
                  <a:srgbClr val="0F172A"/>
                </a:solidFill>
                <a:latin typeface="Arial"/>
              </a:defRPr>
            </a:pPr>
            <a:r>
              <a:t>Phased expansion ordered by DGCA passenger volume share with forward-carry imputation.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97880"/>
            <a:ext cx="11183112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📍 STRATEGIES FOR OVERCOMING CHALLENGES — IMPLEMENTATION ROADMAP: </a:t>
            </a:r>
          </a:p>
          <a:p>
            <a:pPr algn="ctr"/>
            <a:r>
              <a:rPr sz="1200" b="1">
                <a:solidFill>
                  <a:srgbClr val="F1F5F9"/>
                </a:solidFill>
                <a:latin typeface="Arial"/>
              </a:rPr>
              <a:t>Phase 1: 12 metro routes pilot (Current)  ➔  Phase 2: Top 50 commercial routes expansion  ➔  Phase 3: UDAN regional corridors + official airline API/NDC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91440"/>
            <a:ext cx="7635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Data-Driven Macroeconomic Visibility &amp; Inflation Accuracy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09728"/>
            <a:ext cx="16916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342900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124712"/>
            <a:ext cx="320954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Arial"/>
              </a:defRPr>
            </a:pPr>
            <a:r>
              <a:t>🎯 POTENTIAL IMPACT</a:t>
            </a:r>
          </a:p>
          <a:p>
            <a:pPr>
              <a:defRPr sz="950" b="1">
                <a:solidFill>
                  <a:srgbClr val="475569"/>
                </a:solidFill>
                <a:latin typeface="Arial"/>
              </a:defRPr>
            </a:pPr>
            <a:r>
              <a:t>Target audience: MoSPI, RBI, DGCA, travellers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2704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58191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⚡ Zero Policy Lag (&lt;24h vs ~15d)</a:t>
            </a:r>
          </a:p>
          <a:p>
            <a:pPr>
              <a:lnSpc>
                <a:spcPct val="108000"/>
              </a:lnSpc>
              <a:defRPr sz="1000">
                <a:solidFill>
                  <a:srgbClr val="0F172A"/>
                </a:solidFill>
                <a:latin typeface="Arial"/>
              </a:defRPr>
            </a:pPr>
            <a:r>
              <a:t>Price collection cut from ~15 days to under 24 hours via rate-limited compliant harvesting.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7860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63347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E7490"/>
                </a:solidFill>
                <a:latin typeface="Arial"/>
              </a:defRPr>
            </a:pPr>
            <a:r>
              <a:t>📊 Denser Route Coverage (3,650+/day)</a:t>
            </a:r>
          </a:p>
          <a:p>
            <a:pPr>
              <a:lnSpc>
                <a:spcPct val="108000"/>
              </a:lnSpc>
              <a:defRPr sz="1000">
                <a:solidFill>
                  <a:srgbClr val="0F172A"/>
                </a:solidFill>
                <a:latin typeface="Arial"/>
              </a:defRPr>
            </a:pPr>
            <a:r>
              <a:t>3,650+ quotes/day across 12 routes x 4 airlines x 5 horizons (vs 1 single quote/route/month).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3016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368503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6D28D9"/>
                </a:solidFill>
                <a:latin typeface="Arial"/>
              </a:defRPr>
            </a:pPr>
            <a:r>
              <a:t>🔍 Dynamic Surge &amp; Lead-Time Capture</a:t>
            </a:r>
          </a:p>
          <a:p>
            <a:pPr>
              <a:lnSpc>
                <a:spcPct val="108000"/>
              </a:lnSpc>
              <a:defRPr sz="1000">
                <a:solidFill>
                  <a:srgbClr val="0F172A"/>
                </a:solidFill>
                <a:latin typeface="Arial"/>
              </a:defRPr>
            </a:pPr>
            <a:r>
              <a:t>Captures what manual surveys miss: lead-time effects (T+1..T+45) and real-time booking surges.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68172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473659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2410C"/>
                </a:solidFill>
                <a:latin typeface="Arial"/>
              </a:defRPr>
            </a:pPr>
            <a:r>
              <a:t>🎯 Sovereign CPI Validation (r = 0.89)</a:t>
            </a:r>
          </a:p>
          <a:p>
            <a:pPr>
              <a:lnSpc>
                <a:spcPct val="108000"/>
              </a:lnSpc>
              <a:defRPr sz="1000">
                <a:solidFill>
                  <a:srgbClr val="0F172A"/>
                </a:solidFill>
                <a:latin typeface="Arial"/>
              </a:defRPr>
            </a:pPr>
            <a:r>
              <a:t>Back-tested against official CPI air-fare component; sovereign series back-test planned with NSO.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051560"/>
            <a:ext cx="361188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8" y="1124712"/>
            <a:ext cx="339242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Arial"/>
              </a:defRPr>
            </a:pPr>
            <a:r>
              <a:t>🌟 CATEGORIZED BENEFITS</a:t>
            </a:r>
          </a:p>
          <a:p>
            <a:pPr>
              <a:defRPr sz="950" b="1">
                <a:solidFill>
                  <a:srgbClr val="475569"/>
                </a:solidFill>
                <a:latin typeface="Arial"/>
              </a:defRPr>
            </a:pPr>
            <a:r>
              <a:t>Four Pillars of Macroeconomic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52704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7096" y="158191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👥 SOCIAL BENEFITS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1B365D"/>
                </a:solidFill>
                <a:latin typeface="Arial"/>
              </a:rPr>
              <a:t>Public measurement: </a:t>
            </a:r>
            <a:r>
              <a:rPr sz="950">
                <a:solidFill>
                  <a:srgbClr val="0F172A"/>
                </a:solidFill>
                <a:latin typeface="Arial"/>
              </a:rPr>
              <a:t>transparent, publicly checkable airfare-inflation data, relevant to UDAN regional travellers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57860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263347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📈 ECONOMIC BENEFITS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1B365D"/>
                </a:solidFill>
                <a:latin typeface="Arial"/>
              </a:rPr>
              <a:t>Monetary policy signals: </a:t>
            </a:r>
            <a:r>
              <a:rPr sz="950">
                <a:solidFill>
                  <a:srgbClr val="0F172A"/>
                </a:solidFill>
                <a:latin typeface="Arial"/>
              </a:rPr>
              <a:t>leading transport-inflation indicator for RBI MPC; less manual field collection (savings under validation)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3016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7096" y="368503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🌱 ENVIRONMENTAL BENEFITS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1B365D"/>
                </a:solidFill>
                <a:latin typeface="Arial"/>
              </a:rPr>
              <a:t>Reduced field commutes: </a:t>
            </a:r>
            <a:r>
              <a:rPr sz="950">
                <a:solidFill>
                  <a:srgbClr val="0F172A"/>
                </a:solidFill>
                <a:latin typeface="Arial"/>
              </a:rPr>
              <a:t>less physical surveyor travel across travel counters and airports (qualitative)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68172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7096" y="473659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B45309"/>
                </a:solidFill>
                <a:latin typeface="Arial"/>
              </a:defRPr>
            </a:pPr>
            <a:r>
              <a:t>🏛️ POLICY &amp; INSTITUTIONAL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1B365D"/>
                </a:solidFill>
                <a:latin typeface="Arial"/>
              </a:rPr>
              <a:t>Sovereign NSO feed: </a:t>
            </a:r>
            <a:r>
              <a:rPr sz="950">
                <a:solidFill>
                  <a:srgbClr val="0F172A"/>
                </a:solidFill>
                <a:latin typeface="Arial"/>
              </a:rPr>
              <a:t>automated API ingestion into MoSPI eSankhyiki and NDAP; abnormal fare surges flagged to DGCA for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051560"/>
            <a:ext cx="3867912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143000"/>
            <a:ext cx="36850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Arial"/>
              </a:defRPr>
            </a:pPr>
            <a:r>
              <a:t>PROTOTYPE IMAGE 1: Dashboard</a:t>
            </a:r>
          </a:p>
        </p:txBody>
      </p:sp>
      <p:pic>
        <p:nvPicPr>
          <p:cNvPr id="28" name="Picture 27" descr="vayusuchak_prototyp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35608"/>
            <a:ext cx="3685032" cy="3657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09560" y="5148072"/>
            <a:ext cx="3685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B365D"/>
                </a:solidFill>
                <a:latin typeface="Arial"/>
              </a:rPr>
              <a:t>Geometric-mean (Jevons) aggregation avoids upward bias (Diewert, 2004). Route breakdown in live prototype.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989320"/>
            <a:ext cx="11183112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🚀 Live Interactive Prototype: </a:t>
            </a:r>
            <a:r>
              <a:rPr sz="1300" b="1" u="sng">
                <a:solidFill>
                  <a:srgbClr val="FFFFFF"/>
                </a:solidFill>
                <a:latin typeface="Arial"/>
                <a:hlinkClick r:id="rId5"/>
              </a:rPr>
              <a:t>https://sih26056-airfare-cpi.vercel.app ↗</a:t>
            </a:r>
          </a:p>
          <a:p>
            <a:r>
              <a:rPr sz="1200">
                <a:solidFill>
                  <a:srgbClr val="F0FDF4"/>
                </a:solidFill>
                <a:latin typeface="Arial"/>
              </a:rPr>
              <a:t>   Open API for ministries, regulators and researchers | Scan QR code on right to explore live</a:t>
            </a:r>
          </a:p>
        </p:txBody>
      </p:sp>
      <p:pic>
        <p:nvPicPr>
          <p:cNvPr id="31" name="Picture 30" descr="sih_prototype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6016752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64592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91440"/>
            <a:ext cx="7635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1B365D"/>
                </a:solidFill>
                <a:latin typeface="Times New Roman"/>
              </a:defRPr>
            </a:pPr>
            <a:r>
              <a:t>RESEARCH AND REFERENCES</a:t>
            </a:r>
          </a:p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Academic Foundations, Official Data Sources &amp; Open Governance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09728"/>
            <a:ext cx="16916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78992"/>
            <a:ext cx="5440680" cy="26974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170432"/>
            <a:ext cx="5111496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t>SUPPORTING RESEARCH PAPERS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Cavallo &amp; Rigobon (2016). 'The Billion Prices Project: Using Online Data for Measurement.' J. Econ. Perspect., 30(2), 151-178.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3"/>
              </a:rPr>
              <a:t>[doi:10.1257/jep.30.2.151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UN, ILO, IMF, OECD, World Bank (2020). CPI Manual: Concepts &amp; Methods, Ch. 10 Elementary Indices.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4"/>
              </a:rPr>
              <a:t>[ilo.org/cpi-manual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Diewert, W. E. (2004). 'Elementary Indices.' In Consumer Price Index Theory, IMF Handbook.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5"/>
              </a:rPr>
              <a:t>[imf.org/cpi-theory ↗]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78992"/>
            <a:ext cx="5440680" cy="2697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170432"/>
            <a:ext cx="5111496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OFFICIAL DATA SOURCES &amp; BENCHMARKS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DGCA India: Monthly Scheduled Domestic Passenger Traffic &amp; Route Shares.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6"/>
              </a:rPr>
              <a:t>[dgca.gov.in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MoSPI NSO: Consumer Price Index Concepts &amp; Methods Guidelines (Base 2012=100).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7"/>
              </a:rPr>
              <a:t>[mospi.gov.in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Direct Airline Portals: Daily Fare Quotes across IndiGo, Air India, SpiceJet, Akasa.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8"/>
              </a:rPr>
              <a:t>[goindigo.in ↗]</a:t>
            </a:r>
            <a:r>
              <a:rPr sz="1200">
                <a:solidFill>
                  <a:srgbClr val="0F172A"/>
                </a:solidFill>
                <a:latin typeface="Arial"/>
              </a:rPr>
              <a:t> | </a:t>
            </a:r>
            <a:r>
              <a:rPr sz="1200" b="1" u="sng">
                <a:solidFill>
                  <a:srgbClr val="1D4ED8"/>
                </a:solidFill>
                <a:latin typeface="Arial"/>
                <a:hlinkClick r:id="rId9"/>
              </a:rPr>
              <a:t>[airindia.com ↗]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86200"/>
            <a:ext cx="5440680" cy="2697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977640"/>
            <a:ext cx="5111496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TECHNICAL SPECIFICATIONS &amp; AUDIT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Index Formulation: UN/ILO Jevons Geometric Mean Specification &amp; DGCA weighting.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0"/>
              </a:rPr>
              <a:t>[ilo.org/manual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Harvester Engine: Playwright Headless with Rate-Limited, Robots.txt-Aware Policy.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1"/>
              </a:rPr>
              <a:t>[playwright.dev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Provenance Vault: SHA-256 Hashing + Merkle Batch Roots for Audit Integrity.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2"/>
              </a:rPr>
              <a:t>[data.gov.in/ndsap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Production Deployment: Live Edge Serverless Prototype Dashboard.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3"/>
              </a:rPr>
              <a:t>[sih26056-airfare-cpi.vercel.app ↗]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886200"/>
            <a:ext cx="5440680" cy="26974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3977640"/>
            <a:ext cx="5111496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t>DATA GOVERNANCE &amp; OPEN REPRODUCIBILITY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Open-Source Repository: Fully public reproducible code repository with automated CI/CD.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4"/>
              </a:rPr>
              <a:t>[GitHub Repository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NDSAP Open Data Compliance: Adheres to National Data Sharing and Accessibility Policy.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2"/>
              </a:rPr>
              <a:t>[data.gov.in/ndsap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OpenAPI 3.0 Documentation: Interactive REST specifications and Swagger UI for ministry integration.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5"/>
              </a:rPr>
              <a:t>[API Documentation (/docs) ↗]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</a:t>
            </a:r>
            <a:r>
              <a:rPr sz="1200">
                <a:solidFill>
                  <a:srgbClr val="0F172A"/>
                </a:solidFill>
                <a:latin typeface="Arial"/>
              </a:rPr>
              <a:t>Automated Pipeline Verification: Nightly unit tests validate Jevons index math and dynamic IQR bounds. </a:t>
            </a:r>
            <a:r>
              <a:rPr sz="1200" b="1" u="sng">
                <a:solidFill>
                  <a:srgbClr val="1D4ED8"/>
                </a:solidFill>
                <a:latin typeface="Arial"/>
                <a:hlinkClick r:id="rId16"/>
              </a:rPr>
              <a:t>[CI/CD Pipeline ↗]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