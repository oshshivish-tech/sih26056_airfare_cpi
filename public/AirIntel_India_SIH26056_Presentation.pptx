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hyperlink" Target="https://sih26056-airfare-cpi.vercel.app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doi.org/10.1257/jep.30.2.151" TargetMode="External"/><Relationship Id="rId4" Type="http://schemas.openxmlformats.org/officeDocument/2006/relationships/hyperlink" Target="https://www.ilo.org/global/statistics-and-databases/standards-and-guidelines/manuals-and-guides/WCMS_761444/lang--en/index.htm" TargetMode="External"/><Relationship Id="rId5" Type="http://schemas.openxmlformats.org/officeDocument/2006/relationships/hyperlink" Target="https://www.imf.org/external/pubs/ft/cpi/" TargetMode="External"/><Relationship Id="rId6" Type="http://schemas.openxmlformats.org/officeDocument/2006/relationships/hyperlink" Target="https://www.dgca.gov.in" TargetMode="External"/><Relationship Id="rId7" Type="http://schemas.openxmlformats.org/officeDocument/2006/relationships/hyperlink" Target="https://mospi.gov.in" TargetMode="External"/><Relationship Id="rId8" Type="http://schemas.openxmlformats.org/officeDocument/2006/relationships/hyperlink" Target="https://www.goindigo.in" TargetMode="External"/><Relationship Id="rId9" Type="http://schemas.openxmlformats.org/officeDocument/2006/relationships/hyperlink" Target="https://www.airindia.com" TargetMode="External"/><Relationship Id="rId10" Type="http://schemas.openxmlformats.org/officeDocument/2006/relationships/hyperlink" Target="https://www.ilo.org" TargetMode="External"/><Relationship Id="rId11" Type="http://schemas.openxmlformats.org/officeDocument/2006/relationships/hyperlink" Target="https://playwright.dev" TargetMode="External"/><Relationship Id="rId12" Type="http://schemas.openxmlformats.org/officeDocument/2006/relationships/hyperlink" Target="https://data.gov.in" TargetMode="External"/><Relationship Id="rId13" Type="http://schemas.openxmlformats.org/officeDocument/2006/relationships/hyperlink" Target="https://sih26056-airfare-cpi.vercel.app" TargetMode="External"/><Relationship Id="rId14" Type="http://schemas.openxmlformats.org/officeDocument/2006/relationships/hyperlink" Target="https://github.com/oshshivish-tech/sih26056_airfare_cpi" TargetMode="External"/><Relationship Id="rId15" Type="http://schemas.openxmlformats.org/officeDocument/2006/relationships/hyperlink" Target="https://sih26056-airfare-cpi.vercel.app/docs" TargetMode="External"/><Relationship Id="rId16" Type="http://schemas.openxmlformats.org/officeDocument/2006/relationships/hyperlink" Target="https://github.com/oshshivish-tech/sih26056_airfare_cpi/ac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200" b="1">
                <a:solidFill>
                  <a:srgbClr val="1B365D"/>
                </a:solidFill>
                <a:latin typeface="Times New Roman"/>
              </a:defRPr>
            </a:pPr>
            <a:r>
              <a:t>SMART INDIA HACKATHON 2026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VayuSuchak: Real-Time Airfare Price Index for India</a:t>
            </a:r>
          </a:p>
        </p:txBody>
      </p:sp>
      <p:pic>
        <p:nvPicPr>
          <p:cNvPr id="4" name="Picture 3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pic>
        <p:nvPicPr>
          <p:cNvPr id="5" name="Picture 4" descr="page_1_img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80160"/>
            <a:ext cx="40233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1325880"/>
            <a:ext cx="6812280" cy="5120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SIH26056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Problem Statement Title – </a:t>
            </a:r>
            <a:r>
              <a:rPr sz="1500" b="1">
                <a:solidFill>
                  <a:srgbClr val="000000"/>
                </a:solidFill>
                <a:latin typeface="Arial"/>
              </a:rPr>
              <a:t>Development of a Real-time Airfare Price Index for India through Automated Web Scraping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Department – </a:t>
            </a:r>
            <a:r>
              <a:rPr sz="1500" b="1">
                <a:solidFill>
                  <a:srgbClr val="000000"/>
                </a:solidFill>
                <a:latin typeface="Arial"/>
              </a:rPr>
              <a:t>Data Informatics &amp; Innovation Division (DIID)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Category – </a:t>
            </a:r>
            <a:r>
              <a:rPr sz="1500" b="1">
                <a:solidFill>
                  <a:srgbClr val="000000"/>
                </a:solidFill>
                <a:latin typeface="Arial"/>
              </a:rPr>
              <a:t>Software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Theme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Smart Automation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ID – </a:t>
            </a:r>
            <a:r>
              <a:rPr sz="1500" b="1">
                <a:solidFill>
                  <a:srgbClr val="000000"/>
                </a:solidFill>
                <a:latin typeface="Arial"/>
              </a:rPr>
              <a:t>168405</a:t>
            </a:r>
          </a:p>
          <a:p>
            <a:pPr>
              <a:spcBef>
                <a:spcPts val="800"/>
              </a:spcBef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Arial"/>
              </a:rPr>
              <a:t>• Team Name – </a:t>
            </a:r>
            <a:r>
              <a:rPr sz="1500" b="1">
                <a:solidFill>
                  <a:srgbClr val="000000"/>
                </a:solidFill>
                <a:latin typeface="Arial"/>
              </a:rPr>
              <a:t>Roorkies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Arial"/>
              </a:defRPr>
            </a:pPr>
            <a:r>
              <a:t>PROPOSED SOLUTION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High-Frequency Real-Time Airfare Index Eliminating 15-Day MoSPI Survey Latency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FF5F5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FECACA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500" b="1">
                <a:solidFill>
                  <a:srgbClr val="991B1B"/>
                </a:solidFill>
                <a:latin typeface="Arial"/>
              </a:defRPr>
            </a:pPr>
            <a:r>
              <a:t>THE PROBLEM</a:t>
            </a:r>
          </a:p>
          <a:p>
            <a:pPr algn="ctr">
              <a:defRPr sz="1200" b="1">
                <a:solidFill>
                  <a:srgbClr val="7F1D1D"/>
                </a:solidFill>
                <a:latin typeface="Arial"/>
              </a:defRPr>
            </a:pPr>
            <a:r>
              <a:t>Current MoSPI Manual Survey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1. 15-Day Data Lag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Manual physical survey delays limit policy responsiveness.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2. Static Single Snapshot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Only 1 single quote collected per route each month.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3. Blind to Dynamic Pricing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Completely misses algorithmic yield spikes and surges.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B91C1C"/>
                </a:solidFill>
                <a:latin typeface="Arial"/>
              </a:rPr>
              <a:t>4. Lead-Time Neglect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Ignores critical emergency vs. advance booking price spreads.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BF7D0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6552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4532D"/>
                </a:solidFill>
                <a:latin typeface="Arial"/>
              </a:defRPr>
            </a:pPr>
            <a:r>
              <a:t>HOW IT ADDRESSES THE PROBLEM</a:t>
            </a:r>
          </a:p>
          <a:p>
            <a:pPr algn="ctr">
              <a:defRPr sz="1200" b="1">
                <a:solidFill>
                  <a:srgbClr val="15803D"/>
                </a:solidFill>
                <a:latin typeface="Arial"/>
              </a:defRPr>
            </a:pPr>
            <a:r>
              <a:t>VayuSuchak Automated 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1. Rate-Limited Collection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compliant daily queries across 4 major airlines.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2. 5 Booking Horizons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Samples 5 forward horizons: T+1, T+7, T+14, T+30, T+45 days.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3. Jevons Elementary Index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geometric mean eliminates upward substitution bias.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5803D"/>
                </a:solidFill>
                <a:latin typeface="Arial"/>
              </a:rPr>
              <a:t>4. Cryptographic Provenance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SHA-256 hashes + Merkle roots make tampering detectable.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7304" y="1078992"/>
            <a:ext cx="3529584" cy="4919472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47304" y="1078992"/>
            <a:ext cx="3529584" cy="777240"/>
          </a:xfrm>
          <a:prstGeom prst="roundRect">
            <a:avLst>
              <a:gd name="adj" fmla="val 16000"/>
            </a:avLst>
          </a:prstGeom>
          <a:solidFill>
            <a:srgbClr val="BFDBFE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4" y="1133856"/>
            <a:ext cx="3346704" cy="66751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spcAft>
                <a:spcPts val="100"/>
              </a:spcAft>
              <a:defRPr sz="1300" b="1">
                <a:solidFill>
                  <a:srgbClr val="1E3A8A"/>
                </a:solidFill>
                <a:latin typeface="Arial"/>
              </a:defRPr>
            </a:pPr>
            <a:r>
              <a:t>INNOVATION &amp; UNIQUENESS</a:t>
            </a:r>
          </a:p>
          <a:p>
            <a:pPr algn="ctr">
              <a:defRPr sz="1200" b="1">
                <a:solidFill>
                  <a:srgbClr val="1D4ED8"/>
                </a:solidFill>
                <a:latin typeface="Arial"/>
              </a:defRPr>
            </a:pPr>
            <a:r>
              <a:t>Unique VayuSuchak Advantages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1993392"/>
            <a:ext cx="3163824" cy="3941064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1. Automated Daily Pipeline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Automated daily pipeline cuts collection lag from ~15 days to under 24 hours.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2. Multi-Horizon Coverage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Multi-horizon coverage of 4 major airlines (IndiGo, Air India, SpiceJet, Akasa), extensible to OTAs.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3. Verifiable Rigor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UN/ILO formula with a hash-based audit trail.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1D4ED8"/>
                </a:solidFill>
                <a:latin typeface="Arial"/>
              </a:rPr>
              <a:t>4. Open Sovereign Feed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00">
                <a:solidFill>
                  <a:srgbClr val="1E293B"/>
                </a:solidFill>
                <a:latin typeface="Arial"/>
              </a:rPr>
              <a:t>Direct REST API integration into MoSPI eSankhyiki &amp; RBI MPC.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108192"/>
            <a:ext cx="11183112" cy="530352"/>
          </a:xfrm>
          <a:prstGeom prst="roundRect">
            <a:avLst>
              <a:gd name="adj" fmla="val 20000"/>
            </a:avLst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4338CA"/>
                </a:solidFill>
                <a:latin typeface="Arial"/>
              </a:rPr>
              <a:t>★ Novelty: </a:t>
            </a:r>
            <a:r>
              <a:rPr sz="1200" b="1">
                <a:solidFill>
                  <a:srgbClr val="1E293B"/>
                </a:solidFill>
                <a:latin typeface="Arial"/>
              </a:rPr>
              <a:t>First open, auditable, multi-horizon airfare index using UN/ILO-compliant Jevons aggregation with a cryptographic audit trail.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TECHNICAL APPROACH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Four-Tier UN/ILO Architecture with Cryptographic Auditability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154680" cy="553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43000"/>
            <a:ext cx="2898648" cy="5349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1E40AF"/>
                </a:solidFill>
                <a:latin typeface="Arial"/>
              </a:defRPr>
            </a:pPr>
            <a:r>
              <a:t>Technologies Used: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Python 3.13 &amp; FastAPI: </a:t>
            </a:r>
            <a:r>
              <a:rPr sz="1200">
                <a:solidFill>
                  <a:srgbClr val="475569"/>
                </a:solidFill>
                <a:latin typeface="Arial"/>
              </a:rPr>
              <a:t>Engine &amp; low-latency REST API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Playwright Headless: </a:t>
            </a:r>
            <a:r>
              <a:rPr sz="1200">
                <a:solidFill>
                  <a:srgbClr val="475569"/>
                </a:solidFill>
                <a:latin typeface="Arial"/>
              </a:rPr>
              <a:t>Rate-limited compliant collection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TypeScript &amp; React: </a:t>
            </a:r>
            <a:r>
              <a:rPr sz="1200">
                <a:solidFill>
                  <a:srgbClr val="475569"/>
                </a:solidFill>
                <a:latin typeface="Arial"/>
              </a:rPr>
              <a:t>MoSPI executive analytics dashboard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SciPy &amp; NumPy: </a:t>
            </a:r>
            <a:r>
              <a:rPr sz="1200">
                <a:solidFill>
                  <a:srgbClr val="475569"/>
                </a:solidFill>
                <a:latin typeface="Arial"/>
              </a:rPr>
              <a:t>Dynamic IQR anomaly filtering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PostgreSQL Timescale: </a:t>
            </a:r>
            <a:r>
              <a:rPr sz="1200">
                <a:solidFill>
                  <a:srgbClr val="475569"/>
                </a:solidFill>
                <a:latin typeface="Arial"/>
              </a:rPr>
              <a:t>Time-series storage &amp; historical archive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Cryptography (SHA-256): </a:t>
            </a:r>
            <a:r>
              <a:rPr sz="1200">
                <a:solidFill>
                  <a:srgbClr val="475569"/>
                </a:solidFill>
                <a:latin typeface="Arial"/>
              </a:rPr>
              <a:t>Merkle batch verification ledger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1300" b="1">
                <a:solidFill>
                  <a:srgbClr val="B45309"/>
                </a:solidFill>
                <a:latin typeface="Arial"/>
              </a:rPr>
              <a:t>DATA ACCESS &amp; COMPLIANCE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Robots.txt &amp; Terms: </a:t>
            </a:r>
            <a:r>
              <a:rPr sz="1200">
                <a:solidFill>
                  <a:srgbClr val="475569"/>
                </a:solidFill>
                <a:latin typeface="Arial"/>
              </a:rPr>
              <a:t>Respects robots.txt and site terms; conservative request rates.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Transition Roadmap: </a:t>
            </a:r>
            <a:r>
              <a:rPr sz="1200">
                <a:solidFill>
                  <a:srgbClr val="475569"/>
                </a:solidFill>
                <a:latin typeface="Arial"/>
              </a:rPr>
              <a:t>Scraping is the prototype path; long-term path is official airline API / NDC feeds or data-sharing MoUs via MoCA/DGCA.</a:t>
            </a:r>
          </a:p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Verifiable Audit: </a:t>
            </a:r>
            <a:r>
              <a:rPr sz="1200">
                <a:solidFill>
                  <a:srgbClr val="475569"/>
                </a:solidFill>
                <a:latin typeface="Arial"/>
              </a:rPr>
              <a:t>Raw quotes are hashed (SHA-256) and archived for sovereign audit.</a:t>
            </a:r>
          </a:p>
        </p:txBody>
      </p:sp>
      <p:pic>
        <p:nvPicPr>
          <p:cNvPr id="8" name="Picture 7" descr="workflow_top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51560"/>
            <a:ext cx="7845552" cy="144475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840480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5240">
            <a:solidFill>
              <a:srgbClr val="036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0369A1"/>
                </a:solidFill>
                <a:latin typeface="Arial"/>
              </a:defRPr>
            </a:pPr>
            <a:r>
              <a:t>Tier 1: Collection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Rate-limited, robots.txt-aware, ToS-compliant collection (Playwright)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20156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524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15803D"/>
                </a:solidFill>
                <a:latin typeface="Arial"/>
              </a:defRPr>
            </a:pPr>
            <a:r>
              <a:t>Tier 2: Cleansing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Fare unbundling (base fare isolation) and dynamic IQR outlier removal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99832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524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Tier 3: Aggregation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UN/ILO Jevons geometric mean and DGCA volume-weighted aggregation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79508" y="2551176"/>
            <a:ext cx="1906524" cy="960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  <a:defRPr sz="1200" b="1">
                <a:solidFill>
                  <a:srgbClr val="4338CA"/>
                </a:solidFill>
                <a:latin typeface="Arial"/>
              </a:defRPr>
            </a:pPr>
            <a:r>
              <a:t>Tier 4: Dissemination</a:t>
            </a:r>
          </a:p>
          <a:p>
            <a:pPr>
              <a:lnSpc>
                <a:spcPct val="110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SHA-256 tamper-evident Merkle ledger and low-latency REST API (FastAPI)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40480" y="3584448"/>
            <a:ext cx="7845552" cy="2999232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1524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0480" y="3584448"/>
            <a:ext cx="7845552" cy="274320"/>
          </a:xfrm>
          <a:prstGeom prst="roundRect">
            <a:avLst>
              <a:gd name="adj" fmla="val 16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F172A"/>
                </a:solidFill>
                <a:latin typeface="Arial"/>
              </a:defRPr>
            </a:pPr>
            <a:r>
              <a:t>CORE INDEXING METHODOLOGY &amp; SPECIFICATIONS (UN/ILO MANUAL CH. 10)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931920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1. Jevons Geometric Mean (Elementary Index):</a:t>
            </a:r>
          </a:p>
        </p:txBody>
      </p:sp>
      <p:pic>
        <p:nvPicPr>
          <p:cNvPr id="16" name="Picture 15" descr="eq1_perf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4151376"/>
            <a:ext cx="3794760" cy="5584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931920" y="4911043"/>
            <a:ext cx="3977639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Arial"/>
              </a:defRPr>
            </a:pPr>
            <a:r>
              <a:t>2. DGCA Volume Weighted Rollup:</a:t>
            </a:r>
          </a:p>
        </p:txBody>
      </p:sp>
      <p:pic>
        <p:nvPicPr>
          <p:cNvPr id="18" name="Picture 17" descr="eq2_per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5130499"/>
            <a:ext cx="3474720" cy="50702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09559" y="3913632"/>
            <a:ext cx="3758185" cy="2633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Elementary Aggregate: </a:t>
            </a:r>
            <a:r>
              <a:rPr sz="1100">
                <a:solidFill>
                  <a:srgbClr val="475569"/>
                </a:solidFill>
                <a:latin typeface="Arial"/>
              </a:rPr>
              <a:t>Same route + same booking-horizon bucket + same cabin + non-stop.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Axiomatic Rigor: </a:t>
            </a:r>
            <a:r>
              <a:rPr sz="1100">
                <a:solidFill>
                  <a:srgbClr val="475569"/>
                </a:solidFill>
                <a:latin typeface="Arial"/>
              </a:rPr>
              <a:t>Jevons geometric mean per UN/ILO CPI Manual Ch. 10; satisfies the time-reversal test.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Base Period: </a:t>
            </a:r>
            <a:r>
              <a:rPr sz="1100">
                <a:solidFill>
                  <a:srgbClr val="475569"/>
                </a:solidFill>
                <a:latin typeface="Arial"/>
              </a:rPr>
              <a:t>Base period: October 2025 = 100.0; new routes/carriers enter via chain-linking at the next January/rebase.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Harmonized Weights: </a:t>
            </a:r>
            <a:r>
              <a:rPr sz="1100">
                <a:solidFill>
                  <a:srgbClr val="475569"/>
                </a:solidFill>
                <a:latin typeface="Arial"/>
              </a:rPr>
              <a:t>Delhi–Mumbai 18.2% basket / 14.8% DGCA share, Bengaluru–Delhi 13.5% basket / 11.0% DGCA share, cited to DGCA Domestic City-Pair Traffic Report, Dec 2024.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F172A"/>
                </a:solidFill>
                <a:latin typeface="Arial"/>
              </a:rPr>
              <a:t>• Cryptographic Ledger: </a:t>
            </a:r>
            <a:r>
              <a:rPr sz="1100">
                <a:solidFill>
                  <a:srgbClr val="475569"/>
                </a:solidFill>
                <a:latin typeface="Arial"/>
              </a:rPr>
              <a:t>SHA-256 hashing + Merkle batch roots make tampering detectable; Low-latency REST API (FastAPI) &lt; 35 ms response latency.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FEASIBILITY AND VIABILITY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Operationally Feasible, Legally Sound, and Scalable Nationwide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Arial"/>
              </a:defRPr>
            </a:pPr>
            <a:r>
              <a:t>⚙️ ANALYSIS OF FEASIBILITY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TECHNICAL, OPERATIONAL &amp; ECONOMIC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Infrastructure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Leverages standard cloud and public web portals; zero airport hardware installation required.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Operational Scalability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Deployed across 12 core metro routes initially; scalable nationwide to 250+ UDAN regional corridors.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Financial Feasibility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Estimated operating cost: ₹4,500/month (hosting ₹1,200 + storage ₹1,800 + collection ₹1,500).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Arial"/>
              </a:defRPr>
            </a:pPr>
            <a:r>
              <a:t>Authority Integration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Native REST API and JSON feeds integrate directly into MoSPI eSankhyiki, RBI MPC, and DGCA portals.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9392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79392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⚠️ POTENTIAL CHALLENGES &amp; RISKS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SYSTEMIC &amp; EXTRACTION VULNERABILITIES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70832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07408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Portal Layout Drift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Airlines periodically alter front-end markup and CSS classes, risking scraper parser failure.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70832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07408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Rate-Limits &amp; Throttling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High-frequency automated queries risk triggering HTTP 429/503 rate-limits or IP restrictions.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0832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Dynamic Pricing Outliers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Algorithmic yield surges and last-minute booking scalping introduce extreme statistical noise.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07408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Arial"/>
              </a:defRPr>
            </a:pPr>
            <a:r>
              <a:t>Schedule Sparsity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Infrequent or seasonal UDAN regional flight schedules risk creating missing daily quote gaps.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55864" y="1051560"/>
            <a:ext cx="3630168" cy="47548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55864" y="1051560"/>
            <a:ext cx="3630168" cy="512064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🛡️ STRATEGIES FOR OVERCOMING CHALLENGES</a:t>
            </a:r>
          </a:p>
          <a:p>
            <a:pPr algn="ctr">
              <a:defRPr sz="900">
                <a:solidFill>
                  <a:srgbClr val="F1F5F9"/>
                </a:solidFill>
                <a:latin typeface="Arial"/>
              </a:defRPr>
            </a:pPr>
            <a:r>
              <a:t>RISKS &amp; MITIGATION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47304" y="1627632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80" y="1664208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Modular Resilient Parsers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Decoupled JSON network request interceptors with automated DOM selector breakage alerts.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2642616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83880" y="2679192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Compliant Pacing &amp; MoUs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Polite delays (1.5–3.0s), off-peak harvesting (2–4 AM), and roadmap to airline NDC feeds.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7304" y="3657600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83880" y="3694176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Dynamic IQR Anomaly Scrubber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Statistical bounds [Q1 - 1.5·IQR, Q3 + 2.0·IQR] dynamically prune extreme scalping spikes.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47304" y="4672584"/>
            <a:ext cx="3447288" cy="932688"/>
          </a:xfrm>
          <a:prstGeom prst="roundRect">
            <a:avLst>
              <a:gd name="adj" fmla="val 10000"/>
            </a:avLst>
          </a:prstGeom>
          <a:solidFill>
            <a:srgbClr val="F0FDF4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4709160"/>
            <a:ext cx="3374136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16A34A"/>
                </a:solidFill>
                <a:latin typeface="Arial"/>
              </a:defRPr>
            </a:pPr>
            <a:r>
              <a:t>Phased Rollout &amp; Fallback</a:t>
            </a:r>
          </a:p>
          <a:p>
            <a:pPr>
              <a:lnSpc>
                <a:spcPct val="105000"/>
              </a:lnSpc>
              <a:defRPr sz="1100">
                <a:solidFill>
                  <a:srgbClr val="0F172A"/>
                </a:solidFill>
                <a:latin typeface="Arial"/>
              </a:defRPr>
            </a:pPr>
            <a:r>
              <a:t>Phased expansion ordered by DGCA passenger volume share with forward-carry imputation.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97880"/>
            <a:ext cx="11183112" cy="731520"/>
          </a:xfrm>
          <a:prstGeom prst="roundRect">
            <a:avLst>
              <a:gd name="adj" fmla="val 15000"/>
            </a:avLst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00" b="1">
                <a:solidFill>
                  <a:srgbClr val="38BDF8"/>
                </a:solidFill>
                <a:latin typeface="Arial"/>
              </a:rPr>
              <a:t>📍 STRATEGIES FOR OVERCOMING CHALLENGES — IMPLEMENTATION ROADMAP: </a:t>
            </a:r>
          </a:p>
          <a:p>
            <a:pPr algn="ctr"/>
            <a:r>
              <a:rPr sz="1200" b="1">
                <a:solidFill>
                  <a:srgbClr val="F1F5F9"/>
                </a:solidFill>
                <a:latin typeface="Arial"/>
              </a:rPr>
              <a:t>Phase 1: 12 metro routes pilot (Current)  ➔  Phase 2: Top 50 commercial routes expansion  ➔  Phase 3: UDAN regional corridors + official airline API/NDC integration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000000"/>
                </a:solidFill>
                <a:latin typeface="Times New Roman"/>
              </a:defRPr>
            </a:pPr>
            <a:r>
              <a:t>IMPACT AND BENEFITS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Data-Driven Macroeconomic Visibility &amp; Inflation Accuracy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5156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10642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Arial"/>
              </a:defRPr>
            </a:pPr>
            <a:r>
              <a:t>👥 SOCIAL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Public Measurement: </a:t>
            </a:r>
            <a:r>
              <a:rPr sz="1100">
                <a:solidFill>
                  <a:srgbClr val="0F172A"/>
                </a:solidFill>
                <a:latin typeface="Arial"/>
              </a:rPr>
              <a:t>Transparent, public airfare-inflation measurement; eliminates informational asymmetry and hidden surge fares.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Regional Relevance: </a:t>
            </a:r>
            <a:r>
              <a:rPr sz="1100">
                <a:solidFill>
                  <a:srgbClr val="0F172A"/>
                </a:solidFill>
                <a:latin typeface="Arial"/>
              </a:rPr>
              <a:t>UDAN regional traveller relevance; continuous price tracking across tier-2/tier-3 underserved corridors.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4028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29514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6A34A"/>
                </a:solidFill>
                <a:latin typeface="Arial"/>
              </a:defRPr>
            </a:pPr>
            <a:r>
              <a:t>📈 ECONOMIC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Monetary Policy Signals: </a:t>
            </a:r>
            <a:r>
              <a:rPr sz="1100">
                <a:solidFill>
                  <a:srgbClr val="0F172A"/>
                </a:solidFill>
                <a:latin typeface="Arial"/>
              </a:rPr>
              <a:t>Leading transport inflation indicator for RBI Monetary Policy Committee (MPC) rate deliberations.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Eliminates Dutot Bias: </a:t>
            </a:r>
            <a:r>
              <a:rPr sz="1100">
                <a:solidFill>
                  <a:srgbClr val="0F172A"/>
                </a:solidFill>
                <a:latin typeface="Arial"/>
              </a:rPr>
              <a:t>UN/ILO Jevons geometric aggregation eliminates +1.8% upward substitution bias of arithmetic averaging.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42900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348386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D9488"/>
                </a:solidFill>
                <a:latin typeface="Arial"/>
              </a:defRPr>
            </a:pPr>
            <a:r>
              <a:t>🌱 ENVIRONMENTAL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Reduced Field Commutes: </a:t>
            </a:r>
            <a:r>
              <a:rPr sz="1100">
                <a:solidFill>
                  <a:srgbClr val="0F172A"/>
                </a:solidFill>
                <a:latin typeface="Arial"/>
              </a:rPr>
              <a:t>Less physical surveyor travel; eliminates airport field audit trips (qualitative only, zero travel emissions).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Eco Cloud Footprint: </a:t>
            </a:r>
            <a:r>
              <a:rPr sz="1100">
                <a:solidFill>
                  <a:srgbClr val="0F172A"/>
                </a:solidFill>
                <a:latin typeface="Arial"/>
              </a:rPr>
              <a:t>Lightweight headless batch collection scheduled during off-peak power grid hours (2–4 AM).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17720"/>
            <a:ext cx="4846320" cy="1124712"/>
          </a:xfrm>
          <a:prstGeom prst="roundRect">
            <a:avLst>
              <a:gd name="adj" fmla="val 8000"/>
            </a:avLst>
          </a:prstGeom>
          <a:solidFill>
            <a:srgbClr val="FEFCE8"/>
          </a:solidFill>
          <a:ln w="19050"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4672584"/>
            <a:ext cx="4590288" cy="1014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B45309"/>
                </a:solidFill>
                <a:latin typeface="Arial"/>
              </a:defRPr>
            </a:pPr>
            <a:r>
              <a:t>🏛️ POLICY &amp; INSTITUTIONAL BENEFITS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Sovereign NSO Feed: </a:t>
            </a:r>
            <a:r>
              <a:rPr sz="1100">
                <a:solidFill>
                  <a:srgbClr val="0F172A"/>
                </a:solidFill>
                <a:latin typeface="Arial"/>
              </a:rPr>
              <a:t>Direct automated API ingestion into MoSPI eSankhyiki &amp; National Data and Analytics Platform (NDAP).</a:t>
            </a:r>
          </a:p>
          <a:p>
            <a:pPr>
              <a:lnSpc>
                <a:spcPct val="105000"/>
              </a:lnSpc>
              <a:spcAft>
                <a:spcPts val="15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• Regulatory Oversight: </a:t>
            </a:r>
            <a:r>
              <a:rPr sz="1100">
                <a:solidFill>
                  <a:srgbClr val="0F172A"/>
                </a:solidFill>
                <a:latin typeface="Arial"/>
              </a:rPr>
              <a:t>Equips DGCA and MoCA with automated anomaly flags for abnormal surge spikes and predatory fares.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105156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41848" y="107899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1: Airfare Price Index Dashboard (Prototype data: sample)</a:t>
            </a:r>
          </a:p>
        </p:txBody>
      </p:sp>
      <p:pic>
        <p:nvPicPr>
          <p:cNvPr id="16" name="Picture 15" descr="vayusuchak_prototyp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5272" y="1353312"/>
            <a:ext cx="6007608" cy="201168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5532120" y="3520440"/>
            <a:ext cx="6153912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1848" y="3547872"/>
            <a:ext cx="593445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1100" b="1">
                <a:solidFill>
                  <a:srgbClr val="DC2626"/>
                </a:solidFill>
                <a:latin typeface="Arial"/>
              </a:rPr>
              <a:t>PROTOTYPE IMAGE 2: Corridor-Wise Yield &amp; Weight Matrix (Prototype data: sample)</a:t>
            </a:r>
          </a:p>
        </p:txBody>
      </p:sp>
      <p:pic>
        <p:nvPicPr>
          <p:cNvPr id="19" name="Picture 18" descr="vayusuchak_prototype_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272" y="3822191"/>
            <a:ext cx="6007608" cy="2011680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02920" y="5989320"/>
            <a:ext cx="11183112" cy="731520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🚀 Live Interactive Prototype: </a:t>
            </a:r>
            <a:r>
              <a:rPr sz="1300" b="1" u="sng">
                <a:solidFill>
                  <a:srgbClr val="FFFFFF"/>
                </a:solidFill>
                <a:latin typeface="Arial"/>
                <a:hlinkClick r:id="rId6"/>
              </a:rPr>
              <a:t>https://sih26056-airfare-cpi.vercel.app ↗</a:t>
            </a:r>
          </a:p>
          <a:p>
            <a:r>
              <a:rPr sz="1200">
                <a:solidFill>
                  <a:srgbClr val="F0FDF4"/>
                </a:solidFill>
                <a:latin typeface="Arial"/>
              </a:rPr>
              <a:t>   Open API for ministries, regulators and researchers | Scan QR code on right to explore live</a:t>
            </a:r>
          </a:p>
        </p:txBody>
      </p:sp>
      <p:pic>
        <p:nvPicPr>
          <p:cNvPr id="21" name="Picture 20" descr="sih_prototype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60167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164592"/>
            <a:ext cx="169164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00000"/>
                </a:solidFill>
                <a:latin typeface="Arial"/>
              </a:defRPr>
            </a:pPr>
            <a:r>
              <a:t>Roorkies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91440"/>
            <a:ext cx="7635240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2300" b="1">
                <a:solidFill>
                  <a:srgbClr val="1B365D"/>
                </a:solidFill>
                <a:latin typeface="Times New Roman"/>
              </a:defRPr>
            </a:pPr>
            <a:r>
              <a:t>RESEARCH AND REFERENCES</a:t>
            </a:r>
          </a:p>
          <a:p>
            <a:pPr algn="ctr">
              <a:defRPr sz="1200" b="1">
                <a:solidFill>
                  <a:srgbClr val="1E40AF"/>
                </a:solidFill>
                <a:latin typeface="Arial"/>
              </a:defRPr>
            </a:pPr>
            <a:r>
              <a:t>Academic Foundations, Official Data Sources &amp; Open Governance</a:t>
            </a:r>
          </a:p>
        </p:txBody>
      </p:sp>
      <p:pic>
        <p:nvPicPr>
          <p:cNvPr id="5" name="Picture 4" descr="page_1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09728"/>
            <a:ext cx="1691640" cy="777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SUPPORTING RESEARCH PAPERS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Cavallo &amp; Rigobon (2016). 'The Billion Prices Project: Using Online Data for Measurement.' J. Econ. Perspect., 30(2), 151-178.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3"/>
              </a:rPr>
              <a:t>[doi:10.1257/jep.30.2.151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UN, ILO, IMF, OECD, World Bank (2020). CPI Manual: Concepts &amp; Methods, Ch. 10 Elementary Indices.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4"/>
              </a:rPr>
              <a:t>[ilo.org/cpi-manual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Diewert, W. E. (2004). 'Elementary Indices.' In Consumer Price Index Theory, IMF Handbook.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5"/>
              </a:rPr>
              <a:t>[imf.org/cpi-theory ↗]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5352" y="1078992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170432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OFFICIAL DATA SOURCES &amp; BENCHMARKS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DGCA India: Monthly Scheduled Domestic Passenger Traffic &amp; Route Shares.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6"/>
              </a:rPr>
              <a:t>[dgca.gov.in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MoSPI NSO: Consumer Price Index Concepts &amp; Methods Guidelines (Base 2012=100).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7"/>
              </a:rPr>
              <a:t>[mospi.gov.in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Direct Airline Portals: Daily Fare Quotes across IndiGo, Air India, SpiceJet, Akasa.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8"/>
              </a:rPr>
              <a:t>[goindigo.in ↗]</a:t>
            </a:r>
            <a:r>
              <a:rPr sz="1200">
                <a:solidFill>
                  <a:srgbClr val="0F172A"/>
                </a:solidFill>
                <a:latin typeface="Arial"/>
              </a:rPr>
              <a:t> | </a:t>
            </a:r>
            <a:r>
              <a:rPr sz="1200" b="1" u="sng">
                <a:solidFill>
                  <a:srgbClr val="1D4ED8"/>
                </a:solidFill>
                <a:latin typeface="Arial"/>
                <a:hlinkClick r:id="rId9"/>
              </a:rPr>
              <a:t>[airindia.com ↗]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0F172A"/>
                </a:solidFill>
                <a:latin typeface="Arial"/>
              </a:defRPr>
            </a:pPr>
            <a:r>
              <a:t>TECHNICAL SPECIFICATIONS &amp; AUDIT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Index Formulation: UN/ILO Jevons Geometric Mean Specification &amp; DGCA weighting.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0"/>
              </a:rPr>
              <a:t>[ilo.org/manual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Harvester Engine: Playwright Headless with Rate-Limited, Robots.txt-Aware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1"/>
              </a:rPr>
              <a:t>[playwright.dev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Provenance Vault: SHA-256 Hashing + Merkle Batch Roots for Audit Integrity.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Production Deployment: Live Edge Serverless Prototype Dashboard.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3"/>
              </a:rPr>
              <a:t>[sih26056-airfare-cpi.vercel.app ↗]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5352" y="3886200"/>
            <a:ext cx="5440680" cy="269748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3977640"/>
            <a:ext cx="5111496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400"/>
              </a:spcAft>
              <a:defRPr sz="1300" b="1">
                <a:solidFill>
                  <a:srgbClr val="1D4ED8"/>
                </a:solidFill>
                <a:latin typeface="Arial"/>
              </a:defRPr>
            </a:pPr>
            <a:r>
              <a:t>DATA GOVERNANCE &amp; OPEN REPRODUCIBILITY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Open-Source Repository: Fully public reproducible code repository with automated CI/CD.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4"/>
              </a:rPr>
              <a:t>[GitHub Repository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NDSAP Open Data Compliance: Adheres to National Data Sharing and Accessibility Policy.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2"/>
              </a:rPr>
              <a:t>[data.gov.in/ndsap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OpenAPI 3.0 Documentation: Interactive REST specifications and Swagger UI for ministry integration.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5"/>
              </a:rPr>
              <a:t>[API Documentation (/docs) ↗]</a:t>
            </a:r>
          </a:p>
          <a:p>
            <a:pPr>
              <a:lnSpc>
                <a:spcPct val="115000"/>
              </a:lnSpc>
              <a:spcAft>
                <a:spcPts val="350"/>
              </a:spcAft>
            </a:pPr>
            <a:r>
              <a:rPr sz="1200" b="1">
                <a:solidFill>
                  <a:srgbClr val="0F172A"/>
                </a:solidFill>
                <a:latin typeface="Arial"/>
              </a:rPr>
              <a:t>• </a:t>
            </a:r>
            <a:r>
              <a:rPr sz="1200">
                <a:solidFill>
                  <a:srgbClr val="0F172A"/>
                </a:solidFill>
                <a:latin typeface="Arial"/>
              </a:rPr>
              <a:t>Automated Pipeline Verification: Nightly unit tests validate Jevons index math and dynamic IQR bounds. </a:t>
            </a:r>
            <a:r>
              <a:rPr sz="1200" b="1" u="sng">
                <a:solidFill>
                  <a:srgbClr val="1D4ED8"/>
                </a:solidFill>
                <a:latin typeface="Arial"/>
                <a:hlinkClick r:id="rId16"/>
              </a:rPr>
              <a:t>[CI/CD Pipeline ↗]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