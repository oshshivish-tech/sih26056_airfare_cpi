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25880"/>
            <a:ext cx="681228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50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Department – </a:t>
            </a:r>
            <a:r>
              <a:rPr sz="1500" b="1">
                <a:solidFill>
                  <a:srgbClr val="000000"/>
                </a:solidFill>
                <a:latin typeface="Arial"/>
              </a:rPr>
              <a:t>Data Informatics &amp; Innovation Division (DIID)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Category – </a:t>
            </a:r>
            <a:r>
              <a:rPr sz="15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Theme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700" b="1">
                <a:solidFill>
                  <a:srgbClr val="000000"/>
                </a:solidFill>
                <a:latin typeface="Arial"/>
              </a:defRPr>
            </a:pPr>
            <a:r>
              <a:t>Addressing Current MoSPI Limitations with Automated High-Frequency Ingestion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Manual survey delays limit responsiveness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Only 1 quote collected per route/month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Misses yield spikes, peaks, surges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Completely ignores emergency vs. advance booking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14532D"/>
                </a:solidFill>
                <a:latin typeface="Arial"/>
              </a:defRPr>
            </a:pPr>
            <a:r>
              <a:t>HOW WE SOLVE IT: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1. Automated Real-Time Extraction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Automated high-frequency scraping across 4 major airlines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2. Comprehensive Lead Times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Samples 5 forward horizons T+1..T+45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3. Geometric Mean Calculation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UN/ILO Jevons Elementary Mean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4. Audit &amp; Provenance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SHA-256 Provenance hashes for MoSPI audit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1E3A8A"/>
                </a:solidFill>
                <a:latin typeface="Arial"/>
              </a:defRPr>
            </a:pPr>
            <a:r>
              <a:t>WHY IT IS DIFFERENT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1. Fully Automated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Zero-latency digital pipeline eliminates all lag.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2. Comprehensive Capture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Whole-market view (all lead times and OTAs)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UN/ILO formula with a hash-based audit trail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188720"/>
            <a:ext cx="2544775" cy="4717914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280160"/>
            <a:ext cx="2325319" cy="45350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000" b="1">
                <a:solidFill>
                  <a:srgbClr val="DC2626"/>
                </a:solidFill>
                <a:latin typeface="Arial"/>
              </a:rPr>
              <a:t>Languages &amp; Runtimes: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Python 3.13 (Async Harvester &amp; Engine)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TypeScript &amp; React 19 (Dashboard UI)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SQL (PostgreSQL Time-Series &amp; SQLite)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000" b="1">
                <a:solidFill>
                  <a:srgbClr val="1E40AF"/>
                </a:solidFill>
                <a:latin typeface="Arial"/>
              </a:rPr>
              <a:t>Extraction &amp; Cleansing: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Playwright Headless Stealth Proxy Pool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T+1..T+45 Advance Horizons Dynamic Tracking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SciPy &amp; NumPy Dynamic IQR Outlier Filter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Index Engine &amp; Crypto: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UN/ILO Jevons Index Formula (GMI)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DGCA Official Route Volume Weighting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SHA-256 Batch Merkle Audit Ledger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API, Cloud &amp; Standards: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FastAPI &amp; Uvicorn Sub-10ms REST APIs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Vercel Edge &amp; GitHub Actions Daily Cron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Arial"/>
              </a:rPr>
              <a:t>• </a:t>
            </a:r>
            <a:r>
              <a:rPr sz="819">
                <a:solidFill>
                  <a:srgbClr val="0F172A"/>
                </a:solidFill>
                <a:latin typeface="Arial"/>
              </a:rPr>
              <a:t>NDSAP Open Data &amp; UN/ILO Ch. 10 Ready</a:t>
            </a:r>
          </a:p>
        </p:txBody>
      </p:sp>
      <p:pic>
        <p:nvPicPr>
          <p:cNvPr id="8" name="Picture 7" descr="full_workflow_notes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295" y="1188720"/>
            <a:ext cx="8412480" cy="47179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