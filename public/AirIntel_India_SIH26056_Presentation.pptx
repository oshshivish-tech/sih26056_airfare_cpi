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Relationship Id="rId14" Type="http://schemas.openxmlformats.org/officeDocument/2006/relationships/hyperlink" Target="https://github.com/oshshivish-tech/sih26056_airfare_cpi" TargetMode="External"/><Relationship Id="rId15" Type="http://schemas.openxmlformats.org/officeDocument/2006/relationships/hyperlink" Target="https://sih26056-airfare-cpi.vercel.app/docs" TargetMode="External"/><Relationship Id="rId16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spcBef>
                <a:spcPts val="400"/>
              </a:spcBef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194560"/>
            <a:ext cx="6903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45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45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(CPI).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4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4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4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Name (Registered on portal)- </a:t>
            </a:r>
            <a:r>
              <a:rPr sz="14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5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4532D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eliminates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Direct REST API integration into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43000"/>
            <a:ext cx="2898648" cy="5349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200">
                <a:solidFill>
                  <a:srgbClr val="475569"/>
                </a:solidFill>
                <a:latin typeface="Arial"/>
              </a:rPr>
              <a:t>Engine &amp; low-latency REST API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200">
                <a:solidFill>
                  <a:srgbClr val="475569"/>
                </a:solidFill>
                <a:latin typeface="Arial"/>
              </a:rPr>
              <a:t>Rate-limited compliant collection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200">
                <a:solidFill>
                  <a:srgbClr val="475569"/>
                </a:solidFill>
                <a:latin typeface="Arial"/>
              </a:rPr>
              <a:t>MoSPI executive analytics dashboard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2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PostgreSQL Timescale: </a:t>
            </a:r>
            <a:r>
              <a:rPr sz="1200">
                <a:solidFill>
                  <a:srgbClr val="475569"/>
                </a:solidFill>
                <a:latin typeface="Arial"/>
              </a:rPr>
              <a:t>Time-series storage &amp; historical archive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200">
                <a:solidFill>
                  <a:srgbClr val="475569"/>
                </a:solidFill>
                <a:latin typeface="Arial"/>
              </a:rPr>
              <a:t>Merkle batch verification ledger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Arial"/>
              </a:rPr>
              <a:t>DATA ACCESS &amp; COMPLIANCE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Robots.txt &amp; Terms: </a:t>
            </a:r>
            <a:r>
              <a:rPr sz="1200">
                <a:solidFill>
                  <a:srgbClr val="475569"/>
                </a:solidFill>
                <a:latin typeface="Arial"/>
              </a:rPr>
              <a:t>Respects robots.txt and site terms; conservative request rates.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Transition Roadmap: </a:t>
            </a:r>
            <a:r>
              <a:rPr sz="1200">
                <a:solidFill>
                  <a:srgbClr val="475569"/>
                </a:solidFill>
                <a:latin typeface="Arial"/>
              </a:rPr>
              <a:t>Scraping is the prototype path; long-term path is official airline API / NDC feeds or data-sharing MoUs via MoCA/DGCA.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Verifiable Audit: </a:t>
            </a:r>
            <a:r>
              <a:rPr sz="1200">
                <a:solidFill>
                  <a:srgbClr val="475569"/>
                </a:solidFill>
                <a:latin typeface="Arial"/>
              </a:rPr>
              <a:t>Raw quotes are hashed (SHA-256) and archived for sovereign audit.</a:t>
            </a:r>
          </a:p>
        </p:txBody>
      </p:sp>
      <p:pic>
        <p:nvPicPr>
          <p:cNvPr id="8" name="Picture 7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16" name="Picture 15" descr="eq1_per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18" name="Picture 17" descr="eq2_per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&lt; 35 ms response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⚙️ ANALYSIS OF FEASIBILITY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⚠️ POTENTIAL CHALLENGES &amp; RISKS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Algorithmic yield surges and last-minute booking scalping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🛡️ STRATEGIES FOR OVERCOMING CHALLENGES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scalping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38BDF8"/>
                </a:solidFill>
                <a:latin typeface="Arial"/>
              </a:rPr>
              <a:t>📍 STRATEGIES FOR OVERCOMING CHALLENGES — IMPLEMENTATION ROADMAP: </a:t>
            </a:r>
          </a:p>
          <a:p>
            <a:pPr algn="ctr"/>
            <a:r>
              <a:rPr sz="12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0642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Arial"/>
              </a:defRPr>
            </a:pPr>
            <a:r>
              <a:t>👥 SOCIAL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Public Measurement: </a:t>
            </a:r>
            <a:r>
              <a:rPr sz="1100">
                <a:solidFill>
                  <a:srgbClr val="0F172A"/>
                </a:solidFill>
                <a:latin typeface="Arial"/>
              </a:rPr>
              <a:t>Transparent, public airfare-inflation measurement; eliminates informational asymmetry and hidden surge fares.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Regional Relevance: </a:t>
            </a:r>
            <a:r>
              <a:rPr sz="1100">
                <a:solidFill>
                  <a:srgbClr val="0F172A"/>
                </a:solidFill>
                <a:latin typeface="Arial"/>
              </a:rPr>
              <a:t>UDAN regional traveller relevance; continuous price tracking across tier-2/tier-3 underserved corridors.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4028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29514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6A34A"/>
                </a:solidFill>
                <a:latin typeface="Arial"/>
              </a:defRPr>
            </a:pPr>
            <a:r>
              <a:t>📈 ECONOMIC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Monetary Policy Signals: </a:t>
            </a:r>
            <a:r>
              <a:rPr sz="1100">
                <a:solidFill>
                  <a:srgbClr val="0F172A"/>
                </a:solidFill>
                <a:latin typeface="Arial"/>
              </a:rPr>
              <a:t>Leading transport inflation indicator for RBI Monetary Policy Committee (MPC) rate deliberations.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Eliminates Dutot Bias: </a:t>
            </a:r>
            <a:r>
              <a:rPr sz="1100">
                <a:solidFill>
                  <a:srgbClr val="0F172A"/>
                </a:solidFill>
                <a:latin typeface="Arial"/>
              </a:rPr>
              <a:t>UN/ILO Jevons geometric aggregation eliminates +1.8% upward substitution bias of arithmetic averaging.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348386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D9488"/>
                </a:solidFill>
                <a:latin typeface="Arial"/>
              </a:defRPr>
            </a:pPr>
            <a:r>
              <a:t>🌱 ENVIRONMENTAL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Reduced Field Commutes: </a:t>
            </a:r>
            <a:r>
              <a:rPr sz="1100">
                <a:solidFill>
                  <a:srgbClr val="0F172A"/>
                </a:solidFill>
                <a:latin typeface="Arial"/>
              </a:rPr>
              <a:t>Less physical surveyor travel; eliminates airport field audit trips (qualitative only, zero travel emissions).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Eco Cloud Footprint: </a:t>
            </a:r>
            <a:r>
              <a:rPr sz="1100">
                <a:solidFill>
                  <a:srgbClr val="0F172A"/>
                </a:solidFill>
                <a:latin typeface="Arial"/>
              </a:rPr>
              <a:t>Lightweight headless batch collection scheduled during off-peak power grid hours (2–4 AM).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1772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467258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🏛️ POLICY &amp; INSTITUTIONAL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Sovereign NSO Feed: </a:t>
            </a:r>
            <a:r>
              <a:rPr sz="1100">
                <a:solidFill>
                  <a:srgbClr val="0F172A"/>
                </a:solidFill>
                <a:latin typeface="Arial"/>
              </a:rPr>
              <a:t>Direct automated API ingestion into MoSPI eSankhyiki &amp; National Data and Analytics Platform (NDAP).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Regulatory Oversight: </a:t>
            </a:r>
            <a:r>
              <a:rPr sz="1100">
                <a:solidFill>
                  <a:srgbClr val="0F172A"/>
                </a:solidFill>
                <a:latin typeface="Arial"/>
              </a:rPr>
              <a:t>Equips DGCA and MoCA with automated anomaly flags for abnormal surge spikes and predatory fares.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105156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107899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1: Airfare Price Index Dashboard (Prototype data: sample)</a:t>
            </a:r>
          </a:p>
        </p:txBody>
      </p:sp>
      <p:pic>
        <p:nvPicPr>
          <p:cNvPr id="16" name="Picture 15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1353312"/>
            <a:ext cx="6007608" cy="20116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532120" y="352044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1848" y="354787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2: Corridor-Wise Yield &amp; Weight Matrix (Prototype data: sample)</a:t>
            </a:r>
          </a:p>
        </p:txBody>
      </p:sp>
      <p:pic>
        <p:nvPicPr>
          <p:cNvPr id="19" name="Picture 18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3822191"/>
            <a:ext cx="6007608" cy="20116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02920" y="5989320"/>
            <a:ext cx="11183112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🚀 Live Interactive Prototype: </a:t>
            </a:r>
            <a:r>
              <a:rPr sz="1300" b="1" u="sng">
                <a:solidFill>
                  <a:srgbClr val="FFFFFF"/>
                </a:solidFill>
                <a:latin typeface="Arial"/>
                <a:hlinkClick r:id="rId6"/>
              </a:rPr>
              <a:t>https://sih26056-airfare-cpi.vercel.app ↗</a:t>
            </a:r>
          </a:p>
          <a:p>
            <a:r>
              <a:rPr sz="1200">
                <a:solidFill>
                  <a:srgbClr val="F0FDF4"/>
                </a:solidFill>
                <a:latin typeface="Arial"/>
              </a:rPr>
              <a:t>   Open API for ministries, regulators and researchers | Scan QR code on right to explore live</a:t>
            </a:r>
          </a:p>
        </p:txBody>
      </p:sp>
      <p:pic>
        <p:nvPicPr>
          <p:cNvPr id="21" name="Picture 20" descr="sih_prototyp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60167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NDSAP Open Data Compliance: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OpenAPI 3.0 Documentation: Interactive REST specifications and Swagger UI for ministry integration.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5"/>
              </a:rPr>
              <a:t>[API Documentation (/docs)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Nightly unit tests validate Jevons index math and dynamic IQR bounds.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6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