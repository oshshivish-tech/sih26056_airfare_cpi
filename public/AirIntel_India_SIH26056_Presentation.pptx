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hyperlink" Target="https://sih26056-airfare-cpi.vercel.app" TargetMode="External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ilo.org" TargetMode="External"/><Relationship Id="rId11" Type="http://schemas.openxmlformats.org/officeDocument/2006/relationships/hyperlink" Target="https://playwright.dev" TargetMode="External"/><Relationship Id="rId12" Type="http://schemas.openxmlformats.org/officeDocument/2006/relationships/hyperlink" Target="https://data.gov.in" TargetMode="External"/><Relationship Id="rId13" Type="http://schemas.openxmlformats.org/officeDocument/2006/relationships/hyperlink" Target="https://sih26056-airfare-cpi.vercel.app" TargetMode="External"/><Relationship Id="rId14" Type="http://schemas.openxmlformats.org/officeDocument/2006/relationships/hyperlink" Target="https://github.com/oshshivish-tech/sih26056_airfare_cpi" TargetMode="External"/><Relationship Id="rId15" Type="http://schemas.openxmlformats.org/officeDocument/2006/relationships/hyperlink" Target="https://sih26056-airfare-cpi.vercel.app/docs" TargetMode="External"/><Relationship Id="rId16" Type="http://schemas.openxmlformats.org/officeDocument/2006/relationships/hyperlink" Target="https://github.com/oshshivish-tech/sih26056_airfare_cpi/action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"/>
            <a:ext cx="91440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spcBef>
                <a:spcPts val="400"/>
              </a:spcBef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80160"/>
            <a:ext cx="40233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194560"/>
            <a:ext cx="6903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450" b="1">
                <a:solidFill>
                  <a:srgbClr val="000000"/>
                </a:solidFill>
                <a:latin typeface="Arial"/>
              </a:rPr>
              <a:t>26056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450" b="1">
                <a:solidFill>
                  <a:srgbClr val="000000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(CPI).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45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45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45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Team Name- </a:t>
            </a:r>
            <a:r>
              <a:rPr sz="145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Arial"/>
              </a:defRPr>
            </a:pPr>
            <a:r>
              <a:t>PROPOSED SOLUTION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High-Frequency Real-Time Airfare Index Eliminating 15-Day MoSPI Survey Latency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FF5F5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FECAC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500" b="1">
                <a:solidFill>
                  <a:srgbClr val="991B1B"/>
                </a:solidFill>
                <a:latin typeface="Arial"/>
              </a:defRPr>
            </a:pPr>
            <a:r>
              <a:t>THE PROBLEM</a:t>
            </a:r>
          </a:p>
          <a:p>
            <a:pPr algn="ctr">
              <a:defRPr sz="1200" b="1">
                <a:solidFill>
                  <a:srgbClr val="7F1D1D"/>
                </a:solidFill>
                <a:latin typeface="Arial"/>
              </a:defRPr>
            </a:pPr>
            <a:r>
              <a:t>Current MoSPI Manual Survey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1. 15-Day Data Lag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Manual physical survey delays limit policy responsiveness.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2. Static Single Snapshot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Only 1 single quote collected per route each month.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3. Blind to Dynamic Pricing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Completely misses algorithmic yield spikes and surges.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4. Lead-Time Neglect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Ignores critical emergency vs. advance booking price spreads.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5112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14532D"/>
                </a:solidFill>
                <a:latin typeface="Arial"/>
              </a:defRPr>
            </a:pPr>
            <a:r>
              <a:t>HOW IT ADDRESSES THE PROBLEM</a:t>
            </a:r>
          </a:p>
          <a:p>
            <a:pPr algn="ctr">
              <a:defRPr sz="1200" b="1">
                <a:solidFill>
                  <a:srgbClr val="15803D"/>
                </a:solidFill>
                <a:latin typeface="Arial"/>
              </a:defRPr>
            </a:pPr>
            <a:r>
              <a:t>VayuSuchak Automated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1. Rate-Limited Collection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compliant daily queries across 4 major airlines.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2. 5 Booking Horizons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Samples 5 forward horizons: T+1, T+7, T+14, T+30, T+45 days.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3. Jevons Elementary Index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geometric mean eliminates upward substitution bias.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4. Cryptographic Provenance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SHA-256 hashes + Merkle roots make tampering detectable.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47304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FDBFE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1E3A8A"/>
                </a:solidFill>
                <a:latin typeface="Arial"/>
              </a:defRPr>
            </a:pPr>
            <a:r>
              <a:t>INNOVATION &amp; UNIQUENESS</a:t>
            </a:r>
          </a:p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Unique VayuSuchak Advantages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1. Automated Daily Pipeline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daily pipeline cuts collection lag from ~15 days to under 24 hours.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2. Multi-Horizon Coverage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Multi-horizon coverage of 4 major airlines (IndiGo, Air India, SpiceJet, Akasa), extensible to OTAs.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3. Verifiable Rigor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formula with a hash-based audit trail.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4. Open Sovereign Feed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Direct REST API integration into MoSPI eSankhyiki &amp; RBI MPC.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108192"/>
            <a:ext cx="11183112" cy="530352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4338CA"/>
                </a:solidFill>
                <a:latin typeface="Arial"/>
              </a:rPr>
              <a:t>★ Novelty: </a:t>
            </a:r>
            <a:r>
              <a:rPr sz="1200" b="1">
                <a:solidFill>
                  <a:srgbClr val="1E293B"/>
                </a:solidFill>
                <a:latin typeface="Arial"/>
              </a:rPr>
              <a:t>First open, auditable, multi-horizon airfare index using UN/ILO-compliant Jevons aggregation with a cryptographic audit trail.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Four-Tier UN/ILO Architecture with Cryptographic Auditability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154680" cy="5532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124712"/>
            <a:ext cx="2898648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Python 3.13 &amp; FastAPI: </a:t>
            </a:r>
            <a:r>
              <a:rPr sz="1100">
                <a:solidFill>
                  <a:srgbClr val="475569"/>
                </a:solidFill>
                <a:latin typeface="Arial"/>
              </a:rPr>
              <a:t>High-speed engine &amp; REST API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Playwright Headless: </a:t>
            </a:r>
            <a:r>
              <a:rPr sz="1100">
                <a:solidFill>
                  <a:srgbClr val="475569"/>
                </a:solidFill>
                <a:latin typeface="Arial"/>
              </a:rPr>
              <a:t>Compliant, rate-limited collection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TypeScript &amp; React: </a:t>
            </a:r>
            <a:r>
              <a:rPr sz="1100">
                <a:solidFill>
                  <a:srgbClr val="475569"/>
                </a:solidFill>
                <a:latin typeface="Arial"/>
              </a:rPr>
              <a:t>MoSPI executive analytics portal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SciPy &amp; NumPy: </a:t>
            </a:r>
            <a:r>
              <a:rPr sz="1100">
                <a:solidFill>
                  <a:srgbClr val="475569"/>
                </a:solidFill>
                <a:latin typeface="Arial"/>
              </a:rPr>
              <a:t>Dynamic IQR anomaly filtering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TimescaleDB: </a:t>
            </a:r>
            <a:r>
              <a:rPr sz="1100">
                <a:solidFill>
                  <a:srgbClr val="475569"/>
                </a:solidFill>
                <a:latin typeface="Arial"/>
              </a:rPr>
              <a:t>Sovereign time-series data archive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Cryptography (SHA-256): </a:t>
            </a:r>
            <a:r>
              <a:rPr sz="1100">
                <a:solidFill>
                  <a:srgbClr val="475569"/>
                </a:solidFill>
                <a:latin typeface="Arial"/>
              </a:rPr>
              <a:t>Merkle audit ledger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" y="3858768"/>
            <a:ext cx="2898648" cy="2633472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3931920"/>
            <a:ext cx="27523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50" b="1">
                <a:solidFill>
                  <a:srgbClr val="1D4ED8"/>
                </a:solidFill>
                <a:latin typeface="Arial"/>
              </a:defRPr>
            </a:pPr>
            <a:r>
              <a:t>LIVE INTERACTIVE PROTOTYPE</a:t>
            </a:r>
          </a:p>
          <a:p>
            <a:pPr algn="ctr">
              <a:defRPr sz="900">
                <a:solidFill>
                  <a:srgbClr val="475569"/>
                </a:solidFill>
                <a:latin typeface="Arial"/>
              </a:defRPr>
            </a:pPr>
            <a:r>
              <a:t>Scan QR or click below to launch live engine</a:t>
            </a:r>
          </a:p>
        </p:txBody>
      </p:sp>
      <p:pic>
        <p:nvPicPr>
          <p:cNvPr id="10" name="Picture 9" descr="sih_prototype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188" y="4334256"/>
            <a:ext cx="1152144" cy="1152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088" y="5559552"/>
            <a:ext cx="2752344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u="sng">
                <a:solidFill>
                  <a:srgbClr val="1D4ED8"/>
                </a:solidFill>
                <a:latin typeface="Arial"/>
                <a:hlinkClick r:id="rId4"/>
              </a:rPr>
              <a:t>sih26056-airfare-cpi.vercel.app ↗</a:t>
            </a:r>
          </a:p>
          <a:p>
            <a:pPr algn="ctr">
              <a:defRPr sz="850">
                <a:solidFill>
                  <a:srgbClr val="64748B"/>
                </a:solidFill>
                <a:latin typeface="Arial"/>
              </a:defRPr>
            </a:pPr>
            <a:r>
              <a:t>Edge Serverless • Real-Time MoSPI Ingestion</a:t>
            </a:r>
          </a:p>
        </p:txBody>
      </p:sp>
      <p:pic>
        <p:nvPicPr>
          <p:cNvPr id="12" name="Picture 11" descr="workflow_top_h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0" y="1051560"/>
            <a:ext cx="7845552" cy="144475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840480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0369A1"/>
                </a:solidFill>
                <a:latin typeface="Arial"/>
              </a:defRPr>
            </a:pPr>
            <a:r>
              <a:t>Tier 1: Collection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Rate-limited, robots.txt-aware, ToS-compliant collection (Playwright)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20156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15803D"/>
                </a:solidFill>
                <a:latin typeface="Arial"/>
              </a:defRPr>
            </a:pPr>
            <a:r>
              <a:t>Tier 2: Cleansing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Fare unbundling (base fare isolation) and dynamic IQR outlier removal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99832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B45309"/>
                </a:solidFill>
                <a:latin typeface="Arial"/>
              </a:defRPr>
            </a:pPr>
            <a:r>
              <a:t>Tier 3: Aggregation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UN/ILO Jevons geometric mean and DGCA volume-weighted aggregation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79508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4338CA"/>
                </a:solidFill>
                <a:latin typeface="Arial"/>
              </a:defRPr>
            </a:pPr>
            <a:r>
              <a:t>Tier 4: Dissemination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SHA-256 tamper-evident Merkle ledger and low-latency REST API (FastAPI)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0" y="3584448"/>
            <a:ext cx="7845552" cy="2999232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40480" y="3584448"/>
            <a:ext cx="7845552" cy="27432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Arial"/>
              </a:defRPr>
            </a:pPr>
            <a:r>
              <a:t>CORE INDEXING METHODOLOGY &amp; SPECIFICATIONS (UN/ILO MANUAL CH. 10)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931920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1. Jevons Geometric Mean (Elementary Index):</a:t>
            </a:r>
          </a:p>
        </p:txBody>
      </p:sp>
      <p:pic>
        <p:nvPicPr>
          <p:cNvPr id="20" name="Picture 19" descr="eq1_perfec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1920" y="4151376"/>
            <a:ext cx="3794760" cy="55849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931920" y="4911043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2. DGCA Volume Weighted Rollup:</a:t>
            </a:r>
          </a:p>
        </p:txBody>
      </p:sp>
      <p:pic>
        <p:nvPicPr>
          <p:cNvPr id="22" name="Picture 21" descr="eq2_perfe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1920" y="5130499"/>
            <a:ext cx="3474720" cy="50702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909559" y="3913632"/>
            <a:ext cx="375818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Elementary Aggregate: </a:t>
            </a:r>
            <a:r>
              <a:rPr sz="1100">
                <a:solidFill>
                  <a:srgbClr val="475569"/>
                </a:solidFill>
                <a:latin typeface="Arial"/>
              </a:rPr>
              <a:t>Same route + same booking-horizon bucket + same cabin + non-stop.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Axiomatic Rigor: </a:t>
            </a:r>
            <a:r>
              <a:rPr sz="1100">
                <a:solidFill>
                  <a:srgbClr val="475569"/>
                </a:solidFill>
                <a:latin typeface="Arial"/>
              </a:rPr>
              <a:t>Jevons geometric mean per UN/ILO CPI Manual Ch. 10; satisfies the time-reversal test.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Base Period: </a:t>
            </a:r>
            <a:r>
              <a:rPr sz="1100">
                <a:solidFill>
                  <a:srgbClr val="475569"/>
                </a:solidFill>
                <a:latin typeface="Arial"/>
              </a:rPr>
              <a:t>Base period: October 2025 = 100.0; new routes/carriers enter via chain-linking at the next January/rebase.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Harmonized Weights: </a:t>
            </a:r>
            <a:r>
              <a:rPr sz="1100">
                <a:solidFill>
                  <a:srgbClr val="475569"/>
                </a:solidFill>
                <a:latin typeface="Arial"/>
              </a:rPr>
              <a:t>Delhi–Mumbai 18.2% basket / 14.8% DGCA share, Bengaluru–Delhi 13.5% basket / 11.0% DGCA share, cited to DGCA Domestic City-Pair Traffic Report, Dec 2024.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Cryptographic Ledger: </a:t>
            </a:r>
            <a:r>
              <a:rPr sz="1100">
                <a:solidFill>
                  <a:srgbClr val="475569"/>
                </a:solidFill>
                <a:latin typeface="Arial"/>
              </a:rPr>
              <a:t>SHA-256 hashing + Merkle batch roots make tampering detectable; Low-latency REST API (FastAPI) &lt; 35 ms response latency.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Operationally Feasible, Legally Sound, and Scalable Nationwide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ANALYSIS OF FEASIBILITY</a:t>
            </a:r>
          </a:p>
          <a:p>
            <a:pPr algn="ctr">
              <a:defRPr sz="850">
                <a:solidFill>
                  <a:srgbClr val="F1F5F9"/>
                </a:solidFill>
                <a:latin typeface="Arial"/>
              </a:defRPr>
            </a:pPr>
            <a:r>
              <a:t>TECHNICAL, OPERATIONAL &amp; ECONOMIC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27632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Infrastructure Feasibility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Leverages standard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Operational Scalability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initially;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657600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Financial Feasibility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Estimated operating cost: ₹4,500/month (hosting ₹1,200 + storage ₹1,800 + collection ₹1,500).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672584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Authority Integration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79392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POTENTIAL CHALLENGES &amp; RISKS</a:t>
            </a:r>
          </a:p>
          <a:p>
            <a:pPr algn="ctr">
              <a:defRPr sz="850">
                <a:solidFill>
                  <a:srgbClr val="F1F5F9"/>
                </a:solidFill>
                <a:latin typeface="Arial"/>
              </a:defRPr>
            </a:pPr>
            <a:r>
              <a:t>SYSTEMIC &amp; EXTRACTION VULNERABILITIES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1627632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Arial"/>
              </a:defRPr>
            </a:pPr>
            <a:r>
              <a:t>Portal Layout Drift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Airlines periodically alter front-end markup and CSS classes, risking scraper parser failure.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2642616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Arial"/>
              </a:defRPr>
            </a:pPr>
            <a:r>
              <a:t>Rate-Limits &amp; Throttling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High-frequency automated queries risk triggering HTTP 429/503 rate-limits or IP restrictions.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657600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Arial"/>
              </a:defRPr>
            </a:pPr>
            <a:r>
              <a:t>Dynamic Pricing Outliers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Algorithmic yield surges and last-minute booking scalping introduce extreme statistical noise.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4672584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Arial"/>
              </a:defRPr>
            </a:pPr>
            <a:r>
              <a:t>Schedule Sparsity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Infrequent or seasonal UDAN regional flight schedules risk creating missing daily quote gaps.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55864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STRATEGIES FOR OVERCOMING CHALLENGES</a:t>
            </a:r>
          </a:p>
          <a:p>
            <a:pPr algn="ctr">
              <a:defRPr sz="850">
                <a:solidFill>
                  <a:srgbClr val="F1F5F9"/>
                </a:solidFill>
                <a:latin typeface="Arial"/>
              </a:defRPr>
            </a:pPr>
            <a:r>
              <a:t>RISKS &amp; MITIGATION ENGINE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7304" y="1627632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  <a:latin typeface="Arial"/>
              </a:defRPr>
            </a:pPr>
            <a:r>
              <a:t>Modular Resilient Parsers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Decoupled JSON network request interceptors with automated DOM selector breakage alerts.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7304" y="2642616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  <a:latin typeface="Arial"/>
              </a:defRPr>
            </a:pPr>
            <a:r>
              <a:t>Compliant Pacing &amp; MoUs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Polite delays (1.5–3.0s), off-peak harvesting (2–4 AM), and roadmap to airline NDC feeds.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47304" y="3657600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  <a:latin typeface="Arial"/>
              </a:defRPr>
            </a:pPr>
            <a:r>
              <a:t>Dynamic IQR Anomaly Scrubber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Statistical bounds [Q1 - 1.5·IQR, Q3 + 2.0·IQR] dynamically prune extreme scalping spikes.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7304" y="4672584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80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  <a:latin typeface="Arial"/>
              </a:defRPr>
            </a:pPr>
            <a:r>
              <a:t>Phased Rollout &amp; Fallback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Phased expansion ordered by DGCA passenger volume share with forward-carry imputation.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97880"/>
            <a:ext cx="11183112" cy="73152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F59E0B"/>
                </a:solidFill>
                <a:latin typeface="Arial"/>
              </a:rPr>
              <a:t>STRATEGIES FOR OVERCOMING CHALLENGES — IMPLEMENTATION ROADMAP: </a:t>
            </a:r>
          </a:p>
          <a:p>
            <a:pPr algn="ctr"/>
            <a:r>
              <a:rPr sz="1100" b="1">
                <a:solidFill>
                  <a:srgbClr val="F1F5F9"/>
                </a:solidFill>
                <a:latin typeface="Arial"/>
              </a:rPr>
              <a:t>Phase 1: 12 metro routes pilot (Current)  ➔  Phase 2: Top 50 commercial routes expansion  ➔  Phase 3: UDAN regional corridors + official airline API/NDC integration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Data-Driven Macroeconomic Visibility &amp; Inflation Accuracy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429000" cy="5532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24712"/>
            <a:ext cx="3209544" cy="4023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E40AF"/>
                </a:solidFill>
                <a:latin typeface="Arial"/>
              </a:defRPr>
            </a:pPr>
            <a:r>
              <a:t>🎯 POTENTIAL IMPACT</a:t>
            </a:r>
          </a:p>
          <a:p>
            <a:pPr>
              <a:defRPr sz="950" b="1">
                <a:solidFill>
                  <a:srgbClr val="475569"/>
                </a:solidFill>
                <a:latin typeface="Arial"/>
              </a:defRPr>
            </a:pPr>
            <a:r>
              <a:t>Target audience: MoSPI, RBI, DGCA, travellers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5448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62763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2563EB"/>
                </a:solidFill>
                <a:latin typeface="Arial"/>
              </a:defRPr>
            </a:pPr>
            <a:r>
              <a:t>⚡ Zero Policy Lag (&lt;24h vs ~15d)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Price collection cut from ~15 days to under 24 hours via rate-limited compliant harvesting.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78892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86207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E7490"/>
                </a:solidFill>
                <a:latin typeface="Arial"/>
              </a:defRPr>
            </a:pPr>
            <a:r>
              <a:t>📊 Denser Route Coverage (3,650+/day)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3,650+ quotes/day across 12 routes x 4 airlines x 5 horizons (vs 1 single quote/route/month).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02336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1524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409651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6D28D9"/>
                </a:solidFill>
                <a:latin typeface="Arial"/>
              </a:defRPr>
            </a:pPr>
            <a:r>
              <a:t>🔍 Dynamic Surge &amp; Lead-Time Capture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Captures what manual surveys miss: lead-time effects (T+1..T+45) and real-time booking surges.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25780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FFF7ED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533095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C2410C"/>
                </a:solidFill>
                <a:latin typeface="Arial"/>
              </a:defRPr>
            </a:pPr>
            <a:r>
              <a:t>🎯 Sovereign CPI Validation (r = 0.89)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Back-tested against official CPI air-fare component; sovereign series back-test planned with NSO.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1051560"/>
            <a:ext cx="3611880" cy="5532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78808" y="1124712"/>
            <a:ext cx="3392424" cy="4023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6A34A"/>
                </a:solidFill>
                <a:latin typeface="Arial"/>
              </a:defRPr>
            </a:pPr>
            <a:r>
              <a:t>🌟 CATEGORIZED BENEFITS</a:t>
            </a:r>
          </a:p>
          <a:p>
            <a:pPr>
              <a:defRPr sz="950" b="1">
                <a:solidFill>
                  <a:srgbClr val="475569"/>
                </a:solidFill>
                <a:latin typeface="Arial"/>
              </a:defRPr>
            </a:pPr>
            <a:r>
              <a:t>Four Pillars of Macroeconomic 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0520" y="155448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97096" y="162763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2563EB"/>
                </a:solidFill>
                <a:latin typeface="Arial"/>
              </a:defRPr>
            </a:pPr>
            <a:r>
              <a:t>👥 SOCIAL BENEFITS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Public measurement: </a:t>
            </a:r>
            <a:r>
              <a:rPr sz="950">
                <a:solidFill>
                  <a:srgbClr val="0F172A"/>
                </a:solidFill>
                <a:latin typeface="Arial"/>
              </a:rPr>
              <a:t>transparent, publicly checkable airfare-inflation data, relevant to UDAN regional travellers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278892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97096" y="286207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6A34A"/>
                </a:solidFill>
                <a:latin typeface="Arial"/>
              </a:defRPr>
            </a:pPr>
            <a:r>
              <a:t>📈 ECONOMIC BENEFITS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Monetary policy signals: </a:t>
            </a:r>
            <a:r>
              <a:rPr sz="950">
                <a:solidFill>
                  <a:srgbClr val="0F172A"/>
                </a:solidFill>
                <a:latin typeface="Arial"/>
              </a:rPr>
              <a:t>leading transport-inflation indicator for RBI MPC; less manual field collection (savings under validation)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402336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97096" y="409651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🌱 ENVIRONMENTAL BENEFITS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Reduced field commutes: </a:t>
            </a:r>
            <a:r>
              <a:rPr sz="950">
                <a:solidFill>
                  <a:srgbClr val="0F172A"/>
                </a:solidFill>
                <a:latin typeface="Arial"/>
              </a:rPr>
              <a:t>less physical surveyor travel across travel counters and airports (qualitative)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525780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97096" y="533095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B45309"/>
                </a:solidFill>
                <a:latin typeface="Arial"/>
              </a:defRPr>
            </a:pPr>
            <a:r>
              <a:t>🏛️ POLICY &amp; INSTITUTIONAL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Sovereign NSO feed: </a:t>
            </a:r>
            <a:r>
              <a:rPr sz="950">
                <a:solidFill>
                  <a:srgbClr val="0F172A"/>
                </a:solidFill>
                <a:latin typeface="Arial"/>
              </a:rPr>
              <a:t>automated API ingestion into MoSPI eSankhyiki and NDAP; abnormal fare surges flagged to DGCA for review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1051560"/>
            <a:ext cx="3867912" cy="5532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1124712"/>
            <a:ext cx="3685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C2626"/>
                </a:solidFill>
                <a:latin typeface="Arial"/>
              </a:defRPr>
            </a:pPr>
            <a:r>
              <a:t>PROTOTYPE IMAGE 1: Dashboard</a:t>
            </a:r>
          </a:p>
        </p:txBody>
      </p:sp>
      <p:pic>
        <p:nvPicPr>
          <p:cNvPr id="28" name="Picture 27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1417320"/>
            <a:ext cx="3685032" cy="402336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7909560" y="5513832"/>
            <a:ext cx="3685032" cy="96012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46136" y="5568696"/>
            <a:ext cx="3611880" cy="8503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B365D"/>
                </a:solidFill>
                <a:latin typeface="Arial"/>
              </a:rPr>
              <a:t>Geometric-mean (Jevons) aggregation avoids upward substitution bias (Diewert, 2004).</a:t>
            </a:r>
          </a:p>
          <a:p>
            <a:pPr algn="ctr"/>
            <a:r>
              <a:rPr sz="950" b="1">
                <a:solidFill>
                  <a:srgbClr val="0284C7"/>
                </a:solidFill>
                <a:latin typeface="Arial"/>
              </a:rPr>
              <a:t>Live Benchmark: 111.4 • 12 Corridors Monitored • MoSPI eSankhyiki Aligned</a:t>
            </a:r>
          </a:p>
          <a:p>
            <a:pPr algn="ctr"/>
            <a:r>
              <a:rPr sz="850">
                <a:solidFill>
                  <a:srgbClr val="475569"/>
                </a:solidFill>
                <a:latin typeface="Arial"/>
              </a:rPr>
              <a:t>High-frequency daily collection eliminates 15-day policy latency for RBI MPC &amp; MoSPI.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Academic Foundations, Official Data Sources &amp; Open Governance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Perspect., 30(2), 151-178.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OFFICIAL DATA SOURCES &amp; BENCHMARKS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MoSPI NSO: Consumer Price Index Concepts &amp; Methods Guidelines (Base 2012=100).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Direct Airline Portals: Daily Fare Quotes across IndiGo, Air India, SpiceJet, Akasa.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1200">
                <a:solidFill>
                  <a:srgbClr val="0F172A"/>
                </a:solidFill>
                <a:latin typeface="Arial"/>
              </a:rPr>
              <a:t> | </a:t>
            </a:r>
            <a:r>
              <a:rPr sz="120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TECHNICAL SPECIFICATIONS &amp; AUDIT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Index Formulation: UN/ILO Jevons Geometric Mean Specification &amp; DGCA weighting.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0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Harvester Engine: Playwright Headless with Rate-Limited, Robots.txt-Aware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1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Provenance Vault: SHA-256 Hashing + Merkle Batch Roots for Audit Integrity.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Production Deployment: Live Edge Serverless Prototype Dashboard.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3"/>
              </a:rPr>
              <a:t>[sih26056-airfare-cpi.vercel.app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DATA GOVERNANCE &amp; OPEN REPRODUCIBILITY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Open-Source Repository: Fully public reproducible code repository with automated CI/CD.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4"/>
              </a:rPr>
              <a:t>[GitHub Repository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NDSAP Open Data Compliance: Adheres to National Data Sharing and Accessibility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OpenAPI 3.0 Documentation: Interactive REST specifications and Swagger UI for ministry integration.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5"/>
              </a:rPr>
              <a:t>[API Documentation (/docs)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Automated Pipeline Verification: Nightly unit tests validate Jevons index math and dynamic IQR bounds.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6"/>
              </a:rPr>
              <a:t>[CI/CD Pipeline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