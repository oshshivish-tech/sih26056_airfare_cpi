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ilo.org" TargetMode="External"/><Relationship Id="rId11" Type="http://schemas.openxmlformats.org/officeDocument/2006/relationships/hyperlink" Target="https://playwright.dev" TargetMode="External"/><Relationship Id="rId12" Type="http://schemas.openxmlformats.org/officeDocument/2006/relationships/hyperlink" Target="https://data.gov.in" TargetMode="External"/><Relationship Id="rId13" Type="http://schemas.openxmlformats.org/officeDocument/2006/relationships/hyperlink" Target="https://sih26056-airfare-cpi.vercel.app" TargetMode="External"/><Relationship Id="rId14" Type="http://schemas.openxmlformats.org/officeDocument/2006/relationships/hyperlink" Target="https://github.com/oshshivish-tech/sih26056_airfare_cpi" TargetMode="External"/><Relationship Id="rId15" Type="http://schemas.openxmlformats.org/officeDocument/2006/relationships/hyperlink" Target="https://sih26056-airfare-cpi.vercel.app/docs" TargetMode="External"/><Relationship Id="rId16" Type="http://schemas.openxmlformats.org/officeDocument/2006/relationships/hyperlink" Target="https://github.com/oshshivish-tech/sih26056_airfare_cpi/action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"/>
            <a:ext cx="91440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spcBef>
                <a:spcPts val="400"/>
              </a:spcBef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194560"/>
            <a:ext cx="6903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45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45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(CPI).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45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4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45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145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High-Frequency Real-Time Airfare Index Eliminating 15-Day MoSPI Survey Latency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5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Manual physical survey delays limit policy responsiveness.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Only 1 single quote collected per route each month.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Completely misses algorithmic yield spikes and surges.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Ignores critical emergency vs. advance booking price spreads.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4532D"/>
                </a:solidFill>
                <a:latin typeface="Arial"/>
              </a:defRPr>
            </a:pPr>
            <a:r>
              <a:t>HOW IT ADDRESSES THE PROBLEM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Automated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1. Rate-Limited Collection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compliant daily queries across 4 major airlines.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2. 5 Booking Horizons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Samples 5 forward horizons: T+1, T+7, T+14, T+30, T+45 days.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3. Jevons Elementary Index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geometric mean eliminates upward substitution bias.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4. Cryptographic Provenance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SHA-256 hashes + Merkle roots make tampering detectable.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E3A8A"/>
                </a:solidFill>
                <a:latin typeface="Arial"/>
              </a:defRPr>
            </a:pPr>
            <a:r>
              <a:t>INNOVATION &amp; UNIQUENESS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1. Automated Daily Pipeline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daily pipeline cuts collection lag from ~15 days to under 24 hours.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2. Multi-Horizon Coverage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Multi-horizon coverage of 4 major airlines (IndiGo, Air India, SpiceJet, Akasa), extensible to OTAs.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formula with a hash-based audit trail.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4. Open Sovereign Feed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Direct REST API integration into MoSPI eSankhyiki &amp; RBI MPC.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08192"/>
            <a:ext cx="11183112" cy="53035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4338CA"/>
                </a:solidFill>
                <a:latin typeface="Arial"/>
              </a:rPr>
              <a:t>★ Novelty: </a:t>
            </a:r>
            <a:r>
              <a:rPr sz="1200" b="1">
                <a:solidFill>
                  <a:srgbClr val="1E293B"/>
                </a:solidFill>
                <a:latin typeface="Arial"/>
              </a:rPr>
              <a:t>First open, auditable, multi-horizon airfare index using UN/ILO-compliant Jevons aggregation with a cryptographic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Four-Tier UN/ILO Architecture with Cryptographic Auditability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154680" cy="553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43000"/>
            <a:ext cx="2898648" cy="5349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Python 3.13 &amp; FastAPI: </a:t>
            </a:r>
            <a:r>
              <a:rPr sz="1200">
                <a:solidFill>
                  <a:srgbClr val="475569"/>
                </a:solidFill>
                <a:latin typeface="Arial"/>
              </a:rPr>
              <a:t>Engine &amp; low-latency REST API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Playwright Headless: </a:t>
            </a:r>
            <a:r>
              <a:rPr sz="1200">
                <a:solidFill>
                  <a:srgbClr val="475569"/>
                </a:solidFill>
                <a:latin typeface="Arial"/>
              </a:rPr>
              <a:t>Rate-limited compliant collection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TypeScript &amp; React: </a:t>
            </a:r>
            <a:r>
              <a:rPr sz="1200">
                <a:solidFill>
                  <a:srgbClr val="475569"/>
                </a:solidFill>
                <a:latin typeface="Arial"/>
              </a:rPr>
              <a:t>MoSPI executive analytics dashboard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SciPy &amp; NumPy: </a:t>
            </a:r>
            <a:r>
              <a:rPr sz="1200">
                <a:solidFill>
                  <a:srgbClr val="475569"/>
                </a:solidFill>
                <a:latin typeface="Arial"/>
              </a:rPr>
              <a:t>Dynamic IQR anomaly filtering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PostgreSQL Timescale: </a:t>
            </a:r>
            <a:r>
              <a:rPr sz="1200">
                <a:solidFill>
                  <a:srgbClr val="475569"/>
                </a:solidFill>
                <a:latin typeface="Arial"/>
              </a:rPr>
              <a:t>Time-series storage &amp; historical archive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Cryptography (SHA-256): </a:t>
            </a:r>
            <a:r>
              <a:rPr sz="1200">
                <a:solidFill>
                  <a:srgbClr val="475569"/>
                </a:solidFill>
                <a:latin typeface="Arial"/>
              </a:rPr>
              <a:t>Merkle batch verification ledger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Arial"/>
              </a:rPr>
              <a:t>DATA ACCESS &amp; COMPLIANCE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Robots.txt &amp; Terms: </a:t>
            </a:r>
            <a:r>
              <a:rPr sz="1200">
                <a:solidFill>
                  <a:srgbClr val="475569"/>
                </a:solidFill>
                <a:latin typeface="Arial"/>
              </a:rPr>
              <a:t>Respects robots.txt and site terms; conservative request rates.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Transition Roadmap: </a:t>
            </a:r>
            <a:r>
              <a:rPr sz="1200">
                <a:solidFill>
                  <a:srgbClr val="475569"/>
                </a:solidFill>
                <a:latin typeface="Arial"/>
              </a:rPr>
              <a:t>Scraping is the prototype path; long-term path is official airline API / NDC feeds or data-sharing MoUs via MoCA/DGCA.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Verifiable Audit: </a:t>
            </a:r>
            <a:r>
              <a:rPr sz="1200">
                <a:solidFill>
                  <a:srgbClr val="475569"/>
                </a:solidFill>
                <a:latin typeface="Arial"/>
              </a:rPr>
              <a:t>Raw quotes are hashed (SHA-256) and archived for sovereign audit.</a:t>
            </a:r>
          </a:p>
        </p:txBody>
      </p:sp>
      <p:pic>
        <p:nvPicPr>
          <p:cNvPr id="8" name="Picture 7" descr="workflow_top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051560"/>
            <a:ext cx="7845552" cy="14447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840480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Tier 1: Collection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Rate-limited, robots.txt-aware, ToS-compliant collection (Playwright)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0156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Tier 2: Cleansing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Fare unbundling (base fare isolation) and dynamic IQR outlier removal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2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Tier 3: Aggregation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UN/ILO Jevons geometric mean and DGCA volume-weighted aggregation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79508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4338CA"/>
                </a:solidFill>
                <a:latin typeface="Arial"/>
              </a:defRPr>
            </a:pPr>
            <a:r>
              <a:t>Tier 4: Dissemination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SHA-256 tamper-evident Merkle ledger and low-latency REST API (FastAPI)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3584448"/>
            <a:ext cx="7845552" cy="2999232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0" y="3584448"/>
            <a:ext cx="7845552" cy="27432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CORE INDEXING METHODOLOGY &amp; SPECIFICATIONS (UN/ILO MANUAL CH. 10)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931920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1. Jevons Geometric Mean (Elementary Index):</a:t>
            </a:r>
          </a:p>
        </p:txBody>
      </p:sp>
      <p:pic>
        <p:nvPicPr>
          <p:cNvPr id="16" name="Picture 15" descr="eq1_perf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151376"/>
            <a:ext cx="3794760" cy="5584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31920" y="4911043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2. DGCA Volume Weighted Rollup:</a:t>
            </a:r>
          </a:p>
        </p:txBody>
      </p:sp>
      <p:pic>
        <p:nvPicPr>
          <p:cNvPr id="18" name="Picture 17" descr="eq2_per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5130499"/>
            <a:ext cx="3474720" cy="50702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09559" y="3913632"/>
            <a:ext cx="375818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Elementary Aggregate: </a:t>
            </a:r>
            <a:r>
              <a:rPr sz="1100">
                <a:solidFill>
                  <a:srgbClr val="475569"/>
                </a:solidFill>
                <a:latin typeface="Arial"/>
              </a:rPr>
              <a:t>Same route + same booking-horizon bucket + same cabin + non-stop.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Axiomatic Rigor: </a:t>
            </a:r>
            <a:r>
              <a:rPr sz="1100">
                <a:solidFill>
                  <a:srgbClr val="475569"/>
                </a:solidFill>
                <a:latin typeface="Arial"/>
              </a:rPr>
              <a:t>Jevons geometric mean per UN/ILO CPI Manual Ch. 10; satisfies the time-reversal test.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Base Period: </a:t>
            </a:r>
            <a:r>
              <a:rPr sz="1100">
                <a:solidFill>
                  <a:srgbClr val="475569"/>
                </a:solidFill>
                <a:latin typeface="Arial"/>
              </a:rPr>
              <a:t>Base period: October 2025 = 100.0; new routes/carriers enter via chain-linking at the next January/rebase.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Harmonized Weights: </a:t>
            </a:r>
            <a:r>
              <a:rPr sz="1100">
                <a:solidFill>
                  <a:srgbClr val="475569"/>
                </a:solidFill>
                <a:latin typeface="Arial"/>
              </a:rPr>
              <a:t>Delhi–Mumbai 18.2% basket / 14.8% DGCA share, Bengaluru–Delhi 13.5% basket / 11.0% DGCA share, cited to DGCA Domestic City-Pair Traffic Report, Dec 2024.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Cryptographic Ledger: </a:t>
            </a:r>
            <a:r>
              <a:rPr sz="1100">
                <a:solidFill>
                  <a:srgbClr val="475569"/>
                </a:solidFill>
                <a:latin typeface="Arial"/>
              </a:rPr>
              <a:t>SHA-256 hashing + Merkle batch roots make tampering detectable; Low-latency REST API (FastAPI) &lt; 35 ms response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Operationally Feasible, Legally Sound, and Scalable Nationwide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⚙️ ANALYSIS OF FEASIBILITY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TECHNICAL, OPERATIONAL &amp; ECONOMIC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Infrastructure Feasibility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Leverages standard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Operational Scalability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initially;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Financial Feasibility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Estimated operating cost: ₹4,500/month (hosting ₹1,200 + storage ₹1,800 + collection ₹1,500).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Authority Integration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⚠️ POTENTIAL CHALLENGES &amp; RISKS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SYSTEMIC &amp; EXTRACTION VULNERABILITIES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Portal Layout Drift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Airlines periodically alter front-end markup and CSS classes, risking scraper parser failure.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Rate-Limits &amp; Throttling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High-frequency automated queries risk triggering HTTP 429/503 rate-limits or IP restrictions.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Dynamic Pricing Outliers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Algorithmic yield surges and last-minute booking scalping introduce extreme statistical noise.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Schedule Sparsity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Infrequent or seasonal UDAN regional flight schedules risk creating missing daily quote gaps.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🛡️ STRATEGIES FOR OVERCOMING CHALLENGES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RISKS &amp; MITIGATION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Modular Resilient Parsers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Decoupled JSON network request interceptors with automated DOM selector breakage alerts.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Compliant Pacing &amp; MoUs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Polite delays (1.5–3.0s), off-peak harvesting (2–4 AM), and roadmap to airline NDC feeds.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Dynamic IQR Anomaly Scrubber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Statistical bounds [Q1 - 1.5·IQR, Q3 + 2.0·IQR] dynamically prune extreme scalping spikes.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Phased Rollout &amp; Fallback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Phased expansion ordered by DGCA passenger volume share with forward-carry imputation.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38BDF8"/>
                </a:solidFill>
                <a:latin typeface="Arial"/>
              </a:rPr>
              <a:t>📍 STRATEGIES FOR OVERCOMING CHALLENGES — IMPLEMENTATION ROADMAP: </a:t>
            </a:r>
          </a:p>
          <a:p>
            <a:pPr algn="ctr"/>
            <a:r>
              <a:rPr sz="1200" b="1">
                <a:solidFill>
                  <a:srgbClr val="F1F5F9"/>
                </a:solidFill>
                <a:latin typeface="Arial"/>
              </a:rPr>
              <a:t>Phase 1: 12 metro routes pilot (Current)  ➔  Phase 2: Top 50 commercial routes expansion  ➔  Phase 3: UDAN regional corridors + official airline API/NDC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Data-Driven Macroeconomic Visibility &amp; Inflation Accuracy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484632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24712"/>
            <a:ext cx="4590288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spcAft>
                <a:spcPts val="400"/>
              </a:spcAft>
              <a:defRPr sz="950" b="1">
                <a:solidFill>
                  <a:srgbClr val="475569"/>
                </a:solidFill>
                <a:latin typeface="Arial"/>
              </a:defRPr>
            </a:pPr>
            <a:r>
              <a:t>Target audience: MoSPI, RBI, DGCA, travellers</a:t>
            </a:r>
          </a:p>
          <a:p>
            <a:pPr>
              <a:lnSpc>
                <a:spcPct val="108000"/>
              </a:lnSpc>
              <a:spcAft>
                <a:spcPts val="25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price collection cut from ~15 days to under 24 hours</a:t>
            </a:r>
          </a:p>
          <a:p>
            <a:pPr>
              <a:lnSpc>
                <a:spcPct val="108000"/>
              </a:lnSpc>
              <a:spcAft>
                <a:spcPts val="25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Denser coverage: </a:t>
            </a:r>
            <a:r>
              <a:rPr sz="1050">
                <a:solidFill>
                  <a:srgbClr val="0F172A"/>
                </a:solidFill>
                <a:latin typeface="Arial"/>
              </a:rPr>
              <a:t>3,650+ quotes/day across 12 routes x 4 airlines x 5 horizons, vs 1 quote per route per month</a:t>
            </a:r>
          </a:p>
          <a:p>
            <a:pPr>
              <a:lnSpc>
                <a:spcPct val="108000"/>
              </a:lnSpc>
              <a:spcAft>
                <a:spcPts val="25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Captures what manual surveys miss: </a:t>
            </a:r>
            <a:r>
              <a:rPr sz="1050">
                <a:solidFill>
                  <a:srgbClr val="0F172A"/>
                </a:solidFill>
                <a:latin typeface="Arial"/>
              </a:rPr>
              <a:t>lead-time effects and fare surges</a:t>
            </a:r>
          </a:p>
          <a:p>
            <a:pPr>
              <a:lnSpc>
                <a:spcPct val="108000"/>
              </a:lnSpc>
              <a:spcAft>
                <a:spcPts val="25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Validated: </a:t>
            </a:r>
            <a:r>
              <a:rPr sz="1050">
                <a:solidFill>
                  <a:srgbClr val="0F172A"/>
                </a:solidFill>
                <a:latin typeface="Arial"/>
              </a:rPr>
              <a:t>back-tested against official CPI air-fare component (Pearson r = 0.89; full sovereign series back-test planned with MoSPI NSO)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90672"/>
            <a:ext cx="4846320" cy="621792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118104"/>
            <a:ext cx="462686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  <a:latin typeface="Arial"/>
              </a:defRPr>
            </a:pPr>
            <a:r>
              <a:t>👥 SOCIAL</a:t>
            </a:r>
          </a:p>
          <a:p>
            <a:pPr>
              <a:lnSpc>
                <a:spcPct val="105000"/>
              </a:lnSpc>
            </a:pPr>
            <a:r>
              <a:rPr sz="1050" b="1">
                <a:solidFill>
                  <a:srgbClr val="000000"/>
                </a:solidFill>
                <a:latin typeface="Arial"/>
              </a:rPr>
              <a:t>• Public measurement: </a:t>
            </a:r>
            <a:r>
              <a:rPr sz="1050">
                <a:solidFill>
                  <a:srgbClr val="0F172A"/>
                </a:solidFill>
                <a:latin typeface="Arial"/>
              </a:rPr>
              <a:t>transparent, publicly checkable airfare-inflation data, relevant to UDAN regional travellers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67328"/>
            <a:ext cx="4846320" cy="621792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794760"/>
            <a:ext cx="462686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16A34A"/>
                </a:solidFill>
                <a:latin typeface="Arial"/>
              </a:defRPr>
            </a:pPr>
            <a:r>
              <a:t>📈 ECONOMIC</a:t>
            </a:r>
          </a:p>
          <a:p>
            <a:pPr>
              <a:lnSpc>
                <a:spcPct val="105000"/>
              </a:lnSpc>
            </a:pPr>
            <a:r>
              <a:rPr sz="1050" b="1">
                <a:solidFill>
                  <a:srgbClr val="000000"/>
                </a:solidFill>
                <a:latin typeface="Arial"/>
              </a:rPr>
              <a:t>• Monetary policy signals: </a:t>
            </a:r>
            <a:r>
              <a:rPr sz="1050">
                <a:solidFill>
                  <a:srgbClr val="0F172A"/>
                </a:solidFill>
                <a:latin typeface="Arial"/>
              </a:rPr>
              <a:t>leading transport-inflation indicator for RBI MPC; less manual field collection (savings under validation)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443984"/>
            <a:ext cx="4846320" cy="621792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4471416"/>
            <a:ext cx="462686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🌱 ENVIRONMENTAL</a:t>
            </a:r>
          </a:p>
          <a:p>
            <a:pPr>
              <a:lnSpc>
                <a:spcPct val="105000"/>
              </a:lnSpc>
            </a:pPr>
            <a:r>
              <a:rPr sz="1050" b="1">
                <a:solidFill>
                  <a:srgbClr val="000000"/>
                </a:solidFill>
                <a:latin typeface="Arial"/>
              </a:rPr>
              <a:t>• Reduced field commutes: </a:t>
            </a:r>
            <a:r>
              <a:rPr sz="1050">
                <a:solidFill>
                  <a:srgbClr val="0F172A"/>
                </a:solidFill>
                <a:latin typeface="Arial"/>
              </a:rPr>
              <a:t>less physical surveyor travel (qualitative)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120640"/>
            <a:ext cx="4846320" cy="621792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5148072"/>
            <a:ext cx="4626864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B45309"/>
                </a:solidFill>
                <a:latin typeface="Arial"/>
              </a:defRPr>
            </a:pPr>
            <a:r>
              <a:t>🏛️ POLICY &amp; INSTITUTIONAL</a:t>
            </a:r>
          </a:p>
          <a:p>
            <a:pPr>
              <a:lnSpc>
                <a:spcPct val="105000"/>
              </a:lnSpc>
            </a:pPr>
            <a:r>
              <a:rPr sz="1050" b="1">
                <a:solidFill>
                  <a:srgbClr val="000000"/>
                </a:solidFill>
                <a:latin typeface="Arial"/>
              </a:rPr>
              <a:t>• Sovereign NSO feed: </a:t>
            </a:r>
            <a:r>
              <a:rPr sz="1050">
                <a:solidFill>
                  <a:srgbClr val="0F172A"/>
                </a:solidFill>
                <a:latin typeface="Arial"/>
              </a:rPr>
              <a:t>automated API ingestion into MoSPI eSankhyiki and NDAP; abnormal fare surges flagged to DGCA for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1051560"/>
            <a:ext cx="6153912" cy="48097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41848" y="1078992"/>
            <a:ext cx="593445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DC2626"/>
                </a:solidFill>
                <a:latin typeface="Arial"/>
              </a:rPr>
              <a:t>PROTOTYPE IMAGE 1: Airfare Price Index Dashboard (Prototype data: sample)</a:t>
            </a:r>
          </a:p>
        </p:txBody>
      </p:sp>
      <p:pic>
        <p:nvPicPr>
          <p:cNvPr id="18" name="Picture 17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1353312"/>
            <a:ext cx="5934456" cy="397763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41848" y="5367527"/>
            <a:ext cx="59344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E293B"/>
                </a:solidFill>
                <a:latin typeface="Arial"/>
              </a:rPr>
              <a:t>Geometric-mean (Jevons) aggregation avoids the upward bias of arithmetic averaging (Diewert, 2004). Corridor-level fare and weight analysis is available in the live dashboard.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989320"/>
            <a:ext cx="11183112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🚀 Live Interactive Prototype: </a:t>
            </a:r>
            <a:r>
              <a:rPr sz="13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</a:p>
          <a:p>
            <a:r>
              <a:rPr sz="1200">
                <a:solidFill>
                  <a:srgbClr val="F0FDF4"/>
                </a:solidFill>
                <a:latin typeface="Arial"/>
              </a:rPr>
              <a:t>   Open API for ministries, regulators and researchers | Scan QR code on right to explore live</a:t>
            </a:r>
          </a:p>
        </p:txBody>
      </p:sp>
      <p:pic>
        <p:nvPicPr>
          <p:cNvPr id="21" name="Picture 20" descr="sih_prototype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60167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Academic Foundations, Official Data Sources &amp; Open Governance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Perspect., 30(2), 151-178.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DATA SOURCES &amp; BENCHMARKS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MoSPI NSO: Consumer Price Index Concepts &amp; Methods Guidelines (Base 2012=100).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Direct Airline Portals: Daily Fare Quotes across IndiGo, Air India, SpiceJet, Akasa.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1200">
                <a:solidFill>
                  <a:srgbClr val="0F172A"/>
                </a:solidFill>
                <a:latin typeface="Arial"/>
              </a:rPr>
              <a:t> | </a:t>
            </a:r>
            <a:r>
              <a:rPr sz="120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TECHNICAL SPECIFICATIONS &amp; AUDIT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Index Formulation: UN/ILO Jevons Geometric Mean Specification &amp; DGCA weighting.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0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Harvester Engine: Playwright Headless with Rate-Limited, Robots.txt-Aware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1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Provenance Vault: SHA-256 Hashing + Merkle Batch Roots for Audit Integrity.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Production Deployment: Live Edge Serverless Prototype Dashboard.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3"/>
              </a:rPr>
              <a:t>[sih26056-airfare-cpi.vercel.app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DATA GOVERNANCE &amp; OPEN REPRODUCIBILITY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Open-Source Repository: Fully public reproducible code repository with automated CI/CD.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4"/>
              </a:rPr>
              <a:t>[GitHub Repository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NDSAP Open Data Compliance: Adheres to National Data Sharing and Accessibility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OpenAPI 3.0 Documentation: Interactive REST specifications and Swagger UI for ministry integration.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5"/>
              </a:rPr>
              <a:t>[API Documentation (/docs)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Automated Pipeline Verification: Nightly unit tests validate Jevons index math and dynamic IQR bounds.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6"/>
              </a:rPr>
              <a:t>[CI/CD Pipeline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