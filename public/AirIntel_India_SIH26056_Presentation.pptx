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hyperlink" Target="https://sih26056-airfare-cpi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standards-and-guidelines/manuals-and-guides/WCMS_761444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" TargetMode="External"/><Relationship Id="rId7" Type="http://schemas.openxmlformats.org/officeDocument/2006/relationships/hyperlink" Target="https://mospi.gov.in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www.ilo.org" TargetMode="External"/><Relationship Id="rId11" Type="http://schemas.openxmlformats.org/officeDocument/2006/relationships/hyperlink" Target="https://playwright.dev" TargetMode="External"/><Relationship Id="rId12" Type="http://schemas.openxmlformats.org/officeDocument/2006/relationships/hyperlink" Target="https://data.gov.in" TargetMode="External"/><Relationship Id="rId13" Type="http://schemas.openxmlformats.org/officeDocument/2006/relationships/hyperlink" Target="https://sih26056-airfare-cpi.vercel.ap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2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VayuSuchak: Real-Time Airfare Price Index for India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80160"/>
            <a:ext cx="402336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25880"/>
            <a:ext cx="6812280" cy="5120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500" b="1">
                <a:solidFill>
                  <a:srgbClr val="000000"/>
                </a:solidFill>
                <a:latin typeface="Arial"/>
              </a:rPr>
              <a:t>SIH26056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Problem Statement Title – </a:t>
            </a:r>
            <a:r>
              <a:rPr sz="1500" b="1">
                <a:solidFill>
                  <a:srgbClr val="000000"/>
                </a:solidFill>
                <a:latin typeface="Arial"/>
              </a:rPr>
              <a:t>Development of a Real-time Airfare Price Index for India through Automated Web Scraping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Department – </a:t>
            </a:r>
            <a:r>
              <a:rPr sz="1500" b="1">
                <a:solidFill>
                  <a:srgbClr val="000000"/>
                </a:solidFill>
                <a:latin typeface="Arial"/>
              </a:rPr>
              <a:t>Data Informatics &amp; Innovation Division (DIID)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Category – </a:t>
            </a:r>
            <a:r>
              <a:rPr sz="150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Theme – </a:t>
            </a:r>
            <a:r>
              <a:rPr sz="1500" b="1">
                <a:solidFill>
                  <a:srgbClr val="000000"/>
                </a:solidFill>
                <a:latin typeface="Arial"/>
              </a:rPr>
              <a:t>Smart Automation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Team ID – </a:t>
            </a:r>
            <a:r>
              <a:rPr sz="150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Team Name – </a:t>
            </a:r>
            <a:r>
              <a:rPr sz="150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Arial"/>
              </a:defRPr>
            </a:pPr>
            <a:r>
              <a:t>PROPOSED SOLUTION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High-Frequency Real-Time Airfare Index Eliminating 15-Day MoSPI Survey Latency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FFF5F5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FECAC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600" b="1">
                <a:solidFill>
                  <a:srgbClr val="991B1B"/>
                </a:solidFill>
                <a:latin typeface="Arial"/>
              </a:defRPr>
            </a:pPr>
            <a:r>
              <a:t>THE PROBLEM</a:t>
            </a:r>
          </a:p>
          <a:p>
            <a:pPr algn="ctr">
              <a:defRPr sz="1200" b="1">
                <a:solidFill>
                  <a:srgbClr val="7F1D1D"/>
                </a:solidFill>
                <a:latin typeface="Arial"/>
              </a:defRPr>
            </a:pPr>
            <a:r>
              <a:t>Current MoSPI Manual Survey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1. 15-Day Data Lag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Manual physical survey delays limit policy responsiveness.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2. Static Single Snapshot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Only 1 single quote collected per route each month.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3. Blind to Dynamic Pricing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Completely misses algorithmic yield spikes and surges.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4. Lead-Time Neglect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Ignores critical emergency vs. advance booking price spreads.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5112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600" b="1">
                <a:solidFill>
                  <a:srgbClr val="14532D"/>
                </a:solidFill>
                <a:latin typeface="Arial"/>
              </a:defRPr>
            </a:pPr>
            <a:r>
              <a:t>HOW WE SOLVE IT:</a:t>
            </a:r>
          </a:p>
          <a:p>
            <a:pPr algn="ctr">
              <a:defRPr sz="1200" b="1">
                <a:solidFill>
                  <a:srgbClr val="15803D"/>
                </a:solidFill>
                <a:latin typeface="Arial"/>
              </a:defRPr>
            </a:pPr>
            <a:r>
              <a:t>VayuSuchak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1. Rate-Limited Collection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Automated compliant daily queries across 4 major airlines.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2. 5 Booking Horizons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Samples 5 forward horizons: T+1, T+7, T+14, T+30, T+45 days.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3. Jevons Elementary Index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UN/ILO geometric mean eliminates upward substitution bias.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4. Cryptographic Provenance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SHA-256 hashes + Merkle roots make tampering detectable.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7304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47304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BFDBFE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600" b="1">
                <a:solidFill>
                  <a:srgbClr val="1E3A8A"/>
                </a:solidFill>
                <a:latin typeface="Arial"/>
              </a:defRPr>
            </a:pPr>
            <a:r>
              <a:t>WHY IT IS DIFFERENT</a:t>
            </a:r>
          </a:p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Unique VayuSuchak Advantages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1. Automated Daily Pipeline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Automated daily pipeline cuts collection lag from ~15 days to under 24 hours.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2. Multi-Horizon Coverage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Multi-horizon coverage of 4 major airlines (IndiGo, Air India, SpiceJet, Akasa), extensible to OTAs.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3. Verifiable Rigor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UN/ILO formula with a hash-based audit trail.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4. Open Sovereign Feed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Direct REST API integration into MoSPI eSankhyiki &amp; RBI MPC.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6108192"/>
            <a:ext cx="11183112" cy="530352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4338CA"/>
                </a:solidFill>
                <a:latin typeface="Arial"/>
              </a:rPr>
              <a:t>★ Novelty: </a:t>
            </a:r>
            <a:r>
              <a:rPr sz="1200" b="1">
                <a:solidFill>
                  <a:srgbClr val="1E293B"/>
                </a:solidFill>
                <a:latin typeface="Arial"/>
              </a:rPr>
              <a:t>First open, auditable, multi-horizon airfare index using UN/ILO-compliant Jevons aggregation with a cryptographic audit trail.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Four-Tier UN/ILO Architecture with Cryptographic Auditability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154680" cy="5532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143000"/>
            <a:ext cx="2898648" cy="5349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E40AF"/>
                </a:solidFill>
                <a:latin typeface="Arial"/>
              </a:defRPr>
            </a:pPr>
            <a:r>
              <a:t>Technologies Used: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Python 3.13 &amp; FastAPI: </a:t>
            </a:r>
            <a:r>
              <a:rPr sz="1200">
                <a:solidFill>
                  <a:srgbClr val="475569"/>
                </a:solidFill>
                <a:latin typeface="Arial"/>
              </a:rPr>
              <a:t>Engine &amp; low-latency REST API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Playwright Headless: </a:t>
            </a:r>
            <a:r>
              <a:rPr sz="1200">
                <a:solidFill>
                  <a:srgbClr val="475569"/>
                </a:solidFill>
                <a:latin typeface="Arial"/>
              </a:rPr>
              <a:t>Rate-limited compliant collection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TypeScript &amp; React: </a:t>
            </a:r>
            <a:r>
              <a:rPr sz="1200">
                <a:solidFill>
                  <a:srgbClr val="475569"/>
                </a:solidFill>
                <a:latin typeface="Arial"/>
              </a:rPr>
              <a:t>MoSPI executive analytics dashboard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SciPy &amp; NumPy: </a:t>
            </a:r>
            <a:r>
              <a:rPr sz="1200">
                <a:solidFill>
                  <a:srgbClr val="475569"/>
                </a:solidFill>
                <a:latin typeface="Arial"/>
              </a:rPr>
              <a:t>Dynamic IQR anomaly filtering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PostgreSQL Timescale: </a:t>
            </a:r>
            <a:r>
              <a:rPr sz="1200">
                <a:solidFill>
                  <a:srgbClr val="475569"/>
                </a:solidFill>
                <a:latin typeface="Arial"/>
              </a:rPr>
              <a:t>Time-series storage &amp; historical archive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Cryptography (SHA-256): </a:t>
            </a:r>
            <a:r>
              <a:rPr sz="1200">
                <a:solidFill>
                  <a:srgbClr val="475569"/>
                </a:solidFill>
                <a:latin typeface="Arial"/>
              </a:rPr>
              <a:t>Merkle batch verification ledger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Arial"/>
              </a:rPr>
              <a:t>DATA ACCESS &amp; COMPLIANCE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Robots.txt &amp; Terms: </a:t>
            </a:r>
            <a:r>
              <a:rPr sz="1200">
                <a:solidFill>
                  <a:srgbClr val="475569"/>
                </a:solidFill>
                <a:latin typeface="Arial"/>
              </a:rPr>
              <a:t>Respects robots.txt and site terms; conservative request rates.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Transition Roadmap: </a:t>
            </a:r>
            <a:r>
              <a:rPr sz="1200">
                <a:solidFill>
                  <a:srgbClr val="475569"/>
                </a:solidFill>
                <a:latin typeface="Arial"/>
              </a:rPr>
              <a:t>Scraping is the prototype path; long-term path is official airline API / NDC feeds or data-sharing MoUs via MoCA/DGCA.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Verifiable Audit: </a:t>
            </a:r>
            <a:r>
              <a:rPr sz="1200">
                <a:solidFill>
                  <a:srgbClr val="475569"/>
                </a:solidFill>
                <a:latin typeface="Arial"/>
              </a:rPr>
              <a:t>Raw quotes are hashed (SHA-256) and archived for sovereign audit.</a:t>
            </a:r>
          </a:p>
        </p:txBody>
      </p:sp>
      <p:pic>
        <p:nvPicPr>
          <p:cNvPr id="8" name="Picture 7" descr="workflow_top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1051560"/>
            <a:ext cx="7845552" cy="14447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840480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524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0369A1"/>
                </a:solidFill>
                <a:latin typeface="Arial"/>
              </a:defRPr>
            </a:pPr>
            <a:r>
              <a:t>Tier 1: Collection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Rate-limited, robots.txt-aware, ToS-compliant collection (Playwright)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20156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524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15803D"/>
                </a:solidFill>
                <a:latin typeface="Arial"/>
              </a:defRPr>
            </a:pPr>
            <a:r>
              <a:t>Tier 2: Cleansing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Fare unbundling (base fare isolation) and dynamic IQR outlier removal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9832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EFCE8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B45309"/>
                </a:solidFill>
                <a:latin typeface="Arial"/>
              </a:defRPr>
            </a:pPr>
            <a:r>
              <a:t>Tier 3: Aggregation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UN/ILO Jevons geometric mean and DGCA volume-weighted aggregation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79508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4338CA"/>
                </a:solidFill>
                <a:latin typeface="Arial"/>
              </a:defRPr>
            </a:pPr>
            <a:r>
              <a:t>Tier 4: Dissemination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SHA-256 tamper-evident Merkle ledger and low-latency REST API (FastAPI)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0" y="3584448"/>
            <a:ext cx="7845552" cy="2999232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0480" y="3584448"/>
            <a:ext cx="7845552" cy="274320"/>
          </a:xfrm>
          <a:prstGeom prst="roundRect">
            <a:avLst>
              <a:gd name="adj" fmla="val 16000"/>
            </a:avLst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Arial"/>
              </a:defRPr>
            </a:pPr>
            <a:r>
              <a:t>CORE INDEXING METHODOLOGY &amp; SPECIFICATIONS (UN/ILO MANUAL CH. 10)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931920"/>
            <a:ext cx="3977639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Arial"/>
              </a:defRPr>
            </a:pPr>
            <a:r>
              <a:t>1. Jevons Geometric Mean (Elementary Index):</a:t>
            </a:r>
          </a:p>
        </p:txBody>
      </p:sp>
      <p:pic>
        <p:nvPicPr>
          <p:cNvPr id="16" name="Picture 15" descr="eq1_perf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4151376"/>
            <a:ext cx="3794760" cy="55849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931920" y="4911043"/>
            <a:ext cx="3977639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Arial"/>
              </a:defRPr>
            </a:pPr>
            <a:r>
              <a:t>2. DGCA Volume Weighted Rollup:</a:t>
            </a:r>
          </a:p>
        </p:txBody>
      </p:sp>
      <p:pic>
        <p:nvPicPr>
          <p:cNvPr id="18" name="Picture 17" descr="eq2_perf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5130499"/>
            <a:ext cx="3474720" cy="50702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09559" y="3913632"/>
            <a:ext cx="3758185" cy="2633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Elementary Aggregate: </a:t>
            </a:r>
            <a:r>
              <a:rPr sz="1100">
                <a:solidFill>
                  <a:srgbClr val="475569"/>
                </a:solidFill>
                <a:latin typeface="Arial"/>
              </a:rPr>
              <a:t>Same route + same booking-horizon bucket + same cabin + non-stop.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Axiomatic Rigor: </a:t>
            </a:r>
            <a:r>
              <a:rPr sz="1100">
                <a:solidFill>
                  <a:srgbClr val="475569"/>
                </a:solidFill>
                <a:latin typeface="Arial"/>
              </a:rPr>
              <a:t>Jevons geometric mean per UN/ILO CPI Manual Ch. 10; satisfies the time-reversal test.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Base Period: </a:t>
            </a:r>
            <a:r>
              <a:rPr sz="1100">
                <a:solidFill>
                  <a:srgbClr val="475569"/>
                </a:solidFill>
                <a:latin typeface="Arial"/>
              </a:rPr>
              <a:t>Base period: [FILL: Oct 2025 = 100.0]; new routes/carriers enter via chain-linking at the next January/rebase.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Harmonized Weights: </a:t>
            </a:r>
            <a:r>
              <a:rPr sz="1100">
                <a:solidFill>
                  <a:srgbClr val="475569"/>
                </a:solidFill>
                <a:latin typeface="Arial"/>
              </a:rPr>
              <a:t>Delhi–Mumbai 18.2% basket / 14.8% DGCA share, Bengaluru–Delhi 13.5% basket / 11.0% DGCA share, cited to DGCA report [FILL exact report name + month].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Cryptographic Ledger: </a:t>
            </a:r>
            <a:r>
              <a:rPr sz="1100">
                <a:solidFill>
                  <a:srgbClr val="475569"/>
                </a:solidFill>
                <a:latin typeface="Arial"/>
              </a:rPr>
              <a:t>SHA-256 hashing + Merkle batch roots make tampering detectable; Low-latency REST API (FastAPI) [FILL response latency benchmark].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Operationally Feasible, Legally Sound, and Scalable Nationwide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3630168" cy="45720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⚙️ FEASIBILITY ANALYSIS</a:t>
            </a:r>
          </a:p>
          <a:p>
            <a:pPr algn="ctr">
              <a:defRPr sz="950">
                <a:solidFill>
                  <a:srgbClr val="F1F5F9"/>
                </a:solidFill>
                <a:latin typeface="Arial"/>
              </a:defRPr>
            </a:pPr>
            <a:r>
              <a:t>PRACTICAL &amp; SCALABLE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54480"/>
            <a:ext cx="3447288" cy="896112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1591056"/>
            <a:ext cx="337413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Infrastructure Reusability</a:t>
            </a:r>
          </a:p>
          <a:p>
            <a:pPr>
              <a:lnSpc>
                <a:spcPct val="105000"/>
              </a:lnSpc>
              <a:defRPr sz="1150">
                <a:solidFill>
                  <a:srgbClr val="0F172A"/>
                </a:solidFill>
                <a:latin typeface="Arial"/>
              </a:defRPr>
            </a:pPr>
            <a:r>
              <a:t>Leverages standard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514600"/>
            <a:ext cx="3447288" cy="896112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551176"/>
            <a:ext cx="337413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Scalable Deployment</a:t>
            </a:r>
          </a:p>
          <a:p>
            <a:pPr>
              <a:lnSpc>
                <a:spcPct val="105000"/>
              </a:lnSpc>
              <a:defRPr sz="115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initially;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474720"/>
            <a:ext cx="3447288" cy="896112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3511296"/>
            <a:ext cx="337413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Operating Cost</a:t>
            </a:r>
          </a:p>
          <a:p>
            <a:pPr>
              <a:lnSpc>
                <a:spcPct val="105000"/>
              </a:lnSpc>
              <a:defRPr sz="1150">
                <a:solidFill>
                  <a:srgbClr val="0F172A"/>
                </a:solidFill>
                <a:latin typeface="Arial"/>
              </a:defRPr>
            </a:pPr>
            <a:r>
              <a:t>Estimated operating cost: ₹[FILL]/month (hosting [FILL] + storage [FILL] + collection [FILL]). (Breakdown in speaker notes).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434840"/>
            <a:ext cx="3447288" cy="896112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4471416"/>
            <a:ext cx="337413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Authority Integration</a:t>
            </a:r>
          </a:p>
          <a:p>
            <a:pPr>
              <a:lnSpc>
                <a:spcPct val="105000"/>
              </a:lnSpc>
              <a:defRPr sz="1150">
                <a:solidFill>
                  <a:srgbClr val="0F172A"/>
                </a:solidFill>
                <a:latin typeface="Arial"/>
              </a:defRPr>
            </a:pPr>
            <a:r>
              <a:t>Native REST API and JSON feeds integrate directly into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79392" y="1051560"/>
            <a:ext cx="3630168" cy="45720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✔️ VIABILITY &amp; TRUST</a:t>
            </a:r>
          </a:p>
          <a:p>
            <a:pPr algn="ctr">
              <a:defRPr sz="950">
                <a:solidFill>
                  <a:srgbClr val="F1F5F9"/>
                </a:solidFill>
                <a:latin typeface="Arial"/>
              </a:defRPr>
            </a:pPr>
            <a:r>
              <a:t>RELIABLE &amp; DEFENSIBLE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1554480"/>
            <a:ext cx="3447288" cy="786384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07408" y="1591056"/>
            <a:ext cx="337413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6A34A"/>
                </a:solidFill>
                <a:latin typeface="Arial"/>
              </a:defRPr>
            </a:pPr>
            <a:r>
              <a:t>Proven Concept</a:t>
            </a:r>
          </a:p>
          <a:p>
            <a:pPr>
              <a:lnSpc>
                <a:spcPct val="105000"/>
              </a:lnSpc>
              <a:defRPr sz="1150">
                <a:solidFill>
                  <a:srgbClr val="0F172A"/>
                </a:solidFill>
                <a:latin typeface="Arial"/>
              </a:defRPr>
            </a:pPr>
            <a:r>
              <a:t>Prototype tested on [FILL] fare quotes over [FILL] days; scraper success rate [FILL]%.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2395728"/>
            <a:ext cx="3447288" cy="786384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2432304"/>
            <a:ext cx="337413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6A34A"/>
                </a:solidFill>
                <a:latin typeface="Arial"/>
              </a:defRPr>
            </a:pPr>
            <a:r>
              <a:t>Public Trust</a:t>
            </a:r>
          </a:p>
          <a:p>
            <a:pPr>
              <a:lnSpc>
                <a:spcPct val="105000"/>
              </a:lnSpc>
              <a:defRPr sz="1150">
                <a:solidFill>
                  <a:srgbClr val="0F172A"/>
                </a:solidFill>
                <a:latin typeface="Arial"/>
              </a:defRPr>
            </a:pPr>
            <a:r>
              <a:t>Transparent UN/ILO Chapter 10 formulas eliminate black-box skepticism and subjective sampling bias.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236976"/>
            <a:ext cx="3447288" cy="786384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7408" y="3273552"/>
            <a:ext cx="337413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6A34A"/>
                </a:solidFill>
                <a:latin typeface="Arial"/>
              </a:defRPr>
            </a:pPr>
            <a:r>
              <a:t>Tamper-Evident Ledger</a:t>
            </a:r>
          </a:p>
          <a:p>
            <a:pPr>
              <a:lnSpc>
                <a:spcPct val="105000"/>
              </a:lnSpc>
              <a:defRPr sz="1150">
                <a:solidFill>
                  <a:srgbClr val="0F172A"/>
                </a:solidFill>
                <a:latin typeface="Arial"/>
              </a:defRPr>
            </a:pPr>
            <a:r>
              <a:t>SHA-256 hashing + Merkle batch roots make tampering detectable for sovereign audit.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0832" y="4078224"/>
            <a:ext cx="3447288" cy="1243584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7408" y="4114800"/>
            <a:ext cx="3374136" cy="1170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6A34A"/>
                </a:solidFill>
                <a:latin typeface="Arial"/>
              </a:defRPr>
            </a:pPr>
            <a:r>
              <a:t>RISKS &amp; MITIGATION</a:t>
            </a:r>
          </a:p>
          <a:p>
            <a:pPr>
              <a:lnSpc>
                <a:spcPct val="105000"/>
              </a:lnSpc>
              <a:defRPr sz="1050">
                <a:solidFill>
                  <a:srgbClr val="0F172A"/>
                </a:solidFill>
                <a:latin typeface="Arial"/>
              </a:defRPr>
            </a:pPr>
            <a:r>
              <a:t>• Layout changes → modular parsers + automated breakage alerts</a:t>
            </a:r>
            <a:br/>
            <a:r>
              <a:t>• Blocking / ToS → rate limits, compliance policy, move to official API/MoU</a:t>
            </a:r>
            <a:br/>
            <a:r>
              <a:t>• Outliers / missing quotes → IQR filter, stale purge, fallback</a:t>
            </a:r>
            <a:br/>
            <a:r>
              <a:t>• Scale 12 → 250+ routes → phased rollout ordered by DGCA share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55864" y="1051560"/>
            <a:ext cx="3630168" cy="45720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📊 BUSINESS &amp; POLICY IMPACT</a:t>
            </a:r>
          </a:p>
          <a:p>
            <a:pPr algn="ctr">
              <a:defRPr sz="950">
                <a:solidFill>
                  <a:srgbClr val="F1F5F9"/>
                </a:solidFill>
                <a:latin typeface="Arial"/>
              </a:defRPr>
            </a:pPr>
            <a:r>
              <a:t>SUSTAINABLE POLICY VALUE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7304" y="1554480"/>
            <a:ext cx="3447288" cy="896112"/>
          </a:xfrm>
          <a:prstGeom prst="roundRect">
            <a:avLst>
              <a:gd name="adj" fmla="val 10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591056"/>
            <a:ext cx="337413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D97706"/>
                </a:solidFill>
                <a:latin typeface="Arial"/>
              </a:defRPr>
            </a:pPr>
            <a:r>
              <a:t>Government Savings</a:t>
            </a:r>
          </a:p>
          <a:p>
            <a:pPr>
              <a:lnSpc>
                <a:spcPct val="105000"/>
              </a:lnSpc>
              <a:defRPr sz="1150">
                <a:solidFill>
                  <a:srgbClr val="0F172A"/>
                </a:solidFill>
                <a:latin typeface="Arial"/>
              </a:defRPr>
            </a:pPr>
            <a:r>
              <a:t>Reduces manual airfare field collection; savings estimate under validation with MoSPI cost data.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47304" y="2514600"/>
            <a:ext cx="3447288" cy="896112"/>
          </a:xfrm>
          <a:prstGeom prst="roundRect">
            <a:avLst>
              <a:gd name="adj" fmla="val 10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2551176"/>
            <a:ext cx="337413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D97706"/>
                </a:solidFill>
                <a:latin typeface="Arial"/>
              </a:defRPr>
            </a:pPr>
            <a:r>
              <a:t>Monetary Policy</a:t>
            </a:r>
          </a:p>
          <a:p>
            <a:pPr>
              <a:lnSpc>
                <a:spcPct val="105000"/>
              </a:lnSpc>
              <a:defRPr sz="1150">
                <a:solidFill>
                  <a:srgbClr val="0F172A"/>
                </a:solidFill>
                <a:latin typeface="Arial"/>
              </a:defRPr>
            </a:pPr>
            <a:r>
              <a:t>Delivers high-frequency leading transport inflation signals for proactive interest rate setting.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47304" y="3474720"/>
            <a:ext cx="3447288" cy="896112"/>
          </a:xfrm>
          <a:prstGeom prst="roundRect">
            <a:avLst>
              <a:gd name="adj" fmla="val 10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80" y="3511296"/>
            <a:ext cx="337413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D97706"/>
                </a:solidFill>
                <a:latin typeface="Arial"/>
              </a:defRPr>
            </a:pPr>
            <a:r>
              <a:t>Regulatory Oversight</a:t>
            </a:r>
          </a:p>
          <a:p>
            <a:pPr>
              <a:lnSpc>
                <a:spcPct val="105000"/>
              </a:lnSpc>
              <a:defRPr sz="1150">
                <a:solidFill>
                  <a:srgbClr val="0F172A"/>
                </a:solidFill>
                <a:latin typeface="Arial"/>
              </a:defRPr>
            </a:pPr>
            <a:r>
              <a:t>Flagging abnormal fare surges for regulatory review and corridor pricing transparency.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47304" y="4434840"/>
            <a:ext cx="3447288" cy="896112"/>
          </a:xfrm>
          <a:prstGeom prst="roundRect">
            <a:avLst>
              <a:gd name="adj" fmla="val 10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80" y="4471416"/>
            <a:ext cx="337413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D97706"/>
                </a:solidFill>
                <a:latin typeface="Arial"/>
              </a:defRPr>
            </a:pPr>
            <a:r>
              <a:t>Open Ecosystem</a:t>
            </a:r>
          </a:p>
          <a:p>
            <a:pPr>
              <a:lnSpc>
                <a:spcPct val="105000"/>
              </a:lnSpc>
              <a:defRPr sz="1150">
                <a:solidFill>
                  <a:srgbClr val="0F172A"/>
                </a:solidFill>
                <a:latin typeface="Arial"/>
              </a:defRPr>
            </a:pPr>
            <a:r>
              <a:t>Open API for ministries, regulators and researchers (no commercial licensing friction).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897880"/>
            <a:ext cx="11183112" cy="731520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38BDF8"/>
                </a:solidFill>
                <a:latin typeface="Arial"/>
              </a:rPr>
              <a:t>📍 VAYUSUCHAK IMPLEMENTATION ROADMAP: </a:t>
            </a:r>
          </a:p>
          <a:p>
            <a:pPr algn="ctr"/>
            <a:r>
              <a:rPr sz="1200" b="1">
                <a:solidFill>
                  <a:srgbClr val="F1F5F9"/>
                </a:solidFill>
                <a:latin typeface="Arial"/>
              </a:rPr>
              <a:t>Phase 1: 12 metro routes pilot (Current)  ➔  Phase 2: Top 50 commercial routes expansion  ➔  Phase 3: UDAN regional corridors + official airline API/NDC integration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Data-Driven Macroeconomic Visibility &amp; Inflation Accuracy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484632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115568"/>
            <a:ext cx="4553712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E40AF"/>
                </a:solidFill>
                <a:latin typeface="Arial"/>
              </a:defRPr>
            </a:pPr>
            <a:r>
              <a:t>Potential Impact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Zero Policy Lag: </a:t>
            </a:r>
            <a:r>
              <a:rPr sz="1150">
                <a:solidFill>
                  <a:srgbClr val="0F172A"/>
                </a:solidFill>
                <a:latin typeface="Arial"/>
              </a:rPr>
              <a:t>Slashes price collection latency from 15 days to under 24 hours, eliminating critical macroeconomic blindspots.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High-Frequency Coverage: </a:t>
            </a:r>
            <a:r>
              <a:rPr sz="1150">
                <a:solidFill>
                  <a:srgbClr val="0F172A"/>
                </a:solidFill>
                <a:latin typeface="Arial"/>
              </a:rPr>
              <a:t>[FILL] quotes/day across 12 routes x 4 airlines x 5 horizons vs 1 monthly static manual quote.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Substitution Bias Immunity: </a:t>
            </a:r>
            <a:r>
              <a:rPr sz="1150">
                <a:solidFill>
                  <a:srgbClr val="0F172A"/>
                </a:solidFill>
                <a:latin typeface="Arial"/>
              </a:rPr>
              <a:t>Geometric-mean aggregation avoids the upward bias of arithmetic (Dutot-type) averaging (Diewert, 2004).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Validation Benchmark: </a:t>
            </a:r>
            <a:r>
              <a:rPr sz="1150">
                <a:solidFill>
                  <a:srgbClr val="0F172A"/>
                </a:solidFill>
                <a:latin typeface="Arial"/>
              </a:rPr>
              <a:t>Validation: back-test against the official CPI air-fare component and an arithmetic-mean benchmark; results [FILL or 'planned'].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93008"/>
            <a:ext cx="484632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529584"/>
            <a:ext cx="4553712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1E40AF"/>
                </a:solidFill>
                <a:latin typeface="Arial"/>
              </a:defRPr>
            </a:pPr>
            <a:r>
              <a:t>Benefits &amp; Institutional Value: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50" b="1">
                <a:solidFill>
                  <a:srgbClr val="DC2626"/>
                </a:solidFill>
                <a:latin typeface="Arial"/>
              </a:rPr>
              <a:t>• Sovereign (MoSPI NSO): </a:t>
            </a:r>
            <a:r>
              <a:rPr sz="1150">
                <a:solidFill>
                  <a:srgbClr val="0F172A"/>
                </a:solidFill>
                <a:latin typeface="Arial"/>
              </a:rPr>
              <a:t>Direct automated API feed into eSankhyiki &amp; NDAP; transparent, reproducible inflation indices.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50" b="1">
                <a:solidFill>
                  <a:srgbClr val="DC2626"/>
                </a:solidFill>
                <a:latin typeface="Arial"/>
              </a:rPr>
              <a:t>• Monetary Policy (RBI MPC): </a:t>
            </a:r>
            <a:r>
              <a:rPr sz="1150">
                <a:solidFill>
                  <a:srgbClr val="0F172A"/>
                </a:solidFill>
                <a:latin typeface="Arial"/>
              </a:rPr>
              <a:t>Provides high-frequency leading transport inflation signals for proactive interest rate setting.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50" b="1">
                <a:solidFill>
                  <a:srgbClr val="DC2626"/>
                </a:solidFill>
                <a:latin typeface="Arial"/>
              </a:rPr>
              <a:t>• Fiscal Efficiency: </a:t>
            </a:r>
            <a:r>
              <a:rPr sz="1150">
                <a:solidFill>
                  <a:srgbClr val="0F172A"/>
                </a:solidFill>
                <a:latin typeface="Arial"/>
              </a:rPr>
              <a:t>Reduces manual surveyor logistics; prototype cloud operations cost ₹[FILL]/month.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50" b="1">
                <a:solidFill>
                  <a:srgbClr val="DC2626"/>
                </a:solidFill>
                <a:latin typeface="Arial"/>
              </a:rPr>
              <a:t>• Open API Access: </a:t>
            </a:r>
            <a:r>
              <a:rPr sz="1150">
                <a:solidFill>
                  <a:srgbClr val="0F172A"/>
                </a:solidFill>
                <a:latin typeface="Arial"/>
              </a:rPr>
              <a:t>Open API for ministries, regulators and researchers with SHA-256 cryptographic auditability.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32120" y="1051560"/>
            <a:ext cx="6153912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41848" y="1078992"/>
            <a:ext cx="5934456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DC2626"/>
                </a:solidFill>
                <a:latin typeface="Arial"/>
              </a:rPr>
              <a:t>PROTOTYPE IMAGE 1: Airfare Price Index Dashboard (Prototype data: sample)</a:t>
            </a:r>
          </a:p>
        </p:txBody>
      </p:sp>
      <p:pic>
        <p:nvPicPr>
          <p:cNvPr id="12" name="Picture 11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2" y="1353312"/>
            <a:ext cx="6007608" cy="20116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532120" y="3520440"/>
            <a:ext cx="6153912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41848" y="3547872"/>
            <a:ext cx="5934456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DC2626"/>
                </a:solidFill>
                <a:latin typeface="Arial"/>
              </a:rPr>
              <a:t>PROTOTYPE IMAGE 2: Corridor-Wise Yield &amp; Weight Matrix (Prototype data: sample)</a:t>
            </a:r>
          </a:p>
        </p:txBody>
      </p:sp>
      <p:pic>
        <p:nvPicPr>
          <p:cNvPr id="15" name="Picture 14" descr="vayusuchak_prototype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5272" y="3822191"/>
            <a:ext cx="6007608" cy="20116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5989320"/>
            <a:ext cx="11183112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🚀 Live Interactive Prototype: </a:t>
            </a:r>
            <a:r>
              <a:rPr sz="1300" b="1" u="sng">
                <a:solidFill>
                  <a:srgbClr val="FFFFFF"/>
                </a:solidFill>
                <a:latin typeface="Arial"/>
                <a:hlinkClick r:id="rId6"/>
              </a:rPr>
              <a:t>https://sih26056-airfare-cpi.vercel.app ↗</a:t>
            </a:r>
          </a:p>
          <a:p>
            <a:r>
              <a:rPr sz="1200">
                <a:solidFill>
                  <a:srgbClr val="F0FDF4"/>
                </a:solidFill>
                <a:latin typeface="Arial"/>
              </a:rPr>
              <a:t>   Open API for ministries, regulators and researchers | Scan QR code on right to explore live</a:t>
            </a:r>
          </a:p>
        </p:txBody>
      </p:sp>
      <p:pic>
        <p:nvPicPr>
          <p:cNvPr id="17" name="Picture 16" descr="sih_prototype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6016752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Academic Foundations, Official Data Sources &amp; Team Roles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78992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Perspect., 30(2), 151-178.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078992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170432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OFFICIAL DATA SOURCES &amp; BENCHMARKS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MoSPI NSO: Consumer Price Index Concepts &amp; Methods Guidelines (Base 2012=100).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Direct Airline Portals: Daily Fare Quotes across IndiGo, Air India, SpiceJet, Akasa.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1200">
                <a:solidFill>
                  <a:srgbClr val="0F172A"/>
                </a:solidFill>
                <a:latin typeface="Arial"/>
              </a:rPr>
              <a:t> | </a:t>
            </a:r>
            <a:r>
              <a:rPr sz="120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86200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977640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TECHNICAL SPECIFICATIONS &amp; AUDIT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Index Formulation: UN/ILO Jevons Geometric Mean Specification &amp; DGCA weighting.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0"/>
              </a:rPr>
              <a:t>[ilo.org/manual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Harvester Engine: Playwright Headless with Rate-Limited, Robots.txt-Aware Policy.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1"/>
              </a:rPr>
              <a:t>[playwright.dev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Provenance Vault: SHA-256 Hashing + Merkle Batch Roots for Audit Integrity.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2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Production Deployment: Live Edge Serverless Prototype Dashboard.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3"/>
              </a:rPr>
              <a:t>[sih26056-airfare-cpi.vercel.app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3886200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3977640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1D4ED8"/>
                </a:solidFill>
                <a:latin typeface="Arial"/>
              </a:defRPr>
            </a:pPr>
            <a:r>
              <a:t>TEAM ROORKIES (SIH 26056)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[FILL: Team Member 1 Name] — Team Lead &amp; Full-Stack Architect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[FILL: Team Member 2 Name] — Statistical Modeling &amp; Index Engineering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[FILL: Team Member 3 Name] — Data Harvesting &amp; Scraping Pipeline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[FILL: Team Member 4 Name] — Frontend Analytics &amp; Dashboard UI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[FILL: Team Member 5 Name] — Backend API &amp; Database Systems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[FILL: Team Member 6 Name] — Cloud Deployment &amp; Regulatory Compliance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