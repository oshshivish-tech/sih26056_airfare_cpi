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sih26056-airfare-cpi.vercel.app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oi.org/10.1257/jep.30.2.151" TargetMode="External"/><Relationship Id="rId4" Type="http://schemas.openxmlformats.org/officeDocument/2006/relationships/hyperlink" Target="https://www.ilo.org/global/statistics-and-databases/standards-and-guidelines/manuals-and-guides/WCMS_761444/lang--en/index.htm" TargetMode="External"/><Relationship Id="rId5" Type="http://schemas.openxmlformats.org/officeDocument/2006/relationships/hyperlink" Target="https://www.imf.org/external/pubs/ft/cpi/" TargetMode="External"/><Relationship Id="rId6" Type="http://schemas.openxmlformats.org/officeDocument/2006/relationships/hyperlink" Target="https://www.dgca.gov.in" TargetMode="External"/><Relationship Id="rId7" Type="http://schemas.openxmlformats.org/officeDocument/2006/relationships/hyperlink" Target="https://mospi.gov.in" TargetMode="External"/><Relationship Id="rId8" Type="http://schemas.openxmlformats.org/officeDocument/2006/relationships/hyperlink" Target="https://www.goindigo.in" TargetMode="External"/><Relationship Id="rId9" Type="http://schemas.openxmlformats.org/officeDocument/2006/relationships/hyperlink" Target="https://www.airindia.com" TargetMode="External"/><Relationship Id="rId10" Type="http://schemas.openxmlformats.org/officeDocument/2006/relationships/hyperlink" Target="https://www.makemytrip.com" TargetMode="External"/><Relationship Id="rId11" Type="http://schemas.openxmlformats.org/officeDocument/2006/relationships/hyperlink" Target="https://www.easemytrip.com" TargetMode="External"/><Relationship Id="rId12" Type="http://schemas.openxmlformats.org/officeDocument/2006/relationships/hyperlink" Target="https://www.iata.org" TargetMode="External"/><Relationship Id="rId13" Type="http://schemas.openxmlformats.org/officeDocument/2006/relationships/hyperlink" Target="https://www.cci.gov.in" TargetMode="External"/><Relationship Id="rId14" Type="http://schemas.openxmlformats.org/officeDocument/2006/relationships/hyperlink" Target="https://www.civilaviation.gov.in" TargetMode="External"/><Relationship Id="rId15" Type="http://schemas.openxmlformats.org/officeDocument/2006/relationships/hyperlink" Target="https://www.ilo.org" TargetMode="External"/><Relationship Id="rId16" Type="http://schemas.openxmlformats.org/officeDocument/2006/relationships/hyperlink" Target="https://playwright.dev" TargetMode="External"/><Relationship Id="rId17" Type="http://schemas.openxmlformats.org/officeDocument/2006/relationships/hyperlink" Target="https://data.gov.in" TargetMode="External"/><Relationship Id="rId18" Type="http://schemas.openxmlformats.org/officeDocument/2006/relationships/hyperlink" Target="https://sih26056-airfare-cpi.vercel.app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4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TITLE PAGE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pic>
        <p:nvPicPr>
          <p:cNvPr id="5" name="Picture 4" descr="page_1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280160"/>
            <a:ext cx="402336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1325880"/>
            <a:ext cx="6812280" cy="5120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Problem Statement ID – </a:t>
            </a:r>
            <a:r>
              <a:rPr sz="1500" b="1">
                <a:solidFill>
                  <a:srgbClr val="000000"/>
                </a:solidFill>
                <a:latin typeface="Arial"/>
              </a:rPr>
              <a:t>SIH26056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Problem Statement Title- </a:t>
            </a:r>
            <a:r>
              <a:rPr sz="1500" b="1">
                <a:solidFill>
                  <a:srgbClr val="000000"/>
                </a:solidFill>
                <a:latin typeface="Arial"/>
              </a:rPr>
              <a:t>Development of a Real-time Airfare Price Index for India through Automated Web Scraping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Department – </a:t>
            </a:r>
            <a:r>
              <a:rPr sz="1500" b="1">
                <a:solidFill>
                  <a:srgbClr val="000000"/>
                </a:solidFill>
                <a:latin typeface="Arial"/>
              </a:rPr>
              <a:t>Data Informatics &amp; Innovation Division (DIID)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Category – </a:t>
            </a:r>
            <a:r>
              <a:rPr sz="1500" b="1">
                <a:solidFill>
                  <a:srgbClr val="000000"/>
                </a:solidFill>
                <a:latin typeface="Arial"/>
              </a:rPr>
              <a:t>Software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Theme – </a:t>
            </a:r>
            <a:r>
              <a:rPr sz="1500" b="1">
                <a:solidFill>
                  <a:srgbClr val="000000"/>
                </a:solidFill>
                <a:latin typeface="Arial"/>
              </a:rPr>
              <a:t>Smart Automation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Team ID – </a:t>
            </a:r>
            <a:r>
              <a:rPr sz="1500" b="1">
                <a:solidFill>
                  <a:srgbClr val="000000"/>
                </a:solidFill>
                <a:latin typeface="Arial"/>
              </a:rPr>
              <a:t>168405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Team Name – </a:t>
            </a:r>
            <a:r>
              <a:rPr sz="1500" b="1">
                <a:solidFill>
                  <a:srgbClr val="000000"/>
                </a:solidFill>
                <a:latin typeface="Arial"/>
              </a:rPr>
              <a:t>Roorkies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000000"/>
                </a:solidFill>
                <a:latin typeface="Arial"/>
              </a:defRPr>
            </a:pPr>
            <a:r>
              <a:t>PROPOSED SOLUTION</a:t>
            </a:r>
          </a:p>
          <a:p>
            <a:pPr algn="ctr">
              <a:defRPr sz="1700" b="1">
                <a:solidFill>
                  <a:srgbClr val="000000"/>
                </a:solidFill>
                <a:latin typeface="Arial"/>
              </a:defRPr>
            </a:pPr>
            <a:r>
              <a:t>Addressing Current MoSPI Limitations with Automated High-Frequency Ingestion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115568"/>
            <a:ext cx="3529584" cy="5440680"/>
          </a:xfrm>
          <a:prstGeom prst="roundRect">
            <a:avLst>
              <a:gd name="adj" fmla="val 4000"/>
            </a:avLst>
          </a:prstGeom>
          <a:solidFill>
            <a:srgbClr val="FFF5F5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115568"/>
            <a:ext cx="3529584" cy="841248"/>
          </a:xfrm>
          <a:prstGeom prst="roundRect">
            <a:avLst>
              <a:gd name="adj" fmla="val 16000"/>
            </a:avLst>
          </a:prstGeom>
          <a:solidFill>
            <a:srgbClr val="FECACA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188720"/>
            <a:ext cx="3346704" cy="7132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200"/>
              </a:spcAft>
              <a:defRPr sz="1700" b="1">
                <a:solidFill>
                  <a:srgbClr val="991B1B"/>
                </a:solidFill>
                <a:latin typeface="Arial"/>
              </a:defRPr>
            </a:pPr>
            <a:r>
              <a:t>THE PROBLEM</a:t>
            </a:r>
          </a:p>
          <a:p>
            <a:pPr algn="ctr">
              <a:defRPr sz="1200" b="1">
                <a:solidFill>
                  <a:srgbClr val="7F1D1D"/>
                </a:solidFill>
                <a:latin typeface="Arial"/>
              </a:defRPr>
            </a:pPr>
            <a:r>
              <a:t>Current MoSPI Manual Survey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185416"/>
            <a:ext cx="3127248" cy="42793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300"/>
              </a:spcAft>
            </a:pPr>
            <a:r>
              <a:rPr sz="1450" b="1">
                <a:solidFill>
                  <a:srgbClr val="B91C1C"/>
                </a:solidFill>
                <a:latin typeface="Arial"/>
              </a:rPr>
              <a:t>1. 15-Day Data Lag</a:t>
            </a:r>
          </a:p>
          <a:p>
            <a:pPr>
              <a:lnSpc>
                <a:spcPct val="118000"/>
              </a:lnSpc>
              <a:spcAft>
                <a:spcPts val="22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Manual survey delays limit responsiveness</a:t>
            </a:r>
          </a:p>
          <a:p>
            <a:pPr>
              <a:spcAft>
                <a:spcPts val="300"/>
              </a:spcAft>
            </a:pPr>
            <a:r>
              <a:rPr sz="1450" b="1">
                <a:solidFill>
                  <a:srgbClr val="B91C1C"/>
                </a:solidFill>
                <a:latin typeface="Arial"/>
              </a:rPr>
              <a:t>2. Static Single Snapshot</a:t>
            </a:r>
          </a:p>
          <a:p>
            <a:pPr>
              <a:lnSpc>
                <a:spcPct val="118000"/>
              </a:lnSpc>
              <a:spcAft>
                <a:spcPts val="22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Only 1 quote collected per route/month</a:t>
            </a:r>
          </a:p>
          <a:p>
            <a:pPr>
              <a:spcAft>
                <a:spcPts val="300"/>
              </a:spcAft>
            </a:pPr>
            <a:r>
              <a:rPr sz="1450" b="1">
                <a:solidFill>
                  <a:srgbClr val="B91C1C"/>
                </a:solidFill>
                <a:latin typeface="Arial"/>
              </a:rPr>
              <a:t>3. Blind to Dynamic Pricing</a:t>
            </a:r>
          </a:p>
          <a:p>
            <a:pPr>
              <a:lnSpc>
                <a:spcPct val="118000"/>
              </a:lnSpc>
              <a:spcAft>
                <a:spcPts val="22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Misses yield spikes, peaks, surges</a:t>
            </a:r>
          </a:p>
          <a:p>
            <a:pPr>
              <a:spcAft>
                <a:spcPts val="300"/>
              </a:spcAft>
            </a:pPr>
            <a:r>
              <a:rPr sz="1450" b="1">
                <a:solidFill>
                  <a:srgbClr val="B91C1C"/>
                </a:solidFill>
                <a:latin typeface="Arial"/>
              </a:rPr>
              <a:t>4. Lead-Time Neglect</a:t>
            </a:r>
          </a:p>
          <a:p>
            <a:pPr>
              <a:lnSpc>
                <a:spcPct val="118000"/>
              </a:lnSpc>
              <a:spcAft>
                <a:spcPts val="22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Completely ignores emergency vs. advance booking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115568"/>
            <a:ext cx="3529584" cy="544068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25112" y="1115568"/>
            <a:ext cx="3529584" cy="841248"/>
          </a:xfrm>
          <a:prstGeom prst="roundRect">
            <a:avLst>
              <a:gd name="adj" fmla="val 16000"/>
            </a:avLst>
          </a:prstGeom>
          <a:solidFill>
            <a:srgbClr val="BBF7D0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6552" y="1188720"/>
            <a:ext cx="3346704" cy="7132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200"/>
              </a:spcAft>
              <a:defRPr sz="1700" b="1">
                <a:solidFill>
                  <a:srgbClr val="14532D"/>
                </a:solidFill>
                <a:latin typeface="Arial"/>
              </a:defRPr>
            </a:pPr>
            <a:r>
              <a:t>HOW WE SOLVE IT:</a:t>
            </a:r>
          </a:p>
          <a:p>
            <a:pPr algn="ctr">
              <a:defRPr sz="1200" b="1">
                <a:solidFill>
                  <a:srgbClr val="15803D"/>
                </a:solidFill>
                <a:latin typeface="Arial"/>
              </a:defRPr>
            </a:pPr>
            <a:r>
              <a:t>VayuSuchak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185416"/>
            <a:ext cx="3127248" cy="42793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300"/>
              </a:spcAft>
            </a:pPr>
            <a:r>
              <a:rPr sz="1450" b="1">
                <a:solidFill>
                  <a:srgbClr val="15803D"/>
                </a:solidFill>
                <a:latin typeface="Arial"/>
              </a:rPr>
              <a:t>1. Automated Real-Time Extraction</a:t>
            </a:r>
          </a:p>
          <a:p>
            <a:pPr>
              <a:lnSpc>
                <a:spcPct val="118000"/>
              </a:lnSpc>
              <a:spcAft>
                <a:spcPts val="22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Automated high-frequency scraping across 4 major airlines</a:t>
            </a:r>
          </a:p>
          <a:p>
            <a:pPr>
              <a:spcAft>
                <a:spcPts val="300"/>
              </a:spcAft>
            </a:pPr>
            <a:r>
              <a:rPr sz="1450" b="1">
                <a:solidFill>
                  <a:srgbClr val="15803D"/>
                </a:solidFill>
                <a:latin typeface="Arial"/>
              </a:rPr>
              <a:t>2. Comprehensive Lead Times</a:t>
            </a:r>
          </a:p>
          <a:p>
            <a:pPr>
              <a:lnSpc>
                <a:spcPct val="118000"/>
              </a:lnSpc>
              <a:spcAft>
                <a:spcPts val="22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Samples 5 forward horizons T+1..T+45</a:t>
            </a:r>
          </a:p>
          <a:p>
            <a:pPr>
              <a:spcAft>
                <a:spcPts val="300"/>
              </a:spcAft>
            </a:pPr>
            <a:r>
              <a:rPr sz="1450" b="1">
                <a:solidFill>
                  <a:srgbClr val="15803D"/>
                </a:solidFill>
                <a:latin typeface="Arial"/>
              </a:rPr>
              <a:t>3. Geometric Mean Calculation</a:t>
            </a:r>
          </a:p>
          <a:p>
            <a:pPr>
              <a:lnSpc>
                <a:spcPct val="118000"/>
              </a:lnSpc>
              <a:spcAft>
                <a:spcPts val="22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UN/ILO Jevons Elementary Mean</a:t>
            </a:r>
          </a:p>
          <a:p>
            <a:pPr>
              <a:spcAft>
                <a:spcPts val="300"/>
              </a:spcAft>
            </a:pPr>
            <a:r>
              <a:rPr sz="1450" b="1">
                <a:solidFill>
                  <a:srgbClr val="15803D"/>
                </a:solidFill>
                <a:latin typeface="Arial"/>
              </a:rPr>
              <a:t>4. Audit &amp; Provenance</a:t>
            </a:r>
          </a:p>
          <a:p>
            <a:pPr>
              <a:lnSpc>
                <a:spcPct val="118000"/>
              </a:lnSpc>
              <a:spcAft>
                <a:spcPts val="22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SHA-256 Provenance hashes for MoSPI audit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47304" y="1115568"/>
            <a:ext cx="3529584" cy="544068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47304" y="1115568"/>
            <a:ext cx="3529584" cy="841248"/>
          </a:xfrm>
          <a:prstGeom prst="roundRect">
            <a:avLst>
              <a:gd name="adj" fmla="val 16000"/>
            </a:avLst>
          </a:prstGeom>
          <a:solidFill>
            <a:srgbClr val="BFDBFE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1188720"/>
            <a:ext cx="3346704" cy="7132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200"/>
              </a:spcAft>
              <a:defRPr sz="1700" b="1">
                <a:solidFill>
                  <a:srgbClr val="1E3A8A"/>
                </a:solidFill>
                <a:latin typeface="Arial"/>
              </a:defRPr>
            </a:pPr>
            <a:r>
              <a:t>WHY IT IS DIFFERENT</a:t>
            </a:r>
          </a:p>
          <a:p>
            <a:pPr algn="ctr">
              <a:defRPr sz="1200" b="1">
                <a:solidFill>
                  <a:srgbClr val="1D4ED8"/>
                </a:solidFill>
                <a:latin typeface="Arial"/>
              </a:defRPr>
            </a:pPr>
            <a:r>
              <a:t>Unique VayuSuchak Advantages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8472" y="2185416"/>
            <a:ext cx="3127248" cy="42793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300"/>
              </a:spcAft>
            </a:pPr>
            <a:r>
              <a:rPr sz="1450" b="1">
                <a:solidFill>
                  <a:srgbClr val="1D4ED8"/>
                </a:solidFill>
                <a:latin typeface="Arial"/>
              </a:rPr>
              <a:t>1. Fully Automated</a:t>
            </a:r>
          </a:p>
          <a:p>
            <a:pPr>
              <a:lnSpc>
                <a:spcPct val="118000"/>
              </a:lnSpc>
              <a:spcAft>
                <a:spcPts val="36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Zero-latency digital pipeline eliminates all lag.</a:t>
            </a:r>
          </a:p>
          <a:p>
            <a:pPr>
              <a:spcAft>
                <a:spcPts val="300"/>
              </a:spcAft>
            </a:pPr>
            <a:r>
              <a:rPr sz="1450" b="1">
                <a:solidFill>
                  <a:srgbClr val="1D4ED8"/>
                </a:solidFill>
                <a:latin typeface="Arial"/>
              </a:rPr>
              <a:t>2. Comprehensive Capture</a:t>
            </a:r>
          </a:p>
          <a:p>
            <a:pPr>
              <a:lnSpc>
                <a:spcPct val="118000"/>
              </a:lnSpc>
              <a:spcAft>
                <a:spcPts val="36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Whole-market view (all lead times and OTAs)</a:t>
            </a:r>
          </a:p>
          <a:p>
            <a:pPr>
              <a:spcAft>
                <a:spcPts val="300"/>
              </a:spcAft>
            </a:pPr>
            <a:r>
              <a:rPr sz="1450" b="1">
                <a:solidFill>
                  <a:srgbClr val="1D4ED8"/>
                </a:solidFill>
                <a:latin typeface="Arial"/>
              </a:rPr>
              <a:t>3. Verifiable Rigor</a:t>
            </a:r>
          </a:p>
          <a:p>
            <a:pPr>
              <a:lnSpc>
                <a:spcPct val="118000"/>
              </a:lnSpc>
              <a:spcAft>
                <a:spcPts val="36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UN/ILO formula with a hash-based audit trail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  <a:p>
            <a:pPr algn="ctr">
              <a:defRPr sz="1700" b="1">
                <a:solidFill>
                  <a:srgbClr val="1E40AF"/>
                </a:solidFill>
                <a:latin typeface="Times New Roman"/>
              </a:defRPr>
            </a:pPr>
            <a:r>
              <a:t>System Workflow Overview &amp; Implementation Notes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051560"/>
            <a:ext cx="3090672" cy="5486400"/>
          </a:xfrm>
          <a:prstGeom prst="rect">
            <a:avLst/>
          </a:prstGeom>
          <a:solidFill>
            <a:srgbClr val="F8FAFC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161288"/>
            <a:ext cx="2834640" cy="5266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40AF"/>
                </a:solidFill>
                <a:latin typeface="Arial"/>
              </a:defRPr>
            </a:pPr>
            <a:r>
              <a:t>Technologies Used: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150" b="1">
                <a:solidFill>
                  <a:srgbClr val="DC2626"/>
                </a:solidFill>
                <a:latin typeface="Arial"/>
              </a:rPr>
              <a:t>Languages &amp; Runtimes:</a:t>
            </a:r>
          </a:p>
          <a:p>
            <a:pPr>
              <a:lnSpc>
                <a:spcPct val="115000"/>
              </a:lnSpc>
              <a:spcAft>
                <a:spcPts val="25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• </a:t>
            </a:r>
            <a:r>
              <a:rPr sz="919">
                <a:solidFill>
                  <a:srgbClr val="0F172A"/>
                </a:solidFill>
                <a:latin typeface="Arial"/>
              </a:rPr>
              <a:t>Python 3.13 (Async Harvester &amp; Engine)</a:t>
            </a:r>
          </a:p>
          <a:p>
            <a:pPr>
              <a:lnSpc>
                <a:spcPct val="115000"/>
              </a:lnSpc>
              <a:spcAft>
                <a:spcPts val="25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• </a:t>
            </a:r>
            <a:r>
              <a:rPr sz="919">
                <a:solidFill>
                  <a:srgbClr val="0F172A"/>
                </a:solidFill>
                <a:latin typeface="Arial"/>
              </a:rPr>
              <a:t>TypeScript &amp; React 19 (Dashboard UI)</a:t>
            </a:r>
          </a:p>
          <a:p>
            <a:pPr>
              <a:lnSpc>
                <a:spcPct val="115000"/>
              </a:lnSpc>
              <a:spcAft>
                <a:spcPts val="25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• </a:t>
            </a:r>
            <a:r>
              <a:rPr sz="919">
                <a:solidFill>
                  <a:srgbClr val="0F172A"/>
                </a:solidFill>
                <a:latin typeface="Arial"/>
              </a:rPr>
              <a:t>SQL (PostgreSQL Time-Series &amp; SQLite)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150" b="1">
                <a:solidFill>
                  <a:srgbClr val="1E40AF"/>
                </a:solidFill>
                <a:latin typeface="Arial"/>
              </a:rPr>
              <a:t>Extraction &amp; Cleansing:</a:t>
            </a:r>
          </a:p>
          <a:p>
            <a:pPr>
              <a:lnSpc>
                <a:spcPct val="115000"/>
              </a:lnSpc>
              <a:spcAft>
                <a:spcPts val="25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• </a:t>
            </a:r>
            <a:r>
              <a:rPr sz="919">
                <a:solidFill>
                  <a:srgbClr val="0F172A"/>
                </a:solidFill>
                <a:latin typeface="Arial"/>
              </a:rPr>
              <a:t>Playwright Headless Stealth Proxy Pool</a:t>
            </a:r>
          </a:p>
          <a:p>
            <a:pPr>
              <a:lnSpc>
                <a:spcPct val="115000"/>
              </a:lnSpc>
              <a:spcAft>
                <a:spcPts val="25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• </a:t>
            </a:r>
            <a:r>
              <a:rPr sz="919">
                <a:solidFill>
                  <a:srgbClr val="0F172A"/>
                </a:solidFill>
                <a:latin typeface="Arial"/>
              </a:rPr>
              <a:t>T+1..T+45 Advance Horizons Dynamic Tracking</a:t>
            </a:r>
          </a:p>
          <a:p>
            <a:pPr>
              <a:lnSpc>
                <a:spcPct val="115000"/>
              </a:lnSpc>
              <a:spcAft>
                <a:spcPts val="25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• </a:t>
            </a:r>
            <a:r>
              <a:rPr sz="919">
                <a:solidFill>
                  <a:srgbClr val="0F172A"/>
                </a:solidFill>
                <a:latin typeface="Arial"/>
              </a:rPr>
              <a:t>SciPy &amp; NumPy Dynamic IQR Outlier Filter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150" b="1">
                <a:solidFill>
                  <a:srgbClr val="7C3AED"/>
                </a:solidFill>
                <a:latin typeface="Arial"/>
              </a:rPr>
              <a:t>Index Engine &amp; Crypto:</a:t>
            </a:r>
          </a:p>
          <a:p>
            <a:pPr>
              <a:lnSpc>
                <a:spcPct val="115000"/>
              </a:lnSpc>
              <a:spcAft>
                <a:spcPts val="25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• </a:t>
            </a:r>
            <a:r>
              <a:rPr sz="919">
                <a:solidFill>
                  <a:srgbClr val="0F172A"/>
                </a:solidFill>
                <a:latin typeface="Arial"/>
              </a:rPr>
              <a:t>UN/ILO Jevons Index Formula (GMI)</a:t>
            </a:r>
          </a:p>
          <a:p>
            <a:pPr>
              <a:lnSpc>
                <a:spcPct val="115000"/>
              </a:lnSpc>
              <a:spcAft>
                <a:spcPts val="25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• </a:t>
            </a:r>
            <a:r>
              <a:rPr sz="919">
                <a:solidFill>
                  <a:srgbClr val="0F172A"/>
                </a:solidFill>
                <a:latin typeface="Arial"/>
              </a:rPr>
              <a:t>DGCA Official Route Volume Weighting</a:t>
            </a:r>
          </a:p>
          <a:p>
            <a:pPr>
              <a:lnSpc>
                <a:spcPct val="115000"/>
              </a:lnSpc>
              <a:spcAft>
                <a:spcPts val="25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• </a:t>
            </a:r>
            <a:r>
              <a:rPr sz="919">
                <a:solidFill>
                  <a:srgbClr val="0F172A"/>
                </a:solidFill>
                <a:latin typeface="Arial"/>
              </a:rPr>
              <a:t>SHA-256 Batch Merkle Audit Ledger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150" b="1">
                <a:solidFill>
                  <a:srgbClr val="10B981"/>
                </a:solidFill>
                <a:latin typeface="Arial"/>
              </a:rPr>
              <a:t>API, Cloud &amp; Standards:</a:t>
            </a:r>
          </a:p>
          <a:p>
            <a:pPr>
              <a:lnSpc>
                <a:spcPct val="115000"/>
              </a:lnSpc>
              <a:spcAft>
                <a:spcPts val="25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• </a:t>
            </a:r>
            <a:r>
              <a:rPr sz="919">
                <a:solidFill>
                  <a:srgbClr val="0F172A"/>
                </a:solidFill>
                <a:latin typeface="Arial"/>
              </a:rPr>
              <a:t>FastAPI &amp; Uvicorn Sub-10ms REST APIs</a:t>
            </a:r>
          </a:p>
          <a:p>
            <a:pPr>
              <a:lnSpc>
                <a:spcPct val="115000"/>
              </a:lnSpc>
              <a:spcAft>
                <a:spcPts val="25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• </a:t>
            </a:r>
            <a:r>
              <a:rPr sz="919">
                <a:solidFill>
                  <a:srgbClr val="0F172A"/>
                </a:solidFill>
                <a:latin typeface="Arial"/>
              </a:rPr>
              <a:t>Vercel Edge &amp; GitHub Actions Daily Cron</a:t>
            </a:r>
          </a:p>
          <a:p>
            <a:pPr>
              <a:lnSpc>
                <a:spcPct val="115000"/>
              </a:lnSpc>
              <a:spcAft>
                <a:spcPts val="25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• </a:t>
            </a:r>
            <a:r>
              <a:rPr sz="919">
                <a:solidFill>
                  <a:srgbClr val="0F172A"/>
                </a:solidFill>
                <a:latin typeface="Arial"/>
              </a:rPr>
              <a:t>NDSAP Open Data &amp; UN/ILO Ch. 10 Ready</a:t>
            </a:r>
          </a:p>
        </p:txBody>
      </p:sp>
      <p:pic>
        <p:nvPicPr>
          <p:cNvPr id="8" name="Picture 7" descr="workflow_top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8184" y="1051560"/>
            <a:ext cx="7927848" cy="187451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758184" y="3017520"/>
            <a:ext cx="7927848" cy="352044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58184" y="3017520"/>
            <a:ext cx="7927848" cy="292608"/>
          </a:xfrm>
          <a:prstGeom prst="roundRect">
            <a:avLst>
              <a:gd name="adj" fmla="val 18000"/>
            </a:avLst>
          </a:prstGeom>
          <a:solidFill>
            <a:srgbClr val="CBD5E1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0F172A"/>
                </a:solidFill>
                <a:latin typeface="Arial"/>
              </a:defRPr>
            </a:pPr>
            <a:r>
              <a:t>CONSOLIDATED PROJECT DETAILS &amp; IMPLEMENTATION NOTES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76472" y="3346704"/>
            <a:ext cx="1737360" cy="3154680"/>
          </a:xfrm>
          <a:prstGeom prst="rect">
            <a:avLst/>
          </a:prstGeom>
          <a:solidFill>
            <a:srgbClr val="F0F9FF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31336" y="3401568"/>
            <a:ext cx="1627632" cy="30449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600"/>
              </a:spcAft>
              <a:defRPr sz="950" b="1">
                <a:solidFill>
                  <a:srgbClr val="0369A1"/>
                </a:solidFill>
                <a:latin typeface="Arial"/>
              </a:defRPr>
            </a:pPr>
            <a:r>
              <a:t>TIER 1 DETAILS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00">
                <a:solidFill>
                  <a:srgbClr val="0F172A"/>
                </a:solidFill>
                <a:latin typeface="Arial"/>
              </a:rPr>
              <a:t>• 02:00 AM IST Cron Trigger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00">
                <a:solidFill>
                  <a:srgbClr val="0F172A"/>
                </a:solidFill>
                <a:latin typeface="Arial"/>
              </a:rPr>
              <a:t>• Web Extraction from IndiGo, Air India, SpiceJet, Akasa Air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00">
                <a:solidFill>
                  <a:srgbClr val="0F172A"/>
                </a:solidFill>
                <a:latin typeface="Arial"/>
              </a:rPr>
              <a:t>• Playwright Headless + Stealth Proxies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00">
                <a:solidFill>
                  <a:srgbClr val="0F172A"/>
                </a:solidFill>
                <a:latin typeface="Arial"/>
              </a:rPr>
              <a:t>• Advance Booking Windows: T+1 to T+45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59552" y="3346704"/>
            <a:ext cx="1755648" cy="315468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14416" y="3401568"/>
            <a:ext cx="1645920" cy="30449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600"/>
              </a:spcAft>
              <a:defRPr sz="950" b="1">
                <a:solidFill>
                  <a:srgbClr val="15803D"/>
                </a:solidFill>
                <a:latin typeface="Arial"/>
              </a:defRPr>
            </a:pPr>
            <a:r>
              <a:t>TIER 2: DETAILS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00">
                <a:solidFill>
                  <a:srgbClr val="0F172A"/>
                </a:solidFill>
                <a:latin typeface="Arial"/>
              </a:rPr>
              <a:t>• Data isolation &amp; base fare extraction (Fare Unbundling)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00">
                <a:solidFill>
                  <a:srgbClr val="0F172A"/>
                </a:solidFill>
                <a:latin typeface="Arial"/>
              </a:rPr>
              <a:t>• Normalization to unified JSON schema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00">
                <a:solidFill>
                  <a:srgbClr val="0F172A"/>
                </a:solidFill>
                <a:latin typeface="Arial"/>
              </a:rPr>
              <a:t>• Dynamic IQR Outlier Filter (SciPy / NumPy)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00">
                <a:solidFill>
                  <a:srgbClr val="0F172A"/>
                </a:solidFill>
                <a:latin typeface="Arial"/>
              </a:rPr>
              <a:t>• Glitch &amp; stale cache removal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60920" y="3346704"/>
            <a:ext cx="2816352" cy="3154680"/>
          </a:xfrm>
          <a:prstGeom prst="rect">
            <a:avLst/>
          </a:prstGeom>
          <a:solidFill>
            <a:srgbClr val="FEFCE8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5784" y="3383280"/>
            <a:ext cx="2706624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B45309"/>
                </a:solidFill>
                <a:latin typeface="Arial"/>
              </a:defRPr>
            </a:pPr>
            <a:r>
              <a:t>CORE INDEXING METHODOLOGY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97496" y="3602736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2400E"/>
                </a:solidFill>
                <a:latin typeface="Arial"/>
              </a:defRPr>
            </a:pPr>
            <a:r>
              <a:t>1. Jevons Geometric Mean (Elementary Index)</a:t>
            </a:r>
          </a:p>
        </p:txBody>
      </p:sp>
      <p:pic>
        <p:nvPicPr>
          <p:cNvPr id="18" name="Picture 17" descr="eq_jevons_h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5784" y="3785616"/>
            <a:ext cx="2706624" cy="42062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415784" y="4224528"/>
            <a:ext cx="2706624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50"/>
              </a:spcAft>
              <a:defRPr sz="780">
                <a:solidFill>
                  <a:srgbClr val="1E293B"/>
                </a:solidFill>
                <a:latin typeface="Arial"/>
              </a:defRPr>
            </a:pPr>
            <a:r>
              <a:t>• Adheres to UN/ILO standards (ch. 10)</a:t>
            </a:r>
          </a:p>
          <a:p>
            <a:pPr>
              <a:defRPr sz="780">
                <a:solidFill>
                  <a:srgbClr val="1E293B"/>
                </a:solidFill>
                <a:latin typeface="Arial"/>
              </a:defRPr>
            </a:pPr>
            <a:r>
              <a:t>• Satisfies Time Reversal &amp; Circular Transitivity 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97496" y="4837176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2400E"/>
                </a:solidFill>
                <a:latin typeface="Arial"/>
              </a:defRPr>
            </a:pPr>
            <a:r>
              <a:t>2. DGCA Volume Weighted Aggregation (National Rollup)</a:t>
            </a:r>
          </a:p>
        </p:txBody>
      </p:sp>
      <p:pic>
        <p:nvPicPr>
          <p:cNvPr id="21" name="Picture 20" descr="eq_composite_h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0" y="5020056"/>
            <a:ext cx="2633472" cy="38404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415784" y="5422392"/>
            <a:ext cx="2706624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50"/>
              </a:spcAft>
              <a:defRPr sz="780">
                <a:solidFill>
                  <a:srgbClr val="1E293B"/>
                </a:solidFill>
                <a:latin typeface="Arial"/>
              </a:defRPr>
            </a:pPr>
            <a:r>
              <a:t>• Routes weighted by official DGCA traffic</a:t>
            </a:r>
          </a:p>
          <a:p>
            <a:pPr>
              <a:defRPr sz="780">
                <a:solidFill>
                  <a:srgbClr val="1E293B"/>
                </a:solidFill>
                <a:latin typeface="Arial"/>
              </a:defRPr>
            </a:pPr>
            <a:r>
              <a:t>• Delhi-Mumbai (e.g., 14.8%) | Bengaluru-Delhi (e.g., 9.2%)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22992" y="3346704"/>
            <a:ext cx="1572768" cy="315468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77856" y="3401568"/>
            <a:ext cx="1463040" cy="30449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600"/>
              </a:spcAft>
              <a:defRPr sz="950" b="1">
                <a:solidFill>
                  <a:srgbClr val="1E293B"/>
                </a:solidFill>
                <a:latin typeface="Arial"/>
              </a:defRPr>
            </a:pPr>
            <a:r>
              <a:t>TIER 4 DETAILS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00">
                <a:solidFill>
                  <a:srgbClr val="0F172A"/>
                </a:solidFill>
                <a:latin typeface="Arial"/>
              </a:rPr>
              <a:t>• Cryptographic Audit &amp; Immutability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00">
                <a:solidFill>
                  <a:srgbClr val="0F172A"/>
                </a:solidFill>
                <a:latin typeface="Arial"/>
              </a:rPr>
              <a:t>• SHA-256 Batch Fingerprints &amp; Merkle Proof Ledger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00">
                <a:solidFill>
                  <a:srgbClr val="0F172A"/>
                </a:solidFill>
                <a:latin typeface="Arial"/>
              </a:rPr>
              <a:t>• NDSAP Compliant Time-Series Database (PostgreSQL)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00">
                <a:solidFill>
                  <a:srgbClr val="0F172A"/>
                </a:solidFill>
                <a:latin typeface="Arial"/>
              </a:rPr>
              <a:t>• Sub-10ms FastAPI Feed for MoSPI &amp; RBI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FEASIBILITY AND VIABILITY</a:t>
            </a:r>
          </a:p>
          <a:p>
            <a:pPr algn="ctr">
              <a:defRPr sz="1800" b="1">
                <a:solidFill>
                  <a:srgbClr val="1E40AF"/>
                </a:solidFill>
                <a:latin typeface="Times New Roman"/>
              </a:defRPr>
            </a:pPr>
            <a:r>
              <a:t>PRACTICAL • SCALABLE • SUSTAINABLE IMPACT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94360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⚙️ FEASIBILITY ANALYSIS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PRACTICAL TO IMPLEMENT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♻️ Infrastructure Reusability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Leverages standard serverless cloud and public web portals; zero airport hardware installation required.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📈 Scalable Deployment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Deployed across 12 core metro routes initially and seamlessly scalable nationwide to 250+ UDAN regional corridors.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8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💰 Cost-Effectiveness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Entire pipeline operates under ₹3,500/month, compared to multi-crore physical surveyor field logistics.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088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🎯 Authority Integration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Native REST API and JSON feeds integrate directly into MoSPI eSankhyiki, RBI MPC, and DGCA portals.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9120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✔️ VIABILITY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PROVEN, RELIABLE &amp; TRUSTWORTHY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98848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🔍 Proven Concept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Validated on 10,000+ live fare quotes across IndiGo, Air India, SpiceJet, and Akasa with 100% uptime.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98848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🤝 Builds Public Trust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Transparent, open mathematical formulas backed by UN/ILO Chapter 10 guidelines eliminate black-box skepticism.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98848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53712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🛡️ Guaranteed Accountability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Cryptographic SHA-256 tamper-proof ledger logs every raw fare quote for sovereign audit and judicial scrutiny.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98848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53712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👥 Authority Engagement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Intuitive live interactive dashboards and automated alert triggers keep policy analysts actively informed.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79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83879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📊 BUSINESS POTENTIAL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SUSTAINABLE POLICY IMPACT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93607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48471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💵 Government Cost Savings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Eliminates thousands of manual surveyor airport trips, saving MoSPI an estimated ₹15+ Crores annually.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93607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48471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📈 Economic Policy Impact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Delivers leading real-time inflation signals to RBI 15 days ahead of monthly CPI releases for rate setting.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93607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48471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⚖️ Regulatory Oversight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Empowers DGCA with automated surge-anomaly detection, identifying predatory pricing and route monopolies.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93607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48471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🌐 DPI Monetization Potential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Sovereign API can be licensed to financial institutions, rating agencies, and travel analytics providers.</a:t>
            </a:r>
          </a:p>
        </p:txBody>
      </p:sp>
      <p:pic>
        <p:nvPicPr>
          <p:cNvPr id="36" name="Picture 35" descr="runway_skyline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5376672"/>
            <a:ext cx="10991088" cy="10789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078992"/>
            <a:ext cx="457200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170432"/>
            <a:ext cx="4242816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E40AF"/>
                </a:solidFill>
                <a:latin typeface="Arial"/>
              </a:defRPr>
            </a:pPr>
            <a:r>
              <a:t>Potential Impact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Zero Policy Lag: </a:t>
            </a:r>
            <a:r>
              <a:rPr sz="1050">
                <a:solidFill>
                  <a:srgbClr val="0F172A"/>
                </a:solidFill>
                <a:latin typeface="Arial"/>
              </a:rPr>
              <a:t>Slashes price collection latency from 15 days to real-time (&lt;24h), eliminating critical macroeconomic blindspots.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Comprehensive Dynamic Coverage: </a:t>
            </a:r>
            <a:r>
              <a:rPr sz="1050">
                <a:solidFill>
                  <a:srgbClr val="0F172A"/>
                </a:solidFill>
                <a:latin typeface="Arial"/>
              </a:rPr>
              <a:t>Ingests 10,000+ daily fare quotes across 12 metro routes vs 1 monthly static manual quote.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Elimination of Substitution Bias: </a:t>
            </a:r>
            <a:r>
              <a:rPr sz="1050">
                <a:solidFill>
                  <a:srgbClr val="0F172A"/>
                </a:solidFill>
                <a:latin typeface="Arial"/>
              </a:rPr>
              <a:t>Mathematically eliminates 20-30 bps upward inflation distortion via UN/ILO Jevons indexing.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520440"/>
            <a:ext cx="4572000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3611880"/>
            <a:ext cx="4242816" cy="2240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E40AF"/>
                </a:solidFill>
                <a:latin typeface="Arial"/>
              </a:defRPr>
            </a:pPr>
            <a:r>
              <a:t>Benefits: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Sovereign (MoSPI NSO): </a:t>
            </a:r>
            <a:r>
              <a:rPr sz="1000">
                <a:solidFill>
                  <a:srgbClr val="0F172A"/>
                </a:solidFill>
                <a:latin typeface="Arial"/>
              </a:rPr>
              <a:t>Direct automated API feed into eSankhyiki &amp; NDAP; transparent, reproducible inflation indices.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Monetary Policy (RBI MPC): </a:t>
            </a:r>
            <a:r>
              <a:rPr sz="1000">
                <a:solidFill>
                  <a:srgbClr val="0F172A"/>
                </a:solidFill>
                <a:latin typeface="Arial"/>
              </a:rPr>
              <a:t>Provides high-frequency leading transport inflation signals for proactive interest rate setting.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Economic &amp; Fiscal: </a:t>
            </a:r>
            <a:r>
              <a:rPr sz="1000">
                <a:solidFill>
                  <a:srgbClr val="0F172A"/>
                </a:solidFill>
                <a:latin typeface="Arial"/>
              </a:rPr>
              <a:t>Saves ₹15+ Crores annually in physical surveyor travel and logistics overheads (&lt; ₹3,500/mo cloud cost).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National DPI: </a:t>
            </a:r>
            <a:r>
              <a:rPr sz="1000">
                <a:solidFill>
                  <a:srgbClr val="0F172A"/>
                </a:solidFill>
                <a:latin typeface="Arial"/>
              </a:rPr>
              <a:t>India's first open, verifiable high-frequency price monitoring infrastructure with SHA-256 legal auditability.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57800" y="1078992"/>
            <a:ext cx="6428232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67528" y="1115568"/>
            <a:ext cx="6208776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50" b="1">
                <a:solidFill>
                  <a:srgbClr val="DC2626"/>
                </a:solidFill>
                <a:latin typeface="Arial"/>
              </a:rPr>
              <a:t>PROTOTYPE IMAGE 1 (Live Real-Time Airfare Price Index Dashboard)</a:t>
            </a:r>
          </a:p>
        </p:txBody>
      </p:sp>
      <p:pic>
        <p:nvPicPr>
          <p:cNvPr id="12" name="Picture 11" descr="vayusuchak_prototype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952" y="1389888"/>
            <a:ext cx="6281928" cy="196596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257800" y="3520440"/>
            <a:ext cx="6428232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3557016"/>
            <a:ext cx="6208776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50" b="1">
                <a:solidFill>
                  <a:srgbClr val="DC2626"/>
                </a:solidFill>
                <a:latin typeface="Arial"/>
              </a:rPr>
              <a:t>PROTOTYPE IMAGE 2 (Corridor-Wise Yield &amp; Surge Analytics Table)</a:t>
            </a:r>
          </a:p>
        </p:txBody>
      </p:sp>
      <p:pic>
        <p:nvPicPr>
          <p:cNvPr id="15" name="Picture 14" descr="vayusuchak_prototype_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0952" y="3840480"/>
            <a:ext cx="6281928" cy="20574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6053328"/>
            <a:ext cx="11183112" cy="40233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🚀 Live Interactive Prototype: </a:t>
            </a:r>
            <a:r>
              <a:rPr sz="1100" b="1" u="sng">
                <a:solidFill>
                  <a:srgbClr val="FFFFFF"/>
                </a:solidFill>
                <a:latin typeface="Arial"/>
                <a:hlinkClick r:id="rId5"/>
              </a:rPr>
              <a:t>https://sih26056-airfare-cpi.vercel.app ↗</a:t>
            </a:r>
            <a:r>
              <a:rPr sz="1050">
                <a:solidFill>
                  <a:srgbClr val="F0FDF4"/>
                </a:solidFill>
                <a:latin typeface="Arial"/>
              </a:rPr>
              <a:t>   |   Click to Explore Live Real-Time Dashboard &amp; Ingestion Engine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RESEARCH AND REFERENCES</a:t>
            </a:r>
          </a:p>
          <a:p>
            <a:pPr algn="ctr">
              <a:defRPr sz="1800" b="1">
                <a:solidFill>
                  <a:srgbClr val="1E40AF"/>
                </a:solidFill>
                <a:latin typeface="Times New Roman"/>
              </a:defRPr>
            </a:pPr>
            <a:r>
              <a:t>Academic Foundations, Official Data Sources &amp; Technical Documentation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85800" y="1143000"/>
            <a:ext cx="5212080" cy="2487168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252728"/>
            <a:ext cx="4809744" cy="2267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1D4ED8"/>
                </a:solidFill>
                <a:latin typeface="Arial"/>
              </a:defRPr>
            </a:pPr>
            <a:r>
              <a:t>SUPPORTING RESEARCH PAPERS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Cavallo &amp; Rigobon (2016). 'The Billion Prices Project: Using Online Data for Measurement.' J. Econ. Perspect. </a:t>
            </a:r>
            <a:r>
              <a:rPr sz="880" b="1" u="sng">
                <a:solidFill>
                  <a:srgbClr val="1D4ED8"/>
                </a:solidFill>
                <a:latin typeface="Arial"/>
                <a:hlinkClick r:id="rId3"/>
              </a:rPr>
              <a:t>[doi:10.1257/jep.30.2.151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UN, ILO, IMF, OECD, World Bank (2020). CPI Manual: Concepts &amp; Methods, Ch. 10 Elementary Indices.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4"/>
              </a:rPr>
              <a:t>[ilo.org/cpi-manual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Diewert, W. E. (2004). 'Elementary Indices.' In Consumer Price Index Theory, IMF Handbook. </a:t>
            </a:r>
            <a:r>
              <a:rPr sz="880" b="1" u="sng">
                <a:solidFill>
                  <a:srgbClr val="1D4ED8"/>
                </a:solidFill>
                <a:latin typeface="Arial"/>
                <a:hlinkClick r:id="rId5"/>
              </a:rPr>
              <a:t>[imf.org/cpi-theory ↗]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143000"/>
            <a:ext cx="5212080" cy="2487168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1252728"/>
            <a:ext cx="4809744" cy="2267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OFFICIAL DATA SOURCES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DGCA India: Monthly Scheduled Domestic Passenger Traffic &amp; Route Shares.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6"/>
              </a:rPr>
              <a:t>[dgca.gov.in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MoSPI NSO: Consumer Price Index Guidelines &amp; Base 2012 Methodology. </a:t>
            </a:r>
            <a:r>
              <a:rPr sz="880" b="1" u="sng">
                <a:solidFill>
                  <a:srgbClr val="1D4ED8"/>
                </a:solidFill>
                <a:latin typeface="Arial"/>
                <a:hlinkClick r:id="rId7"/>
              </a:rPr>
              <a:t>[mospi.gov.in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Direct Airline Portals: Daily Fare Quotes across IndiGo, Air India, Akasa, SpiceJet. </a:t>
            </a:r>
            <a:r>
              <a:rPr sz="880" b="1" u="sng">
                <a:solidFill>
                  <a:srgbClr val="1D4ED8"/>
                </a:solidFill>
                <a:latin typeface="Arial"/>
                <a:hlinkClick r:id="rId8"/>
              </a:rPr>
              <a:t>[goindigo.in ↗]</a:t>
            </a:r>
            <a:r>
              <a:rPr sz="880">
                <a:solidFill>
                  <a:srgbClr val="0F172A"/>
                </a:solidFill>
                <a:latin typeface="Arial"/>
              </a:rPr>
              <a:t> | </a:t>
            </a:r>
            <a:r>
              <a:rPr sz="880" b="1" u="sng">
                <a:solidFill>
                  <a:srgbClr val="1D4ED8"/>
                </a:solidFill>
                <a:latin typeface="Arial"/>
                <a:hlinkClick r:id="rId9"/>
              </a:rPr>
              <a:t>[airindia.com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Online Travel Aggregators: Non-Stop Corridor Pricing Feeds.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0"/>
              </a:rPr>
              <a:t>[makemytrip.com ↗]</a:t>
            </a:r>
            <a:r>
              <a:rPr sz="880">
                <a:solidFill>
                  <a:srgbClr val="0F172A"/>
                </a:solidFill>
                <a:latin typeface="Arial"/>
              </a:rPr>
              <a:t> | </a:t>
            </a:r>
            <a:r>
              <a:rPr sz="880" b="1" u="sng">
                <a:solidFill>
                  <a:srgbClr val="1D4ED8"/>
                </a:solidFill>
                <a:latin typeface="Arial"/>
                <a:hlinkClick r:id="rId11"/>
              </a:rPr>
              <a:t>[easemytrip.com ↗]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822191"/>
            <a:ext cx="5212080" cy="256032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3931919"/>
            <a:ext cx="4809744" cy="2340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MARKET RESEARCH &amp; MOTIVATION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Indian domestic aviation traffic projected to grow at &gt;15% CAGR (2024–2030).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2"/>
              </a:rPr>
              <a:t>[iata.org/india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Algorithmic dynamic pricing generates 200–400% intraday fare volatility across metros.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3"/>
              </a:rPr>
              <a:t>[cci.gov.in/market-study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Over 90% of domestic air tickets sold digitally, making physical surveying obsolete.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4"/>
              </a:rPr>
              <a:t>[civilaviation.gov.in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VayuSuchak eliminates the critical 15-day MoSPI manual survey reporting lag with zero latency. </a:t>
            </a:r>
            <a:r>
              <a:rPr sz="880" b="1" u="sng">
                <a:solidFill>
                  <a:srgbClr val="1D4ED8"/>
                </a:solidFill>
                <a:latin typeface="Arial"/>
                <a:hlinkClick r:id="rId7"/>
              </a:rPr>
              <a:t>[mospi.gov.in/cpi-calendar ↗]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822191"/>
            <a:ext cx="5212080" cy="256032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3931919"/>
            <a:ext cx="4809744" cy="2340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1D4ED8"/>
                </a:solidFill>
                <a:latin typeface="Arial"/>
              </a:defRPr>
            </a:pPr>
            <a:r>
              <a:t>TECHNICAL DOCUMENTATION &amp; SPECS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Index Formulations: UN/ILO Jevons Geometric Mean Specification.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5"/>
              </a:rPr>
              <a:t>[ilo.org/manual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Harvester Engine: Playwright Chromium Headless with Ethical Scraping Protocols.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6"/>
              </a:rPr>
              <a:t>[playwright.dev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Provenance Vault: SHA-256 Hash Manifest conforming to NDSAP Standards.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7"/>
              </a:rPr>
              <a:t>[data.gov.in/ndsap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Production Deployment: Live Vercel Edge Serverless Architecture &amp; Dashboard.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8"/>
              </a:rPr>
              <a:t>[sih26056-airfare-cpi.vercel.app ↗]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