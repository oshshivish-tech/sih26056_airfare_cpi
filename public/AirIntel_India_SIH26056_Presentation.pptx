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05840"/>
            <a:ext cx="1118311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031533"/>
            <a:ext cx="10378440" cy="442917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5596128"/>
            <a:ext cx="11183112" cy="987552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50992"/>
            <a:ext cx="2612898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80" b="1">
                <a:solidFill>
                  <a:srgbClr val="DC2626"/>
                </a:solidFill>
                <a:latin typeface="Arial"/>
              </a:defRPr>
            </a:pPr>
            <a:r>
              <a:t>Languages &amp; Runtimes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Python 3.13 (Async Harvester &amp; Engine)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TypeScript &amp; React 19 (Dashboard UI)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SQL (PostgreSQL Time-Series &amp; SQLite)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138" y="5650992"/>
            <a:ext cx="2612898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80" b="1">
                <a:solidFill>
                  <a:srgbClr val="1E40AF"/>
                </a:solidFill>
                <a:latin typeface="Arial"/>
              </a:defRPr>
            </a:pPr>
            <a:r>
              <a:t>Extraction &amp; Cleansing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Playwright Headless Stealth Crawlers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T+1..T+45 Advance Booking Horizons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SciPy &amp; NumPy Dynamic IQR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6" y="5650992"/>
            <a:ext cx="2612898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80" b="1">
                <a:solidFill>
                  <a:srgbClr val="7C3AED"/>
                </a:solidFill>
                <a:latin typeface="Arial"/>
              </a:defRPr>
            </a:pPr>
            <a:r>
              <a:t>Index Engine &amp; Crypto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UN/ILO Jevons Geometric Mean (GMI)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DGCA Official Corridor Volume Weights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SHA-256 Batch Merkle Audit Ledger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8814" y="5650992"/>
            <a:ext cx="2612898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80" b="1">
                <a:solidFill>
                  <a:srgbClr val="10B981"/>
                </a:solidFill>
                <a:latin typeface="Arial"/>
              </a:defRPr>
            </a:pPr>
            <a:r>
              <a:t>API, Cloud &amp; Standards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FastAPI &amp; Uvicorn Sub-10ms REST APIs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Vercel Edge &amp; GitHub Actions Daily Cron</a:t>
            </a:r>
          </a:p>
          <a:p>
            <a:pPr>
              <a:spcAft>
                <a:spcPts val="150"/>
              </a:spcAft>
            </a:pPr>
            <a:r>
              <a:rPr sz="819">
                <a:solidFill>
                  <a:srgbClr val="0F172A"/>
                </a:solidFill>
                <a:latin typeface="Arial"/>
              </a:rPr>
              <a:t>• NDSAP Open Data &amp; UN/ILO Ch. 10 Ready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