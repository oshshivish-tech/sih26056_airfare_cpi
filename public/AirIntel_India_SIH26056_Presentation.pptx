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25880"/>
            <a:ext cx="681228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50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0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700" b="1">
                <a:solidFill>
                  <a:srgbClr val="000000"/>
                </a:solidFill>
                <a:latin typeface="Arial"/>
              </a:defRPr>
            </a:pPr>
            <a:r>
              <a:t>Addressing Current MoSPI Limitations with Automated High-Frequency Ingestion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Manual survey delays limit responsiveness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Only 1 quote collected per route/month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Misses yield spikes, peaks, surges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Completely ignores emergency vs. advance booking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14532D"/>
                </a:solidFill>
                <a:latin typeface="Arial"/>
              </a:defRPr>
            </a:pPr>
            <a:r>
              <a:t>HOW WE SOLVE IT: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1. Automated Real-Time Extraction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Automated high-frequency scraping across 4 major airlines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2. Comprehensive Lead Times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Samples 5 forward horizons T+1..T+45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3. Geometric Mean Calculation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UN/ILO Jevons Elementary Mean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4. Audit &amp; Provenance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SHA-256 Provenance hashes for MoSPI audit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1E3A8A"/>
                </a:solidFill>
                <a:latin typeface="Arial"/>
              </a:defRPr>
            </a:pPr>
            <a:r>
              <a:t>WHY IT IS DIFFERENT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1. Fully Automated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Zero-latency digital pipeline eliminates all lag.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2. Comprehensive Capture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Whole-market view (all lead times and OTAs)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UN/ILO formula with a hash-based audit trail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987552"/>
            <a:ext cx="2788920" cy="5413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2569464" cy="5230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5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Languages &amp; Runtimes: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Python 3.13 (Async Harvester &amp; Engine)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TypeScript &amp; React 19 (Dashboard UI)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SQL (PostgreSQL Time-Series &amp; SQLite)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050" b="1">
                <a:solidFill>
                  <a:srgbClr val="1E40AF"/>
                </a:solidFill>
                <a:latin typeface="Arial"/>
              </a:rPr>
              <a:t>Extraction &amp; Cleansing: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Playwright Headless Stealth Proxy Pool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T+1..T+45 Advance Horizons Tracking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SciPy &amp; NumPy Dynamic IQR Filter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Arial"/>
              </a:rPr>
              <a:t>Index Engine &amp; Crypto: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UN/ILO Jevons Index Formula (GMI)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DGCA Official Route Volume Weighting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SHA-256 Batch Merkle Audit Ledger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API, Cloud &amp; Standards: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FastAPI &amp; Uvicorn Sub-10ms REST APIs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Vercel Edge &amp; GitHub Actions Daily Cron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Arial"/>
              </a:rPr>
              <a:t>• </a:t>
            </a:r>
            <a:r>
              <a:rPr sz="850">
                <a:solidFill>
                  <a:srgbClr val="0F172A"/>
                </a:solidFill>
                <a:latin typeface="Arial"/>
              </a:rPr>
              <a:t>NDSAP Open Data &amp; UN/ILO Ch. 10 Ready</a:t>
            </a:r>
          </a:p>
        </p:txBody>
      </p:sp>
      <p:pic>
        <p:nvPicPr>
          <p:cNvPr id="8" name="Picture 7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987552"/>
            <a:ext cx="8211312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474720" y="2953512"/>
            <a:ext cx="8211312" cy="344728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53512"/>
            <a:ext cx="8211312" cy="292608"/>
          </a:xfrm>
          <a:prstGeom prst="roundRect">
            <a:avLst>
              <a:gd name="adj" fmla="val 16000"/>
            </a:avLst>
          </a:prstGeom>
          <a:solidFill>
            <a:srgbClr val="CBD5E1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CONSOLIDATED PROJECT DETAILS &amp; IMPLEMENTATION NOTES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3282696"/>
            <a:ext cx="1627632" cy="3081528"/>
          </a:xfrm>
          <a:prstGeom prst="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93008" y="3282696"/>
            <a:ext cx="1627632" cy="237744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369A1"/>
                </a:solidFill>
                <a:latin typeface="Arial"/>
              </a:defRPr>
            </a:pPr>
            <a:r>
              <a:t>TIER 1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557016"/>
            <a:ext cx="1517904" cy="27706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0369A1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02:00 AM IST Cron: </a:t>
            </a:r>
            <a:r>
              <a:rPr sz="800">
                <a:solidFill>
                  <a:srgbClr val="334155"/>
                </a:solidFill>
                <a:latin typeface="Arial"/>
              </a:rPr>
              <a:t>Automated daily low-traffic batch schedule.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0369A1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4 Target Airlines: </a:t>
            </a:r>
            <a:r>
              <a:rPr sz="800">
                <a:solidFill>
                  <a:srgbClr val="334155"/>
                </a:solidFill>
                <a:latin typeface="Arial"/>
              </a:rPr>
              <a:t>Ingests IndiGo, Air India, SpiceJet, Akasa Air.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0369A1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Playwright Stealth: </a:t>
            </a:r>
            <a:r>
              <a:rPr sz="800">
                <a:solidFill>
                  <a:srgbClr val="334155"/>
                </a:solidFill>
                <a:latin typeface="Arial"/>
              </a:rPr>
              <a:t>Anti-bot rotation with residential proxy pool.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0369A1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Booking Horizons: </a:t>
            </a:r>
            <a:r>
              <a:rPr sz="800">
                <a:solidFill>
                  <a:srgbClr val="334155"/>
                </a:solidFill>
                <a:latin typeface="Arial"/>
              </a:rPr>
              <a:t>Tracks forward windows (T+1 to T+45 days).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0369A1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Full Market Depth: </a:t>
            </a:r>
            <a:r>
              <a:rPr sz="800">
                <a:solidFill>
                  <a:srgbClr val="334155"/>
                </a:solidFill>
                <a:latin typeface="Arial"/>
              </a:rPr>
              <a:t>Captures dynamic yield &amp; pricing curves.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216" y="3282696"/>
            <a:ext cx="1627632" cy="3081528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57216" y="3282696"/>
            <a:ext cx="1627632" cy="237744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5803D"/>
                </a:solidFill>
                <a:latin typeface="Arial"/>
              </a:defRPr>
            </a:pPr>
            <a:r>
              <a:t>TIER 2 DETAILS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557016"/>
            <a:ext cx="1517904" cy="27706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5803D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Fare Unbundling: </a:t>
            </a:r>
            <a:r>
              <a:rPr sz="800">
                <a:solidFill>
                  <a:srgbClr val="334155"/>
                </a:solidFill>
                <a:latin typeface="Arial"/>
              </a:rPr>
              <a:t>Extracts pure base airfare, strips ancillaries.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5803D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JSON Normalization: </a:t>
            </a:r>
            <a:r>
              <a:rPr sz="800">
                <a:solidFill>
                  <a:srgbClr val="334155"/>
                </a:solidFill>
                <a:latin typeface="Arial"/>
              </a:rPr>
              <a:t>Unifies carrier payloads into standard schema.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5803D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Dynamic IQR Filter: </a:t>
            </a:r>
            <a:r>
              <a:rPr sz="800">
                <a:solidFill>
                  <a:srgbClr val="334155"/>
                </a:solidFill>
                <a:latin typeface="Arial"/>
              </a:rPr>
              <a:t>SciPy/NumPy outlier &amp; spike elimination.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5803D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Glitch &amp; Stale Purge: </a:t>
            </a:r>
            <a:r>
              <a:rPr sz="800">
                <a:solidFill>
                  <a:srgbClr val="334155"/>
                </a:solidFill>
                <a:latin typeface="Arial"/>
              </a:rPr>
              <a:t>Rejects HTTP errors, glitches, &amp; stale cache.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5803D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Data Cleansing Audit: </a:t>
            </a:r>
            <a:r>
              <a:rPr sz="800">
                <a:solidFill>
                  <a:srgbClr val="334155"/>
                </a:solidFill>
                <a:latin typeface="Arial"/>
              </a:rPr>
              <a:t>Guarantees clean inputs for index engine.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21424" y="3282696"/>
            <a:ext cx="3291840" cy="3081528"/>
          </a:xfrm>
          <a:prstGeom prst="rect">
            <a:avLst/>
          </a:prstGeom>
          <a:solidFill>
            <a:srgbClr val="FEFCE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21424" y="3282696"/>
            <a:ext cx="3291840" cy="237744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B45309"/>
                </a:solidFill>
                <a:latin typeface="Arial"/>
              </a:defRPr>
            </a:pPr>
            <a:r>
              <a:t>CORE INDEXING METHODOLOGY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3557016"/>
            <a:ext cx="3182112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92400E"/>
                </a:solidFill>
                <a:latin typeface="Arial"/>
              </a:defRPr>
            </a:pPr>
            <a:r>
              <a:t>1. Jevons Geometric Mean (Elementary Index)</a:t>
            </a:r>
          </a:p>
        </p:txBody>
      </p:sp>
      <p:pic>
        <p:nvPicPr>
          <p:cNvPr id="20" name="Picture 19" descr="eq1_per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3739896"/>
            <a:ext cx="3163824" cy="465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4576" y="4242112"/>
            <a:ext cx="3145536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5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• Adheres strictly to UN/ILO CPI Manual (Chapter 10) standards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• Axiomatically satisfies Time Reversal &amp; Circular Transitivity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4754176"/>
            <a:ext cx="3182112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00" b="1">
                <a:solidFill>
                  <a:srgbClr val="92400E"/>
                </a:solidFill>
                <a:latin typeface="Arial"/>
              </a:defRPr>
            </a:pPr>
            <a:r>
              <a:t>2. DGCA Volume Weighted Aggregation (National Rollup)</a:t>
            </a:r>
          </a:p>
        </p:txBody>
      </p:sp>
      <p:pic>
        <p:nvPicPr>
          <p:cNvPr id="23" name="Picture 22" descr="eq2_per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6872" y="4937056"/>
            <a:ext cx="2971800" cy="43364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94576" y="5407274"/>
            <a:ext cx="3145536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5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• Routes weighted by official DGCA passenger volume shares (w_c)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• Key Trunk Routes: Delhi-Mumbai (14.8%) | Bengaluru-Delhi (9.2%)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0" y="3282696"/>
            <a:ext cx="1554480" cy="308152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49840" y="3282696"/>
            <a:ext cx="1554480" cy="2377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293B"/>
                </a:solidFill>
                <a:latin typeface="Arial"/>
              </a:defRPr>
            </a:pPr>
            <a:r>
              <a:t>TIER 4 DETAILS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04704" y="3557016"/>
            <a:ext cx="1444752" cy="27706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E293B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Cryptographic Audit: </a:t>
            </a:r>
            <a:r>
              <a:rPr sz="800">
                <a:solidFill>
                  <a:srgbClr val="334155"/>
                </a:solidFill>
                <a:latin typeface="Arial"/>
              </a:rPr>
              <a:t>SHA-256 batch fingerprints ensure immutability.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E293B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Merkle Proof Ledger: </a:t>
            </a:r>
            <a:r>
              <a:rPr sz="800">
                <a:solidFill>
                  <a:srgbClr val="334155"/>
                </a:solidFill>
                <a:latin typeface="Arial"/>
              </a:rPr>
              <a:t>Verifiable mathematical audit trail for MoSPI.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E293B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NDSAP PostgreSQL DB: </a:t>
            </a:r>
            <a:r>
              <a:rPr sz="800">
                <a:solidFill>
                  <a:srgbClr val="334155"/>
                </a:solidFill>
                <a:latin typeface="Arial"/>
              </a:rPr>
              <a:t>Time-series database &amp; historical archive vault.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E293B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Sub-10ms REST API: </a:t>
            </a:r>
            <a:r>
              <a:rPr sz="800">
                <a:solidFill>
                  <a:srgbClr val="334155"/>
                </a:solidFill>
                <a:latin typeface="Arial"/>
              </a:rPr>
              <a:t>FastAPI endpoints feed MoSPI &amp; RBI real-time.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880" b="1">
                <a:solidFill>
                  <a:srgbClr val="1E293B"/>
                </a:solidFill>
                <a:latin typeface="Arial"/>
              </a:rPr>
              <a:t>• </a:t>
            </a:r>
            <a:r>
              <a:rPr sz="850" b="1">
                <a:solidFill>
                  <a:srgbClr val="0F172A"/>
                </a:solidFill>
                <a:latin typeface="Arial"/>
              </a:rPr>
              <a:t>NDSAP Standards: </a:t>
            </a:r>
            <a:r>
              <a:rPr sz="800">
                <a:solidFill>
                  <a:srgbClr val="334155"/>
                </a:solidFill>
                <a:latin typeface="Arial"/>
              </a:rPr>
              <a:t>Ready for automated open government data feeds.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