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Relationship Id="rId14" Type="http://schemas.openxmlformats.org/officeDocument/2006/relationships/hyperlink" Target="https://github.com/oshshivish-tech/sih26056_airfare_cpi" TargetMode="External"/><Relationship Id="rId15" Type="http://schemas.openxmlformats.org/officeDocument/2006/relationships/hyperlink" Target="https://sih26056-airfare-cpi.vercel.app/docs" TargetMode="External"/><Relationship Id="rId16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spcBef>
                <a:spcPts val="400"/>
              </a:spcBef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194560"/>
            <a:ext cx="6903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45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45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(CPI).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4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4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4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4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5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4532D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eliminates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Direct REST API integration into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43000"/>
            <a:ext cx="2898648" cy="5349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200">
                <a:solidFill>
                  <a:srgbClr val="475569"/>
                </a:solidFill>
                <a:latin typeface="Arial"/>
              </a:rPr>
              <a:t>Engine &amp; low-latency REST API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200">
                <a:solidFill>
                  <a:srgbClr val="475569"/>
                </a:solidFill>
                <a:latin typeface="Arial"/>
              </a:rPr>
              <a:t>Rate-limited compliant collection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200">
                <a:solidFill>
                  <a:srgbClr val="475569"/>
                </a:solidFill>
                <a:latin typeface="Arial"/>
              </a:rPr>
              <a:t>MoSPI executive analytics dashboard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2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PostgreSQL Timescale: </a:t>
            </a:r>
            <a:r>
              <a:rPr sz="1200">
                <a:solidFill>
                  <a:srgbClr val="475569"/>
                </a:solidFill>
                <a:latin typeface="Arial"/>
              </a:rPr>
              <a:t>Time-series storage &amp; historical archive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200">
                <a:solidFill>
                  <a:srgbClr val="475569"/>
                </a:solidFill>
                <a:latin typeface="Arial"/>
              </a:rPr>
              <a:t>Merkle batch verification ledger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Arial"/>
              </a:rPr>
              <a:t>DATA ACCESS &amp; COMPLIANCE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Robots.txt &amp; Terms: </a:t>
            </a:r>
            <a:r>
              <a:rPr sz="1200">
                <a:solidFill>
                  <a:srgbClr val="475569"/>
                </a:solidFill>
                <a:latin typeface="Arial"/>
              </a:rPr>
              <a:t>Respects robots.txt and site terms; conservative request rates.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Transition Roadmap: </a:t>
            </a:r>
            <a:r>
              <a:rPr sz="1200">
                <a:solidFill>
                  <a:srgbClr val="475569"/>
                </a:solidFill>
                <a:latin typeface="Arial"/>
              </a:rPr>
              <a:t>Scraping is the prototype path; long-term path is official airline API / NDC feeds or data-sharing MoUs via MoCA/DGCA.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Verifiable Audit: </a:t>
            </a:r>
            <a:r>
              <a:rPr sz="1200">
                <a:solidFill>
                  <a:srgbClr val="475569"/>
                </a:solidFill>
                <a:latin typeface="Arial"/>
              </a:rPr>
              <a:t>Raw quotes are hashed (SHA-256) and archived for sovereign audit.</a:t>
            </a:r>
          </a:p>
        </p:txBody>
      </p:sp>
      <p:pic>
        <p:nvPicPr>
          <p:cNvPr id="8" name="Picture 7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16" name="Picture 15" descr="eq1_per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18" name="Picture 17" descr="eq2_per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&lt; 35 ms response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⚙️ ANALYSIS OF FEASIBILITY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⚠️ POTENTIAL CHALLENGES &amp; RISKS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Algorithmic yield surges and last-minute booking scalping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🛡️ STRATEGIES FOR OVERCOMING CHALLENGES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scalping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38BDF8"/>
                </a:solidFill>
                <a:latin typeface="Arial"/>
              </a:rPr>
              <a:t>📍 STRATEGIES FOR OVERCOMING CHALLENGES — IMPLEMENTATION ROADMAP: </a:t>
            </a:r>
          </a:p>
          <a:p>
            <a:pPr algn="ctr"/>
            <a:r>
              <a:rPr sz="12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429000" cy="4800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320954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E40AF"/>
                </a:solidFill>
                <a:latin typeface="Arial"/>
              </a:defRPr>
            </a:pPr>
            <a:r>
              <a:t>🎯 POTENTIAL IMPACT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Target audience: MoSPI, RBI, DGCA, travellers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27048"/>
            <a:ext cx="3246120" cy="969264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581912"/>
            <a:ext cx="3136392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⚡ Zero Policy Lag (&lt;24h vs ~15d)</a:t>
            </a:r>
          </a:p>
          <a:p>
            <a:pPr>
              <a:lnSpc>
                <a:spcPct val="108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Price collection cut from ~15 days to under 24 hours via rate-limited compliant harvesting.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78608"/>
            <a:ext cx="3246120" cy="969264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633472"/>
            <a:ext cx="3136392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E7490"/>
                </a:solidFill>
                <a:latin typeface="Arial"/>
              </a:defRPr>
            </a:pPr>
            <a:r>
              <a:t>📊 Denser Route Coverage (3,650+/day)</a:t>
            </a:r>
          </a:p>
          <a:p>
            <a:pPr>
              <a:lnSpc>
                <a:spcPct val="108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3,650+ quotes/day across 12 routes x 4 airlines x 5 horizons (vs 1 single quote/route/month).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30168"/>
            <a:ext cx="3246120" cy="969264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3685032"/>
            <a:ext cx="3136392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6D28D9"/>
                </a:solidFill>
                <a:latin typeface="Arial"/>
              </a:defRPr>
            </a:pPr>
            <a:r>
              <a:t>🔍 Dynamic Surge &amp; Lead-Time Capture</a:t>
            </a:r>
          </a:p>
          <a:p>
            <a:pPr>
              <a:lnSpc>
                <a:spcPct val="108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Captures what manual surveys miss: lead-time effects (T+1..T+45) and real-time booking surges.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81728"/>
            <a:ext cx="3246120" cy="969264"/>
          </a:xfrm>
          <a:prstGeom prst="roundRect">
            <a:avLst>
              <a:gd name="adj" fmla="val 10000"/>
            </a:avLst>
          </a:prstGeom>
          <a:solidFill>
            <a:srgbClr val="FFF7ED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4736592"/>
            <a:ext cx="3136392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C2410C"/>
                </a:solidFill>
                <a:latin typeface="Arial"/>
              </a:defRPr>
            </a:pPr>
            <a:r>
              <a:t>🎯 Sovereign CPI Validation (r = 0.89)</a:t>
            </a:r>
          </a:p>
          <a:p>
            <a:pPr>
              <a:lnSpc>
                <a:spcPct val="108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Back-tested against official CPI air-fare component; sovereign series back-test planned with NSO.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1051560"/>
            <a:ext cx="3611880" cy="4800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78808" y="1124712"/>
            <a:ext cx="3392424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Arial"/>
              </a:defRPr>
            </a:pPr>
            <a:r>
              <a:t>🌟 CATEGORIZED BENEFITS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Four Pillars of Macroeconomic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1527048"/>
            <a:ext cx="3429000" cy="969264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7096" y="1581912"/>
            <a:ext cx="3355848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👥 SOCIAL BENEFITS</a:t>
            </a:r>
          </a:p>
          <a:p>
            <a:pPr>
              <a:lnSpc>
                <a:spcPct val="108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Public measurement: </a:t>
            </a:r>
            <a:r>
              <a:rPr sz="950">
                <a:solidFill>
                  <a:srgbClr val="0F172A"/>
                </a:solidFill>
                <a:latin typeface="Arial"/>
              </a:rPr>
              <a:t>transparent, publicly checkable airfare-inflation data, relevant to UDAN regional travellers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2578608"/>
            <a:ext cx="3429000" cy="96926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7096" y="2633472"/>
            <a:ext cx="3355848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6A34A"/>
                </a:solidFill>
                <a:latin typeface="Arial"/>
              </a:defRPr>
            </a:pPr>
            <a:r>
              <a:t>📈 ECONOMIC BENEFITS</a:t>
            </a:r>
          </a:p>
          <a:p>
            <a:pPr>
              <a:lnSpc>
                <a:spcPct val="108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Monetary policy signals: </a:t>
            </a:r>
            <a:r>
              <a:rPr sz="950">
                <a:solidFill>
                  <a:srgbClr val="0F172A"/>
                </a:solidFill>
                <a:latin typeface="Arial"/>
              </a:rPr>
              <a:t>leading transport-inflation indicator for RBI MPC; less manual field collection (savings under validation)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630168"/>
            <a:ext cx="3429000" cy="969264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97096" y="3685032"/>
            <a:ext cx="3355848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D9488"/>
                </a:solidFill>
                <a:latin typeface="Arial"/>
              </a:defRPr>
            </a:pPr>
            <a:r>
              <a:t>🌱 ENVIRONMENTAL BENEFITS</a:t>
            </a:r>
          </a:p>
          <a:p>
            <a:pPr>
              <a:lnSpc>
                <a:spcPct val="108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Reduced field commutes: </a:t>
            </a:r>
            <a:r>
              <a:rPr sz="950">
                <a:solidFill>
                  <a:srgbClr val="0F172A"/>
                </a:solidFill>
                <a:latin typeface="Arial"/>
              </a:rPr>
              <a:t>less physical surveyor travel across travel counters and airports (qualitative)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681728"/>
            <a:ext cx="3429000" cy="969264"/>
          </a:xfrm>
          <a:prstGeom prst="roundRect">
            <a:avLst>
              <a:gd name="adj" fmla="val 10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7096" y="4736592"/>
            <a:ext cx="3355848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B45309"/>
                </a:solidFill>
                <a:latin typeface="Arial"/>
              </a:defRPr>
            </a:pPr>
            <a:r>
              <a:t>🏛️ POLICY &amp; INSTITUTIONAL</a:t>
            </a:r>
          </a:p>
          <a:p>
            <a:pPr>
              <a:lnSpc>
                <a:spcPct val="108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Sovereign NSO feed: </a:t>
            </a:r>
            <a:r>
              <a:rPr sz="950">
                <a:solidFill>
                  <a:srgbClr val="0F172A"/>
                </a:solidFill>
                <a:latin typeface="Arial"/>
              </a:rPr>
              <a:t>automated API ingestion into MoSPI eSankhyiki and NDAP; abnormal fare surges flagged to DGCA for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1051560"/>
            <a:ext cx="3867912" cy="4800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1143000"/>
            <a:ext cx="368503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C2626"/>
                </a:solidFill>
                <a:latin typeface="Arial"/>
              </a:defRPr>
            </a:pPr>
            <a:r>
              <a:t>PROTOTYPE IMAGE 1: Dashboard</a:t>
            </a:r>
          </a:p>
        </p:txBody>
      </p:sp>
      <p:pic>
        <p:nvPicPr>
          <p:cNvPr id="28" name="Picture 27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435608"/>
            <a:ext cx="3685032" cy="3657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909560" y="5148072"/>
            <a:ext cx="3685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B365D"/>
                </a:solidFill>
                <a:latin typeface="Arial"/>
              </a:rPr>
              <a:t>Geometric-mean (Jevons) aggregation avoids upward bias (Diewert, 2004). Route breakdown in live prototype.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989320"/>
            <a:ext cx="11183112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🚀 Live Interactive Prototype: </a:t>
            </a:r>
            <a:r>
              <a:rPr sz="13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</a:p>
          <a:p>
            <a:r>
              <a:rPr sz="1200">
                <a:solidFill>
                  <a:srgbClr val="F0FDF4"/>
                </a:solidFill>
                <a:latin typeface="Arial"/>
              </a:rPr>
              <a:t>   Open API for ministries, regulators and researchers | Scan QR code on right to explore live</a:t>
            </a:r>
          </a:p>
        </p:txBody>
      </p:sp>
      <p:pic>
        <p:nvPicPr>
          <p:cNvPr id="31" name="Picture 30" descr="sih_prototype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60167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NDSAP Open Data Compliance: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OpenAPI 3.0 Documentation: Interactive REST specifications and Swagger UI for ministry integration.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5"/>
              </a:rPr>
              <a:t>[API Documentation (/docs)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Nightly unit tests validate Jevons index math and dynamic IQR bounds.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6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