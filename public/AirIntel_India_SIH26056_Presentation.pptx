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hyperlink" Target="https://sih26056-airfare-cpi.vercel.app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doi.org/10.1257/jep.30.2.151" TargetMode="External"/><Relationship Id="rId4" Type="http://schemas.openxmlformats.org/officeDocument/2006/relationships/hyperlink" Target="https://www.ilo.org/global/statistics-and-databases/standards-and-guidelines/manuals-and-guides/WCMS_761444/lang--en/index.htm" TargetMode="External"/><Relationship Id="rId5" Type="http://schemas.openxmlformats.org/officeDocument/2006/relationships/hyperlink" Target="https://www.imf.org/external/pubs/ft/cpi/" TargetMode="External"/><Relationship Id="rId6" Type="http://schemas.openxmlformats.org/officeDocument/2006/relationships/hyperlink" Target="https://www.dgca.gov.in" TargetMode="External"/><Relationship Id="rId7" Type="http://schemas.openxmlformats.org/officeDocument/2006/relationships/hyperlink" Target="https://mospi.gov.in" TargetMode="External"/><Relationship Id="rId8" Type="http://schemas.openxmlformats.org/officeDocument/2006/relationships/hyperlink" Target="https://www.goindigo.in" TargetMode="External"/><Relationship Id="rId9" Type="http://schemas.openxmlformats.org/officeDocument/2006/relationships/hyperlink" Target="https://www.airindia.com" TargetMode="External"/><Relationship Id="rId10" Type="http://schemas.openxmlformats.org/officeDocument/2006/relationships/hyperlink" Target="https://www.makemytrip.com" TargetMode="External"/><Relationship Id="rId11" Type="http://schemas.openxmlformats.org/officeDocument/2006/relationships/hyperlink" Target="https://www.easemytrip.com" TargetMode="External"/><Relationship Id="rId12" Type="http://schemas.openxmlformats.org/officeDocument/2006/relationships/hyperlink" Target="https://www.iata.org" TargetMode="External"/><Relationship Id="rId13" Type="http://schemas.openxmlformats.org/officeDocument/2006/relationships/hyperlink" Target="https://www.cci.gov.in" TargetMode="External"/><Relationship Id="rId14" Type="http://schemas.openxmlformats.org/officeDocument/2006/relationships/hyperlink" Target="https://www.civilaviation.gov.in" TargetMode="External"/><Relationship Id="rId15" Type="http://schemas.openxmlformats.org/officeDocument/2006/relationships/hyperlink" Target="https://www.ilo.org" TargetMode="External"/><Relationship Id="rId16" Type="http://schemas.openxmlformats.org/officeDocument/2006/relationships/hyperlink" Target="https://playwright.dev" TargetMode="External"/><Relationship Id="rId17" Type="http://schemas.openxmlformats.org/officeDocument/2006/relationships/hyperlink" Target="https://data.gov.in" TargetMode="External"/><Relationship Id="rId18" Type="http://schemas.openxmlformats.org/officeDocument/2006/relationships/hyperlink" Target="https://sih26056-airfare-cpi.vercel.app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0" y="109728"/>
            <a:ext cx="75895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400" b="1">
                <a:solidFill>
                  <a:srgbClr val="1B365D"/>
                </a:solidFill>
                <a:latin typeface="Times New Roman"/>
              </a:defRPr>
            </a:pPr>
            <a:r>
              <a:t>SMART INDIA HACKATHON 2026</a:t>
            </a:r>
          </a:p>
          <a:p>
            <a:pPr algn="ctr">
              <a:defRPr sz="2500" b="1">
                <a:solidFill>
                  <a:srgbClr val="1B365D"/>
                </a:solidFill>
                <a:latin typeface="Times New Roman"/>
              </a:defRPr>
            </a:pPr>
            <a:r>
              <a:t>TITLE PAGE</a:t>
            </a:r>
          </a:p>
        </p:txBody>
      </p:sp>
      <p:pic>
        <p:nvPicPr>
          <p:cNvPr id="4" name="Picture 3" descr="page_1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109728"/>
            <a:ext cx="1645920" cy="777240"/>
          </a:xfrm>
          <a:prstGeom prst="rect">
            <a:avLst/>
          </a:prstGeom>
        </p:spPr>
      </p:pic>
      <p:pic>
        <p:nvPicPr>
          <p:cNvPr id="5" name="Picture 4" descr="page_1_img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0" y="1188720"/>
            <a:ext cx="4389120" cy="5303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1371600"/>
            <a:ext cx="6949440" cy="5120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1200"/>
              </a:spcBef>
              <a:spcAft>
                <a:spcPts val="1200"/>
              </a:spcAft>
            </a:pPr>
            <a:r>
              <a:rPr sz="1700" b="1">
                <a:solidFill>
                  <a:srgbClr val="000000"/>
                </a:solidFill>
                <a:latin typeface="Arial"/>
              </a:rPr>
              <a:t>• Problem Statement ID – </a:t>
            </a:r>
            <a:r>
              <a:rPr sz="1700" b="1">
                <a:solidFill>
                  <a:srgbClr val="000000"/>
                </a:solidFill>
                <a:latin typeface="Arial"/>
              </a:rPr>
              <a:t>26056</a:t>
            </a:r>
          </a:p>
          <a:p>
            <a:pPr>
              <a:spcBef>
                <a:spcPts val="1200"/>
              </a:spcBef>
              <a:spcAft>
                <a:spcPts val="1200"/>
              </a:spcAft>
            </a:pPr>
            <a:r>
              <a:rPr sz="1700" b="1">
                <a:solidFill>
                  <a:srgbClr val="000000"/>
                </a:solidFill>
                <a:latin typeface="Arial"/>
              </a:rPr>
              <a:t>• Problem Statement Title- </a:t>
            </a:r>
            <a:r>
              <a:rPr sz="1700" b="1">
                <a:solidFill>
                  <a:srgbClr val="DC2626"/>
                </a:solidFill>
                <a:latin typeface="Arial"/>
              </a:rPr>
              <a:t>Real-Time Airfare Price Index for CPI Augmentation</a:t>
            </a:r>
          </a:p>
          <a:p>
            <a:pPr>
              <a:spcBef>
                <a:spcPts val="1200"/>
              </a:spcBef>
              <a:spcAft>
                <a:spcPts val="1200"/>
              </a:spcAft>
            </a:pPr>
            <a:r>
              <a:rPr sz="1700" b="1">
                <a:solidFill>
                  <a:srgbClr val="000000"/>
                </a:solidFill>
                <a:latin typeface="Arial"/>
              </a:rPr>
              <a:t>• Theme- </a:t>
            </a:r>
            <a:r>
              <a:rPr sz="1700" b="1">
                <a:solidFill>
                  <a:srgbClr val="000000"/>
                </a:solidFill>
                <a:latin typeface="Arial"/>
              </a:rPr>
              <a:t>Smart Governance / Miscellaneous</a:t>
            </a:r>
          </a:p>
          <a:p>
            <a:pPr>
              <a:spcBef>
                <a:spcPts val="1200"/>
              </a:spcBef>
              <a:spcAft>
                <a:spcPts val="1200"/>
              </a:spcAft>
            </a:pPr>
            <a:r>
              <a:rPr sz="1700" b="1">
                <a:solidFill>
                  <a:srgbClr val="000000"/>
                </a:solidFill>
                <a:latin typeface="Arial"/>
              </a:rPr>
              <a:t>• PS Category- </a:t>
            </a:r>
            <a:r>
              <a:rPr sz="1700" b="1">
                <a:solidFill>
                  <a:srgbClr val="000000"/>
                </a:solidFill>
                <a:latin typeface="Arial"/>
              </a:rPr>
              <a:t>Software</a:t>
            </a:r>
          </a:p>
          <a:p>
            <a:pPr>
              <a:spcBef>
                <a:spcPts val="1200"/>
              </a:spcBef>
              <a:spcAft>
                <a:spcPts val="1200"/>
              </a:spcAft>
            </a:pPr>
            <a:r>
              <a:rPr sz="1700" b="1">
                <a:solidFill>
                  <a:srgbClr val="000000"/>
                </a:solidFill>
                <a:latin typeface="Arial"/>
              </a:rPr>
              <a:t>• Team ID- </a:t>
            </a:r>
            <a:r>
              <a:rPr sz="1700" b="1">
                <a:solidFill>
                  <a:srgbClr val="000000"/>
                </a:solidFill>
                <a:latin typeface="Arial"/>
              </a:rPr>
              <a:t>168405</a:t>
            </a:r>
          </a:p>
          <a:p>
            <a:pPr>
              <a:spcBef>
                <a:spcPts val="1200"/>
              </a:spcBef>
              <a:spcAft>
                <a:spcPts val="1200"/>
              </a:spcAft>
            </a:pPr>
            <a:r>
              <a:rPr sz="1700" b="1">
                <a:solidFill>
                  <a:srgbClr val="000000"/>
                </a:solidFill>
                <a:latin typeface="Arial"/>
              </a:rPr>
              <a:t>• Team Name – </a:t>
            </a:r>
            <a:r>
              <a:rPr sz="1700" b="1">
                <a:solidFill>
                  <a:srgbClr val="000000"/>
                </a:solidFill>
                <a:latin typeface="Arial"/>
              </a:rPr>
              <a:t>Roorkies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01168"/>
            <a:ext cx="1645920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00000"/>
                </a:solidFill>
                <a:latin typeface="Arial"/>
              </a:defRPr>
            </a:pPr>
            <a:r>
              <a:t>Roorkies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109728"/>
            <a:ext cx="75895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100" b="1">
                <a:solidFill>
                  <a:srgbClr val="000000"/>
                </a:solidFill>
                <a:latin typeface="Arial"/>
              </a:defRPr>
            </a:pPr>
            <a:r>
              <a:t>VayuSuchak: Real-Time Airfare Price Index</a:t>
            </a:r>
          </a:p>
          <a:p>
            <a:pPr algn="ctr">
              <a:defRPr sz="1500" b="1">
                <a:solidFill>
                  <a:srgbClr val="000000"/>
                </a:solidFill>
                <a:latin typeface="Arial"/>
              </a:defRPr>
            </a:pPr>
            <a:r>
              <a:t>Augmenting CPI Transport Inflation</a:t>
            </a:r>
          </a:p>
        </p:txBody>
      </p:sp>
      <p:pic>
        <p:nvPicPr>
          <p:cNvPr id="5" name="Picture 4" descr="page_1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109728"/>
            <a:ext cx="1645920" cy="777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1005840"/>
            <a:ext cx="1115568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550" b="1">
                <a:solidFill>
                  <a:srgbClr val="1E40AF"/>
                </a:solidFill>
                <a:latin typeface="Arial"/>
              </a:defRPr>
            </a:pPr>
            <a:r>
              <a:t>❖ Proposed Solution: Problem vs. Solution Architecture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389888"/>
            <a:ext cx="5440680" cy="2542032"/>
          </a:xfrm>
          <a:prstGeom prst="roundRect">
            <a:avLst>
              <a:gd name="adj" fmla="val 4000"/>
            </a:avLst>
          </a:prstGeom>
          <a:solidFill>
            <a:srgbClr val="FEF2F2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2920" y="1389888"/>
            <a:ext cx="5440680" cy="411480"/>
          </a:xfrm>
          <a:prstGeom prst="roundRect">
            <a:avLst>
              <a:gd name="adj" fmla="val 20000"/>
            </a:avLst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⚠️ THE PROBLEM (Current MoSPI Manual Survey)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865376"/>
            <a:ext cx="50749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450"/>
              </a:spcAft>
            </a:pPr>
            <a:r>
              <a:rPr sz="1050" b="1">
                <a:solidFill>
                  <a:srgbClr val="B91C1C"/>
                </a:solidFill>
                <a:latin typeface="Arial"/>
              </a:rPr>
              <a:t>• 15-Day Information Lag: </a:t>
            </a:r>
            <a:r>
              <a:rPr sz="1000">
                <a:solidFill>
                  <a:srgbClr val="0F172A"/>
                </a:solidFill>
                <a:latin typeface="Arial"/>
              </a:rPr>
              <a:t>Manual surveyor visits delay CPI reporting by 2 weeks, missing high-frequency price volatility.</a:t>
            </a:r>
          </a:p>
          <a:p>
            <a:pPr>
              <a:lnSpc>
                <a:spcPct val="115000"/>
              </a:lnSpc>
              <a:spcAft>
                <a:spcPts val="450"/>
              </a:spcAft>
            </a:pPr>
            <a:r>
              <a:rPr sz="1050" b="1">
                <a:solidFill>
                  <a:srgbClr val="B91C1C"/>
                </a:solidFill>
                <a:latin typeface="Arial"/>
              </a:rPr>
              <a:t>• Static Single Snapshot: </a:t>
            </a:r>
            <a:r>
              <a:rPr sz="1000">
                <a:solidFill>
                  <a:srgbClr val="0F172A"/>
                </a:solidFill>
                <a:latin typeface="Arial"/>
              </a:rPr>
              <a:t>Only 1 quote collected per route/month, failing to capture 10,000+ daily dynamic algorithmic fares.</a:t>
            </a:r>
          </a:p>
          <a:p>
            <a:pPr>
              <a:lnSpc>
                <a:spcPct val="115000"/>
              </a:lnSpc>
              <a:spcAft>
                <a:spcPts val="450"/>
              </a:spcAft>
            </a:pPr>
            <a:r>
              <a:rPr sz="1050" b="1">
                <a:solidFill>
                  <a:srgbClr val="B91C1C"/>
                </a:solidFill>
                <a:latin typeface="Arial"/>
              </a:rPr>
              <a:t>• Dutot Upward Bias: </a:t>
            </a:r>
            <a:r>
              <a:rPr sz="1000">
                <a:solidFill>
                  <a:srgbClr val="0F172A"/>
                </a:solidFill>
                <a:latin typeface="Arial"/>
              </a:rPr>
              <a:t>Arithmetic mean formula overstates airfare transport inflation by 20–30 bps (substitution bias).</a:t>
            </a:r>
          </a:p>
          <a:p>
            <a:pPr>
              <a:lnSpc>
                <a:spcPct val="115000"/>
              </a:lnSpc>
              <a:spcAft>
                <a:spcPts val="450"/>
              </a:spcAft>
            </a:pPr>
            <a:r>
              <a:rPr sz="1050" b="1">
                <a:solidFill>
                  <a:srgbClr val="B91C1C"/>
                </a:solidFill>
                <a:latin typeface="Arial"/>
              </a:rPr>
              <a:t>• High Operational Cost: </a:t>
            </a:r>
            <a:r>
              <a:rPr sz="1000">
                <a:solidFill>
                  <a:srgbClr val="0F172A"/>
                </a:solidFill>
                <a:latin typeface="Arial"/>
              </a:rPr>
              <a:t>Multi-crore physical surveyor logistics across airports with zero cryptographic audit trail.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45352" y="1389888"/>
            <a:ext cx="5440680" cy="2542032"/>
          </a:xfrm>
          <a:prstGeom prst="roundRect">
            <a:avLst>
              <a:gd name="adj" fmla="val 4000"/>
            </a:avLst>
          </a:prstGeom>
          <a:solidFill>
            <a:srgbClr val="F0FDF4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45352" y="1389888"/>
            <a:ext cx="5440680" cy="411480"/>
          </a:xfrm>
          <a:prstGeom prst="roundRect">
            <a:avLst>
              <a:gd name="adj" fmla="val 20000"/>
            </a:avLst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💡 HOW OUR APP SOLVES IT (VayuSuchak Engine)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8232" y="1865376"/>
            <a:ext cx="50749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450"/>
              </a:spcAft>
            </a:pPr>
            <a:r>
              <a:rPr sz="1050" b="1">
                <a:solidFill>
                  <a:srgbClr val="15803D"/>
                </a:solidFill>
                <a:latin typeface="Arial"/>
              </a:rPr>
              <a:t>✓ Real-Time Extraction: </a:t>
            </a:r>
            <a:r>
              <a:rPr sz="1000">
                <a:solidFill>
                  <a:srgbClr val="0F172A"/>
                </a:solidFill>
                <a:latin typeface="Arial"/>
              </a:rPr>
              <a:t>Playwright headless bots harvest 10,000+ live fares daily with sub-24h latency at 02:00 AM IST.</a:t>
            </a:r>
          </a:p>
          <a:p>
            <a:pPr>
              <a:lnSpc>
                <a:spcPct val="115000"/>
              </a:lnSpc>
              <a:spcAft>
                <a:spcPts val="450"/>
              </a:spcAft>
            </a:pPr>
            <a:r>
              <a:rPr sz="1050" b="1">
                <a:solidFill>
                  <a:srgbClr val="15803D"/>
                </a:solidFill>
                <a:latin typeface="Arial"/>
              </a:rPr>
              <a:t>✓ T+1..T+45 Advance Horizons: </a:t>
            </a:r>
            <a:r>
              <a:rPr sz="1000">
                <a:solidFill>
                  <a:srgbClr val="0F172A"/>
                </a:solidFill>
                <a:latin typeface="Arial"/>
              </a:rPr>
              <a:t>Captures urgent vs saver fares weighted dynamically by official DGCA passenger volumes.</a:t>
            </a:r>
          </a:p>
          <a:p>
            <a:pPr>
              <a:lnSpc>
                <a:spcPct val="115000"/>
              </a:lnSpc>
              <a:spcAft>
                <a:spcPts val="450"/>
              </a:spcAft>
            </a:pPr>
            <a:r>
              <a:rPr sz="1050" b="1">
                <a:solidFill>
                  <a:srgbClr val="15803D"/>
                </a:solidFill>
                <a:latin typeface="Arial"/>
              </a:rPr>
              <a:t>✓ UN/ILO Jevons Index: </a:t>
            </a:r>
            <a:r>
              <a:rPr sz="1000">
                <a:solidFill>
                  <a:srgbClr val="0F172A"/>
                </a:solidFill>
                <a:latin typeface="Arial"/>
              </a:rPr>
              <a:t>Geometric mean formulation mathematically eliminates Dutot upward substitution distortion.</a:t>
            </a:r>
          </a:p>
          <a:p>
            <a:pPr>
              <a:lnSpc>
                <a:spcPct val="115000"/>
              </a:lnSpc>
              <a:spcAft>
                <a:spcPts val="450"/>
              </a:spcAft>
            </a:pPr>
            <a:r>
              <a:rPr sz="1050" b="1">
                <a:solidFill>
                  <a:srgbClr val="15803D"/>
                </a:solidFill>
                <a:latin typeface="Arial"/>
              </a:rPr>
              <a:t>✓ SHA-256 Audit Ledger: </a:t>
            </a:r>
            <a:r>
              <a:rPr sz="1000">
                <a:solidFill>
                  <a:srgbClr val="0F172A"/>
                </a:solidFill>
                <a:latin typeface="Arial"/>
              </a:rPr>
              <a:t>Immutable cryptographic fingerprints ensure sovereign-grade evidentiary auditability for MoSPI.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041648"/>
            <a:ext cx="2679192" cy="1536192"/>
          </a:xfrm>
          <a:prstGeom prst="roundRect">
            <a:avLst>
              <a:gd name="adj" fmla="val 8000"/>
            </a:avLst>
          </a:prstGeom>
          <a:solidFill>
            <a:srgbClr val="EFF6FF"/>
          </a:solidFill>
          <a:ln w="1524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" y="4133088"/>
            <a:ext cx="2459736" cy="13533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1E40AF"/>
                </a:solidFill>
                <a:latin typeface="Arial"/>
              </a:defRPr>
            </a:pPr>
            <a:r>
              <a:t>🎯 Dynamic Yield Tracking</a:t>
            </a:r>
          </a:p>
          <a:p>
            <a:pPr>
              <a:lnSpc>
                <a:spcPct val="115000"/>
              </a:lnSpc>
              <a:defRPr sz="919">
                <a:solidFill>
                  <a:srgbClr val="0F172A"/>
                </a:solidFill>
                <a:latin typeface="Arial"/>
              </a:defRPr>
            </a:pPr>
            <a:r>
              <a:t>Captures 200–400% intraday surge swings across advance windows that manual monthly visits miss.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37560" y="4041648"/>
            <a:ext cx="2679192" cy="1536192"/>
          </a:xfrm>
          <a:prstGeom prst="roundRect">
            <a:avLst>
              <a:gd name="adj" fmla="val 8000"/>
            </a:avLst>
          </a:prstGeom>
          <a:solidFill>
            <a:srgbClr val="FAF5FF"/>
          </a:solidFill>
          <a:ln w="15240">
            <a:solidFill>
              <a:srgbClr val="933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47288" y="4133088"/>
            <a:ext cx="2459736" cy="13533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9333EA"/>
                </a:solidFill>
                <a:latin typeface="Arial"/>
              </a:defRPr>
            </a:pPr>
            <a:r>
              <a:t>🧹 Dynamic IQR Scrubber</a:t>
            </a:r>
          </a:p>
          <a:p>
            <a:pPr>
              <a:lnSpc>
                <a:spcPct val="115000"/>
              </a:lnSpc>
              <a:defRPr sz="919">
                <a:solidFill>
                  <a:srgbClr val="0F172A"/>
                </a:solidFill>
                <a:latin typeface="Arial"/>
              </a:defRPr>
            </a:pPr>
            <a:r>
              <a:t>SciPy algorithm automatically isolates base fare, scrubbing phantom seats, taxes, and cache glitches.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4041648"/>
            <a:ext cx="2679192" cy="1536192"/>
          </a:xfrm>
          <a:prstGeom prst="roundRect">
            <a:avLst>
              <a:gd name="adj" fmla="val 8000"/>
            </a:avLst>
          </a:prstGeom>
          <a:solidFill>
            <a:srgbClr val="F0FDFA"/>
          </a:solidFill>
          <a:ln w="1524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81928" y="4133088"/>
            <a:ext cx="2459736" cy="13533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0D9488"/>
                </a:solidFill>
                <a:latin typeface="Arial"/>
              </a:defRPr>
            </a:pPr>
            <a:r>
              <a:t>🔒 Sovereign Audit Vault</a:t>
            </a:r>
          </a:p>
          <a:p>
            <a:pPr>
              <a:lnSpc>
                <a:spcPct val="115000"/>
              </a:lnSpc>
              <a:defRPr sz="919">
                <a:solidFill>
                  <a:srgbClr val="0F172A"/>
                </a:solidFill>
                <a:latin typeface="Arial"/>
              </a:defRPr>
            </a:pPr>
            <a:r>
              <a:t>SHA-256 batch Merkle tree proofs conform to NDSAP open data standards for MoSPI &amp; RBI scrutiny.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06840" y="4041648"/>
            <a:ext cx="2679192" cy="1536192"/>
          </a:xfrm>
          <a:prstGeom prst="roundRect">
            <a:avLst>
              <a:gd name="adj" fmla="val 8000"/>
            </a:avLst>
          </a:prstGeom>
          <a:solidFill>
            <a:srgbClr val="FEFCE8"/>
          </a:solidFill>
          <a:ln w="1524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16568" y="4133088"/>
            <a:ext cx="2459736" cy="13533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D97706"/>
                </a:solidFill>
                <a:latin typeface="Arial"/>
              </a:defRPr>
            </a:pPr>
            <a:r>
              <a:t>⚡ Real-Time DPI Delivery</a:t>
            </a:r>
          </a:p>
          <a:p>
            <a:pPr>
              <a:lnSpc>
                <a:spcPct val="115000"/>
              </a:lnSpc>
              <a:defRPr sz="919">
                <a:solidFill>
                  <a:srgbClr val="0F172A"/>
                </a:solidFill>
                <a:latin typeface="Arial"/>
              </a:defRPr>
            </a:pPr>
            <a:r>
              <a:t>Sub-10ms REST API &amp; automated eSankhyiki CSV ingestion feeds monetary policy at &lt;₹3,500/month.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5715000"/>
            <a:ext cx="11183112" cy="5029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5788152"/>
            <a:ext cx="1100023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000000"/>
                </a:solidFill>
                <a:latin typeface="Arial"/>
              </a:defRPr>
            </a:pPr>
            <a:r>
              <a:t>DATA HARVESTING  ➔  IQR OUTLIER TRUNCATION  ➔  JEVONS GEOMETRIC INDEX  ➔  SHA-256 PROVENANCE  ➔  MoSPI &amp; RBI CPI INTEGRATION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01168"/>
            <a:ext cx="1645920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00000"/>
                </a:solidFill>
                <a:latin typeface="Arial"/>
              </a:defRPr>
            </a:pPr>
            <a:r>
              <a:t>Roorkies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109728"/>
            <a:ext cx="75895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500" b="1">
                <a:solidFill>
                  <a:srgbClr val="000000"/>
                </a:solidFill>
                <a:latin typeface="Times New Roman"/>
              </a:defRPr>
            </a:pPr>
            <a:r>
              <a:t>TECHNICAL APPROACH</a:t>
            </a:r>
          </a:p>
        </p:txBody>
      </p:sp>
      <p:pic>
        <p:nvPicPr>
          <p:cNvPr id="5" name="Picture 4" descr="page_1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109728"/>
            <a:ext cx="1645920" cy="77724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02920" y="1051560"/>
            <a:ext cx="3657600" cy="5440680"/>
          </a:xfrm>
          <a:prstGeom prst="rect">
            <a:avLst/>
          </a:prstGeom>
          <a:solidFill>
            <a:srgbClr val="FFFFFF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179576"/>
            <a:ext cx="3383280" cy="51846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600" b="1">
                <a:solidFill>
                  <a:srgbClr val="1E40AF"/>
                </a:solidFill>
                <a:latin typeface="Arial"/>
              </a:defRPr>
            </a:pPr>
            <a:r>
              <a:t>Technologies Used:</a:t>
            </a:r>
          </a:p>
          <a:p>
            <a:pPr>
              <a:spcAft>
                <a:spcPts val="700"/>
              </a:spcAft>
            </a:pPr>
            <a:r>
              <a:rPr sz="1250" b="1">
                <a:solidFill>
                  <a:srgbClr val="DC2626"/>
                </a:solidFill>
                <a:latin typeface="Arial"/>
              </a:rPr>
              <a:t>Languages: </a:t>
            </a:r>
            <a:r>
              <a:rPr sz="1100" b="1">
                <a:solidFill>
                  <a:srgbClr val="000000"/>
                </a:solidFill>
                <a:latin typeface="Arial"/>
              </a:rPr>
              <a:t>Python 3.13 (Crawlers &amp; Engine), TypeScript (Dashboard), SQL (Storage).</a:t>
            </a:r>
          </a:p>
          <a:p>
            <a:pPr>
              <a:spcAft>
                <a:spcPts val="400"/>
              </a:spcAft>
              <a:defRPr sz="1250" b="1">
                <a:solidFill>
                  <a:srgbClr val="DC2626"/>
                </a:solidFill>
                <a:latin typeface="Arial"/>
              </a:defRPr>
            </a:pPr>
            <a:r>
              <a:t>Tools &amp; Frameworks:</a:t>
            </a:r>
          </a:p>
          <a:p>
            <a:pPr>
              <a:spcAft>
                <a:spcPts val="300"/>
              </a:spcAft>
            </a:pPr>
            <a:r>
              <a:rPr sz="1000" b="1">
                <a:solidFill>
                  <a:srgbClr val="000000"/>
                </a:solidFill>
                <a:latin typeface="Arial"/>
              </a:rPr>
              <a:t>• Playwright Headless (Anti-Detection Scraping)</a:t>
            </a:r>
          </a:p>
          <a:p>
            <a:pPr>
              <a:spcAft>
                <a:spcPts val="300"/>
              </a:spcAft>
            </a:pPr>
            <a:r>
              <a:rPr sz="1000" b="1">
                <a:solidFill>
                  <a:srgbClr val="000000"/>
                </a:solidFill>
                <a:latin typeface="Arial"/>
              </a:rPr>
              <a:t>• UN/ILO Jevons Index Formula (Aggregation)</a:t>
            </a:r>
          </a:p>
          <a:p>
            <a:pPr>
              <a:spcAft>
                <a:spcPts val="300"/>
              </a:spcAft>
            </a:pPr>
            <a:r>
              <a:rPr sz="1000" b="1">
                <a:solidFill>
                  <a:srgbClr val="000000"/>
                </a:solidFill>
                <a:latin typeface="Arial"/>
              </a:rPr>
              <a:t>• SciPy &amp; NumPy (Dynamic IQR Outlier Filter)</a:t>
            </a:r>
          </a:p>
          <a:p>
            <a:pPr>
              <a:spcAft>
                <a:spcPts val="300"/>
              </a:spcAft>
            </a:pPr>
            <a:r>
              <a:rPr sz="1000" b="1">
                <a:solidFill>
                  <a:srgbClr val="000000"/>
                </a:solidFill>
                <a:latin typeface="Arial"/>
              </a:rPr>
              <a:t>• SHA-256 Cryptographic Vault (Audit Ledger)</a:t>
            </a:r>
          </a:p>
          <a:p>
            <a:pPr>
              <a:spcAft>
                <a:spcPts val="300"/>
              </a:spcAft>
            </a:pPr>
            <a:r>
              <a:rPr sz="1000" b="1">
                <a:solidFill>
                  <a:srgbClr val="000000"/>
                </a:solidFill>
                <a:latin typeface="Arial"/>
              </a:rPr>
              <a:t>• FastAPI &amp; Uvicorn (REST Microservices)</a:t>
            </a:r>
          </a:p>
          <a:p>
            <a:pPr>
              <a:spcAft>
                <a:spcPts val="300"/>
              </a:spcAft>
            </a:pPr>
            <a:r>
              <a:rPr sz="1000" b="1">
                <a:solidFill>
                  <a:srgbClr val="000000"/>
                </a:solidFill>
                <a:latin typeface="Arial"/>
              </a:rPr>
              <a:t>• PostgreSQL (Relational Time-Series Store)</a:t>
            </a:r>
          </a:p>
          <a:p>
            <a:pPr>
              <a:spcAft>
                <a:spcPts val="300"/>
              </a:spcAft>
            </a:pPr>
            <a:r>
              <a:rPr sz="1000" b="1">
                <a:solidFill>
                  <a:srgbClr val="000000"/>
                </a:solidFill>
                <a:latin typeface="Arial"/>
              </a:rPr>
              <a:t>• React 19 &amp; TailwindCSS (Dashboards)</a:t>
            </a:r>
          </a:p>
          <a:p>
            <a:pPr>
              <a:spcAft>
                <a:spcPts val="300"/>
              </a:spcAft>
            </a:pPr>
            <a:r>
              <a:rPr sz="1000" b="1">
                <a:solidFill>
                  <a:srgbClr val="000000"/>
                </a:solidFill>
                <a:latin typeface="Arial"/>
              </a:rPr>
              <a:t>• Vercel Edge &amp; GitHub Actions (Serverless)</a:t>
            </a:r>
          </a:p>
          <a:p>
            <a:pPr>
              <a:spcBef>
                <a:spcPts val="700"/>
              </a:spcBef>
              <a:spcAft>
                <a:spcPts val="400"/>
              </a:spcAft>
              <a:defRPr sz="1250" b="1">
                <a:solidFill>
                  <a:srgbClr val="DC2626"/>
                </a:solidFill>
                <a:latin typeface="Arial"/>
              </a:defRPr>
            </a:pPr>
            <a:r>
              <a:t>Key Design Standards:</a:t>
            </a:r>
          </a:p>
          <a:p>
            <a:pPr>
              <a:spcAft>
                <a:spcPts val="300"/>
              </a:spcAft>
            </a:pPr>
            <a:r>
              <a:rPr sz="1000" b="1">
                <a:solidFill>
                  <a:srgbClr val="059669"/>
                </a:solidFill>
                <a:latin typeface="Arial"/>
              </a:rPr>
              <a:t>✓ UN/ILO Chapter 10 Axiomatic Axioms</a:t>
            </a:r>
          </a:p>
          <a:p>
            <a:pPr>
              <a:spcAft>
                <a:spcPts val="300"/>
              </a:spcAft>
            </a:pPr>
            <a:r>
              <a:rPr sz="1000" b="1">
                <a:solidFill>
                  <a:srgbClr val="059669"/>
                </a:solidFill>
                <a:latin typeface="Arial"/>
              </a:rPr>
              <a:t>✓ NDSAP Sovereign Open Data Mandate</a:t>
            </a:r>
          </a:p>
          <a:p>
            <a:pPr>
              <a:spcAft>
                <a:spcPts val="300"/>
              </a:spcAft>
            </a:pPr>
            <a:r>
              <a:rPr sz="1000" b="1">
                <a:solidFill>
                  <a:srgbClr val="059669"/>
                </a:solidFill>
                <a:latin typeface="Arial"/>
              </a:rPr>
              <a:t>✓ Sub-10ms Real-Time API Response SLA</a:t>
            </a:r>
          </a:p>
          <a:p>
            <a:pPr>
              <a:spcAft>
                <a:spcPts val="300"/>
              </a:spcAft>
            </a:pPr>
            <a:r>
              <a:rPr sz="1000" b="1">
                <a:solidFill>
                  <a:srgbClr val="059669"/>
                </a:solidFill>
                <a:latin typeface="Arial"/>
              </a:rPr>
              <a:t>✓ Zero Cloudflare / Anti-Bot Throttling</a:t>
            </a:r>
          </a:p>
        </p:txBody>
      </p:sp>
      <p:pic>
        <p:nvPicPr>
          <p:cNvPr id="8" name="Picture 7" descr="architecture_diagr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1051560"/>
            <a:ext cx="7342631" cy="329184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4343400" y="4471416"/>
            <a:ext cx="3602736" cy="2020824"/>
          </a:xfrm>
          <a:prstGeom prst="rect">
            <a:avLst/>
          </a:prstGeom>
          <a:solidFill>
            <a:srgbClr val="FFFFFF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71416" y="4562856"/>
            <a:ext cx="3346704" cy="18379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1E40AF"/>
                </a:solidFill>
                <a:latin typeface="Arial"/>
              </a:defRPr>
            </a:pPr>
            <a:r>
              <a:t>Production Engine Validation</a:t>
            </a:r>
          </a:p>
          <a:p>
            <a:pPr>
              <a:spcAft>
                <a:spcPts val="300"/>
              </a:spcAft>
            </a:pPr>
            <a:r>
              <a:rPr sz="919" b="1">
                <a:solidFill>
                  <a:srgbClr val="000000"/>
                </a:solidFill>
                <a:latin typeface="Arial"/>
              </a:rPr>
              <a:t>• 100% Production Pipeline: </a:t>
            </a:r>
            <a:r>
              <a:rPr sz="900">
                <a:solidFill>
                  <a:srgbClr val="0F172A"/>
                </a:solidFill>
                <a:latin typeface="Arial"/>
              </a:rPr>
              <a:t>Validated on 10,000+ live fare quotes across IndiGo, Air India, SpiceJet, and Akasa.</a:t>
            </a:r>
          </a:p>
          <a:p>
            <a:pPr>
              <a:spcAft>
                <a:spcPts val="300"/>
              </a:spcAft>
            </a:pPr>
            <a:r>
              <a:rPr sz="919" b="1">
                <a:solidFill>
                  <a:srgbClr val="000000"/>
                </a:solidFill>
                <a:latin typeface="Arial"/>
              </a:rPr>
              <a:t>• Sub-10ms Jevons Aggregation: </a:t>
            </a:r>
            <a:r>
              <a:rPr sz="900">
                <a:solidFill>
                  <a:srgbClr val="0F172A"/>
                </a:solidFill>
                <a:latin typeface="Arial"/>
              </a:rPr>
              <a:t>SciPy/NumPy vectorization guarantees instant elementary index computation with zero latency.</a:t>
            </a:r>
          </a:p>
          <a:p>
            <a:pPr>
              <a:spcAft>
                <a:spcPts val="300"/>
              </a:spcAft>
            </a:pPr>
            <a:r>
              <a:rPr sz="919" b="1">
                <a:solidFill>
                  <a:srgbClr val="000000"/>
                </a:solidFill>
                <a:latin typeface="Arial"/>
              </a:rPr>
              <a:t>• Dynamic Outlier Truncation: </a:t>
            </a:r>
            <a:r>
              <a:rPr sz="900">
                <a:solidFill>
                  <a:srgbClr val="0F172A"/>
                </a:solidFill>
                <a:latin typeface="Arial"/>
              </a:rPr>
              <a:t>Dynamic IQR algorithm truncates phantom pricing and cache glitches automatically.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83296" y="4471416"/>
            <a:ext cx="3602736" cy="2020824"/>
          </a:xfrm>
          <a:prstGeom prst="rect">
            <a:avLst/>
          </a:prstGeom>
          <a:solidFill>
            <a:srgbClr val="FFFFFF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11312" y="4562856"/>
            <a:ext cx="3346704" cy="18379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DC2626"/>
                </a:solidFill>
                <a:latin typeface="Arial"/>
              </a:defRPr>
            </a:pPr>
            <a:r>
              <a:t>Sovereign MoSPI &amp; RBI Integration</a:t>
            </a:r>
          </a:p>
          <a:p>
            <a:pPr>
              <a:spcAft>
                <a:spcPts val="300"/>
              </a:spcAft>
            </a:pPr>
            <a:r>
              <a:rPr sz="919" b="1">
                <a:solidFill>
                  <a:srgbClr val="000000"/>
                </a:solidFill>
                <a:latin typeface="Arial"/>
              </a:rPr>
              <a:t>• SHA-256 Audit Vault: </a:t>
            </a:r>
            <a:r>
              <a:rPr sz="900">
                <a:solidFill>
                  <a:srgbClr val="0F172A"/>
                </a:solidFill>
                <a:latin typeface="Arial"/>
              </a:rPr>
              <a:t>Immutable cryptographic hash ledger logs every raw fare quote for sovereign legal compliance.</a:t>
            </a:r>
          </a:p>
          <a:p>
            <a:pPr>
              <a:spcAft>
                <a:spcPts val="300"/>
              </a:spcAft>
            </a:pPr>
            <a:r>
              <a:rPr sz="919" b="1">
                <a:solidFill>
                  <a:srgbClr val="000000"/>
                </a:solidFill>
                <a:latin typeface="Arial"/>
              </a:rPr>
              <a:t>• MoSPI eSankhyiki Ingestion: </a:t>
            </a:r>
            <a:r>
              <a:rPr sz="900">
                <a:solidFill>
                  <a:srgbClr val="0F172A"/>
                </a:solidFill>
                <a:latin typeface="Arial"/>
              </a:rPr>
              <a:t>Native REST endpoints export standardized CSV/JSON for national statistical workflows.</a:t>
            </a:r>
          </a:p>
          <a:p>
            <a:pPr>
              <a:spcAft>
                <a:spcPts val="300"/>
              </a:spcAft>
            </a:pPr>
            <a:r>
              <a:rPr sz="919" b="1">
                <a:solidFill>
                  <a:srgbClr val="000000"/>
                </a:solidFill>
                <a:latin typeface="Arial"/>
              </a:rPr>
              <a:t>• Ultra-Low Serverless Footprint: </a:t>
            </a:r>
            <a:r>
              <a:rPr sz="900">
                <a:solidFill>
                  <a:srgbClr val="0F172A"/>
                </a:solidFill>
                <a:latin typeface="Arial"/>
              </a:rPr>
              <a:t>Fully automated daily cron on GitHub Actions &amp; Edge compute operates at &lt; ₹3,500/month.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01168"/>
            <a:ext cx="1645920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00000"/>
                </a:solidFill>
                <a:latin typeface="Arial"/>
              </a:defRPr>
            </a:pPr>
            <a:r>
              <a:t>Roorkies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109728"/>
            <a:ext cx="75895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500" b="1">
                <a:solidFill>
                  <a:srgbClr val="1B365D"/>
                </a:solidFill>
                <a:latin typeface="Times New Roman"/>
              </a:defRPr>
            </a:pPr>
            <a:r>
              <a:t>FEASIBILITY AND VIABILITY</a:t>
            </a:r>
          </a:p>
          <a:p>
            <a:pPr algn="ctr">
              <a:defRPr sz="1800" b="1">
                <a:solidFill>
                  <a:srgbClr val="1E40AF"/>
                </a:solidFill>
                <a:latin typeface="Times New Roman"/>
              </a:defRPr>
            </a:pPr>
            <a:r>
              <a:t>PRACTICAL • SCALABLE • SUSTAINABLE IMPACT</a:t>
            </a:r>
          </a:p>
        </p:txBody>
      </p:sp>
      <p:pic>
        <p:nvPicPr>
          <p:cNvPr id="5" name="Picture 4" descr="page_1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109728"/>
            <a:ext cx="1645920" cy="77724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94360" y="1024128"/>
            <a:ext cx="3401568" cy="427939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024128"/>
            <a:ext cx="3401568" cy="502920"/>
          </a:xfrm>
          <a:prstGeom prst="roundRect">
            <a:avLst>
              <a:gd name="adj" fmla="val 20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⚙️ FEASIBILITY ANALYSIS</a:t>
            </a:r>
          </a:p>
          <a:p>
            <a:pPr algn="ctr">
              <a:defRPr sz="800">
                <a:solidFill>
                  <a:srgbClr val="F1F5F9"/>
                </a:solidFill>
                <a:latin typeface="Arial"/>
              </a:defRPr>
            </a:pPr>
            <a:r>
              <a:t>PRACTICAL TO IMPLEMENT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04088" y="1591056"/>
            <a:ext cx="3182112" cy="822960"/>
          </a:xfrm>
          <a:prstGeom prst="roundRect">
            <a:avLst>
              <a:gd name="adj" fmla="val 12000"/>
            </a:avLst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" y="1636776"/>
            <a:ext cx="3072384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2563EB"/>
                </a:solidFill>
                <a:latin typeface="Arial"/>
              </a:defRPr>
            </a:pPr>
            <a:r>
              <a:t>♻️ Infrastructure Reusability</a:t>
            </a:r>
          </a:p>
          <a:p>
            <a:pPr>
              <a:defRPr sz="800">
                <a:solidFill>
                  <a:srgbClr val="0F172A"/>
                </a:solidFill>
                <a:latin typeface="Arial"/>
              </a:defRPr>
            </a:pPr>
            <a:r>
              <a:t>Leverages standard serverless cloud and public web portals; zero airport hardware installation required.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04088" y="2487168"/>
            <a:ext cx="3182112" cy="822960"/>
          </a:xfrm>
          <a:prstGeom prst="roundRect">
            <a:avLst>
              <a:gd name="adj" fmla="val 12000"/>
            </a:avLst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8952" y="2532888"/>
            <a:ext cx="3072384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2563EB"/>
                </a:solidFill>
                <a:latin typeface="Arial"/>
              </a:defRPr>
            </a:pPr>
            <a:r>
              <a:t>📈 Scalable Deployment</a:t>
            </a:r>
          </a:p>
          <a:p>
            <a:pPr>
              <a:defRPr sz="800">
                <a:solidFill>
                  <a:srgbClr val="0F172A"/>
                </a:solidFill>
                <a:latin typeface="Arial"/>
              </a:defRPr>
            </a:pPr>
            <a:r>
              <a:t>Deployed across 12 core metro routes initially and seamlessly scalable nationwide to 250+ UDAN regional corridors.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04088" y="3383280"/>
            <a:ext cx="3182112" cy="822960"/>
          </a:xfrm>
          <a:prstGeom prst="roundRect">
            <a:avLst>
              <a:gd name="adj" fmla="val 12000"/>
            </a:avLst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2" y="3429000"/>
            <a:ext cx="3072384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2563EB"/>
                </a:solidFill>
                <a:latin typeface="Arial"/>
              </a:defRPr>
            </a:pPr>
            <a:r>
              <a:t>💰 Cost-Effectiveness</a:t>
            </a:r>
          </a:p>
          <a:p>
            <a:pPr>
              <a:defRPr sz="800">
                <a:solidFill>
                  <a:srgbClr val="0F172A"/>
                </a:solidFill>
                <a:latin typeface="Arial"/>
              </a:defRPr>
            </a:pPr>
            <a:r>
              <a:t>Entire pipeline operates under ₹3,500/month, compared to multi-crore physical surveyor field logistics.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04088" y="4279392"/>
            <a:ext cx="3182112" cy="822960"/>
          </a:xfrm>
          <a:prstGeom prst="roundRect">
            <a:avLst>
              <a:gd name="adj" fmla="val 12000"/>
            </a:avLst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8952" y="4325112"/>
            <a:ext cx="3072384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2563EB"/>
                </a:solidFill>
                <a:latin typeface="Arial"/>
              </a:defRPr>
            </a:pPr>
            <a:r>
              <a:t>🎯 Authority Integration</a:t>
            </a:r>
          </a:p>
          <a:p>
            <a:pPr>
              <a:defRPr sz="800">
                <a:solidFill>
                  <a:srgbClr val="0F172A"/>
                </a:solidFill>
                <a:latin typeface="Arial"/>
              </a:defRPr>
            </a:pPr>
            <a:r>
              <a:t>Native REST API and JSON feeds integrate directly into MoSPI eSankhyiki, RBI MPC, and DGCA portals.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89120" y="1024128"/>
            <a:ext cx="3401568" cy="427939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389120" y="1024128"/>
            <a:ext cx="3401568" cy="502920"/>
          </a:xfrm>
          <a:prstGeom prst="roundRect">
            <a:avLst>
              <a:gd name="adj" fmla="val 20000"/>
            </a:avLst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✔️ VIABILITY</a:t>
            </a:r>
          </a:p>
          <a:p>
            <a:pPr algn="ctr">
              <a:defRPr sz="800">
                <a:solidFill>
                  <a:srgbClr val="F1F5F9"/>
                </a:solidFill>
                <a:latin typeface="Arial"/>
              </a:defRPr>
            </a:pPr>
            <a:r>
              <a:t>PROVEN, RELIABLE &amp; TRUSTWORTHY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98848" y="1591056"/>
            <a:ext cx="3182112" cy="822960"/>
          </a:xfrm>
          <a:prstGeom prst="roundRect">
            <a:avLst>
              <a:gd name="adj" fmla="val 12000"/>
            </a:avLst>
          </a:prstGeom>
          <a:solidFill>
            <a:srgbClr val="F0FDF4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53712" y="1636776"/>
            <a:ext cx="3072384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16A34A"/>
                </a:solidFill>
                <a:latin typeface="Arial"/>
              </a:defRPr>
            </a:pPr>
            <a:r>
              <a:t>🔍 Proven Concept</a:t>
            </a:r>
          </a:p>
          <a:p>
            <a:pPr>
              <a:defRPr sz="800">
                <a:solidFill>
                  <a:srgbClr val="0F172A"/>
                </a:solidFill>
                <a:latin typeface="Arial"/>
              </a:defRPr>
            </a:pPr>
            <a:r>
              <a:t>Validated on 10,000+ live fare quotes across IndiGo, Air India, SpiceJet, and Akasa with 100% uptime.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98848" y="2487168"/>
            <a:ext cx="3182112" cy="822960"/>
          </a:xfrm>
          <a:prstGeom prst="roundRect">
            <a:avLst>
              <a:gd name="adj" fmla="val 12000"/>
            </a:avLst>
          </a:prstGeom>
          <a:solidFill>
            <a:srgbClr val="F0FDF4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53712" y="2532888"/>
            <a:ext cx="3072384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16A34A"/>
                </a:solidFill>
                <a:latin typeface="Arial"/>
              </a:defRPr>
            </a:pPr>
            <a:r>
              <a:t>🤝 Builds Public Trust</a:t>
            </a:r>
          </a:p>
          <a:p>
            <a:pPr>
              <a:defRPr sz="800">
                <a:solidFill>
                  <a:srgbClr val="0F172A"/>
                </a:solidFill>
                <a:latin typeface="Arial"/>
              </a:defRPr>
            </a:pPr>
            <a:r>
              <a:t>Transparent, open mathematical formulas backed by UN/ILO Chapter 10 guidelines eliminate black-box skepticism.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98848" y="3383280"/>
            <a:ext cx="3182112" cy="822960"/>
          </a:xfrm>
          <a:prstGeom prst="roundRect">
            <a:avLst>
              <a:gd name="adj" fmla="val 12000"/>
            </a:avLst>
          </a:prstGeom>
          <a:solidFill>
            <a:srgbClr val="F0FDF4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53712" y="3429000"/>
            <a:ext cx="3072384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16A34A"/>
                </a:solidFill>
                <a:latin typeface="Arial"/>
              </a:defRPr>
            </a:pPr>
            <a:r>
              <a:t>🛡️ Guaranteed Accountability</a:t>
            </a:r>
          </a:p>
          <a:p>
            <a:pPr>
              <a:defRPr sz="800">
                <a:solidFill>
                  <a:srgbClr val="0F172A"/>
                </a:solidFill>
                <a:latin typeface="Arial"/>
              </a:defRPr>
            </a:pPr>
            <a:r>
              <a:t>Cryptographic SHA-256 tamper-proof ledger logs every raw fare quote for sovereign audit and judicial scrutiny.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98848" y="4279392"/>
            <a:ext cx="3182112" cy="822960"/>
          </a:xfrm>
          <a:prstGeom prst="roundRect">
            <a:avLst>
              <a:gd name="adj" fmla="val 12000"/>
            </a:avLst>
          </a:prstGeom>
          <a:solidFill>
            <a:srgbClr val="F0FDF4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53712" y="4325112"/>
            <a:ext cx="3072384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16A34A"/>
                </a:solidFill>
                <a:latin typeface="Arial"/>
              </a:defRPr>
            </a:pPr>
            <a:r>
              <a:t>👥 Authority Engagement</a:t>
            </a:r>
          </a:p>
          <a:p>
            <a:pPr>
              <a:defRPr sz="800">
                <a:solidFill>
                  <a:srgbClr val="0F172A"/>
                </a:solidFill>
                <a:latin typeface="Arial"/>
              </a:defRPr>
            </a:pPr>
            <a:r>
              <a:t>Intuitive live interactive dashboards and automated alert triggers keep policy analysts actively informed.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83879" y="1024128"/>
            <a:ext cx="3401568" cy="427939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183879" y="1024128"/>
            <a:ext cx="3401568" cy="502920"/>
          </a:xfrm>
          <a:prstGeom prst="roundRect">
            <a:avLst>
              <a:gd name="adj" fmla="val 20000"/>
            </a:avLst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📊 BUSINESS POTENTIAL</a:t>
            </a:r>
          </a:p>
          <a:p>
            <a:pPr algn="ctr">
              <a:defRPr sz="800">
                <a:solidFill>
                  <a:srgbClr val="F1F5F9"/>
                </a:solidFill>
                <a:latin typeface="Arial"/>
              </a:defRPr>
            </a:pPr>
            <a:r>
              <a:t>SUSTAINABLE POLICY IMPACT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93607" y="1591056"/>
            <a:ext cx="3182112" cy="822960"/>
          </a:xfrm>
          <a:prstGeom prst="roundRect">
            <a:avLst>
              <a:gd name="adj" fmla="val 12000"/>
            </a:avLst>
          </a:prstGeom>
          <a:solidFill>
            <a:srgbClr val="FEFCE8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48471" y="1636776"/>
            <a:ext cx="3072384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D97706"/>
                </a:solidFill>
                <a:latin typeface="Arial"/>
              </a:defRPr>
            </a:pPr>
            <a:r>
              <a:t>💵 Government Cost Savings</a:t>
            </a:r>
          </a:p>
          <a:p>
            <a:pPr>
              <a:defRPr sz="800">
                <a:solidFill>
                  <a:srgbClr val="0F172A"/>
                </a:solidFill>
                <a:latin typeface="Arial"/>
              </a:defRPr>
            </a:pPr>
            <a:r>
              <a:t>Eliminates thousands of manual surveyor airport trips, saving MoSPI an estimated ₹15+ Crores annually.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293607" y="2487168"/>
            <a:ext cx="3182112" cy="822960"/>
          </a:xfrm>
          <a:prstGeom prst="roundRect">
            <a:avLst>
              <a:gd name="adj" fmla="val 12000"/>
            </a:avLst>
          </a:prstGeom>
          <a:solidFill>
            <a:srgbClr val="FEFCE8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48471" y="2532888"/>
            <a:ext cx="3072384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D97706"/>
                </a:solidFill>
                <a:latin typeface="Arial"/>
              </a:defRPr>
            </a:pPr>
            <a:r>
              <a:t>📈 Economic Policy Impact</a:t>
            </a:r>
          </a:p>
          <a:p>
            <a:pPr>
              <a:defRPr sz="800">
                <a:solidFill>
                  <a:srgbClr val="0F172A"/>
                </a:solidFill>
                <a:latin typeface="Arial"/>
              </a:defRPr>
            </a:pPr>
            <a:r>
              <a:t>Delivers leading real-time inflation signals to RBI 15 days ahead of monthly CPI releases for rate setting.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93607" y="3383280"/>
            <a:ext cx="3182112" cy="822960"/>
          </a:xfrm>
          <a:prstGeom prst="roundRect">
            <a:avLst>
              <a:gd name="adj" fmla="val 12000"/>
            </a:avLst>
          </a:prstGeom>
          <a:solidFill>
            <a:srgbClr val="FEFCE8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48471" y="3429000"/>
            <a:ext cx="3072384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D97706"/>
                </a:solidFill>
                <a:latin typeface="Arial"/>
              </a:defRPr>
            </a:pPr>
            <a:r>
              <a:t>⚖️ Regulatory Oversight</a:t>
            </a:r>
          </a:p>
          <a:p>
            <a:pPr>
              <a:defRPr sz="800">
                <a:solidFill>
                  <a:srgbClr val="0F172A"/>
                </a:solidFill>
                <a:latin typeface="Arial"/>
              </a:defRPr>
            </a:pPr>
            <a:r>
              <a:t>Empowers DGCA with automated surge-anomaly detection, identifying predatory pricing and route monopolies.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293607" y="4279392"/>
            <a:ext cx="3182112" cy="822960"/>
          </a:xfrm>
          <a:prstGeom prst="roundRect">
            <a:avLst>
              <a:gd name="adj" fmla="val 12000"/>
            </a:avLst>
          </a:prstGeom>
          <a:solidFill>
            <a:srgbClr val="FEFCE8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48471" y="4325112"/>
            <a:ext cx="3072384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D97706"/>
                </a:solidFill>
                <a:latin typeface="Arial"/>
              </a:defRPr>
            </a:pPr>
            <a:r>
              <a:t>🌐 DPI Monetization Potential</a:t>
            </a:r>
          </a:p>
          <a:p>
            <a:pPr>
              <a:defRPr sz="800">
                <a:solidFill>
                  <a:srgbClr val="0F172A"/>
                </a:solidFill>
                <a:latin typeface="Arial"/>
              </a:defRPr>
            </a:pPr>
            <a:r>
              <a:t>Sovereign API can be licensed to financial institutions, rating agencies, and travel analytics providers.</a:t>
            </a:r>
          </a:p>
        </p:txBody>
      </p:sp>
      <p:pic>
        <p:nvPicPr>
          <p:cNvPr id="36" name="Picture 35" descr="runway_skyline_bann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5376672"/>
            <a:ext cx="10991088" cy="107899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01168"/>
            <a:ext cx="1645920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00000"/>
                </a:solidFill>
                <a:latin typeface="Arial"/>
              </a:defRPr>
            </a:pPr>
            <a:r>
              <a:t>Roorkies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109728"/>
            <a:ext cx="75895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500" b="1">
                <a:solidFill>
                  <a:srgbClr val="000000"/>
                </a:solidFill>
                <a:latin typeface="Times New Roman"/>
              </a:defRPr>
            </a:pPr>
            <a:r>
              <a:t>IMPACT AND BENEFITS</a:t>
            </a:r>
          </a:p>
        </p:txBody>
      </p:sp>
      <p:pic>
        <p:nvPicPr>
          <p:cNvPr id="5" name="Picture 4" descr="page_1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109728"/>
            <a:ext cx="1645920" cy="77724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02920" y="1078992"/>
            <a:ext cx="4572000" cy="2331720"/>
          </a:xfrm>
          <a:prstGeom prst="rect">
            <a:avLst/>
          </a:prstGeom>
          <a:solidFill>
            <a:srgbClr val="FFFFFF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7512" y="1170432"/>
            <a:ext cx="4242816" cy="2148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1E40AF"/>
                </a:solidFill>
                <a:latin typeface="Arial"/>
              </a:defRPr>
            </a:pPr>
            <a:r>
              <a:t>Potential Impact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Zero Policy Lag: </a:t>
            </a:r>
            <a:r>
              <a:rPr sz="1050">
                <a:solidFill>
                  <a:srgbClr val="0F172A"/>
                </a:solidFill>
                <a:latin typeface="Arial"/>
              </a:rPr>
              <a:t>Slashes price collection latency from 15 days to real-time (&lt;24h), eliminating critical macroeconomic blindspots.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Comprehensive Dynamic Coverage: </a:t>
            </a:r>
            <a:r>
              <a:rPr sz="1050">
                <a:solidFill>
                  <a:srgbClr val="0F172A"/>
                </a:solidFill>
                <a:latin typeface="Arial"/>
              </a:rPr>
              <a:t>Ingests 10,000+ daily fare quotes across 12 metro routes vs 1 monthly static manual quote.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Elimination of Substitution Bias: </a:t>
            </a:r>
            <a:r>
              <a:rPr sz="1050">
                <a:solidFill>
                  <a:srgbClr val="0F172A"/>
                </a:solidFill>
                <a:latin typeface="Arial"/>
              </a:rPr>
              <a:t>Mathematically eliminates 20-30 bps upward inflation distortion via UN/ILO Jevons indexing.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3520440"/>
            <a:ext cx="4572000" cy="2423160"/>
          </a:xfrm>
          <a:prstGeom prst="rect">
            <a:avLst/>
          </a:prstGeom>
          <a:solidFill>
            <a:srgbClr val="FFFFFF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3611880"/>
            <a:ext cx="4242816" cy="2240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1E40AF"/>
                </a:solidFill>
                <a:latin typeface="Arial"/>
              </a:defRPr>
            </a:pPr>
            <a:r>
              <a:t>Benefits: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050" b="1">
                <a:solidFill>
                  <a:srgbClr val="DC2626"/>
                </a:solidFill>
                <a:latin typeface="Arial"/>
              </a:rPr>
              <a:t>• Sovereign (MoSPI NSO): </a:t>
            </a:r>
            <a:r>
              <a:rPr sz="1000">
                <a:solidFill>
                  <a:srgbClr val="0F172A"/>
                </a:solidFill>
                <a:latin typeface="Arial"/>
              </a:rPr>
              <a:t>Direct automated API feed into eSankhyiki &amp; NDAP; transparent, reproducible inflation indices.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050" b="1">
                <a:solidFill>
                  <a:srgbClr val="DC2626"/>
                </a:solidFill>
                <a:latin typeface="Arial"/>
              </a:rPr>
              <a:t>• Monetary Policy (RBI MPC): </a:t>
            </a:r>
            <a:r>
              <a:rPr sz="1000">
                <a:solidFill>
                  <a:srgbClr val="0F172A"/>
                </a:solidFill>
                <a:latin typeface="Arial"/>
              </a:rPr>
              <a:t>Provides high-frequency leading transport inflation signals for proactive interest rate setting.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050" b="1">
                <a:solidFill>
                  <a:srgbClr val="DC2626"/>
                </a:solidFill>
                <a:latin typeface="Arial"/>
              </a:rPr>
              <a:t>• Economic &amp; Fiscal: </a:t>
            </a:r>
            <a:r>
              <a:rPr sz="1000">
                <a:solidFill>
                  <a:srgbClr val="0F172A"/>
                </a:solidFill>
                <a:latin typeface="Arial"/>
              </a:rPr>
              <a:t>Saves ₹15+ Crores annually in physical surveyor travel and logistics overheads (&lt; ₹3,500/mo cloud cost).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050" b="1">
                <a:solidFill>
                  <a:srgbClr val="DC2626"/>
                </a:solidFill>
                <a:latin typeface="Arial"/>
              </a:rPr>
              <a:t>• National DPI: </a:t>
            </a:r>
            <a:r>
              <a:rPr sz="1000">
                <a:solidFill>
                  <a:srgbClr val="0F172A"/>
                </a:solidFill>
                <a:latin typeface="Arial"/>
              </a:rPr>
              <a:t>India's first open, verifiable high-frequency price monitoring infrastructure with SHA-256 legal auditability.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57800" y="1078992"/>
            <a:ext cx="6428232" cy="2331720"/>
          </a:xfrm>
          <a:prstGeom prst="rect">
            <a:avLst/>
          </a:prstGeom>
          <a:solidFill>
            <a:srgbClr val="FFFFFF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67528" y="1115568"/>
            <a:ext cx="6208776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050" b="1">
                <a:solidFill>
                  <a:srgbClr val="DC2626"/>
                </a:solidFill>
                <a:latin typeface="Arial"/>
              </a:rPr>
              <a:t>PROTOTYPE IMAGE 1 (Live Real-Time Airfare Price Index Dashboard)</a:t>
            </a:r>
          </a:p>
        </p:txBody>
      </p:sp>
      <p:pic>
        <p:nvPicPr>
          <p:cNvPr id="12" name="Picture 11" descr="vayusuchak_prototype_ch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0952" y="1389888"/>
            <a:ext cx="6281928" cy="1965960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5257800" y="3520440"/>
            <a:ext cx="6428232" cy="2423160"/>
          </a:xfrm>
          <a:prstGeom prst="rect">
            <a:avLst/>
          </a:prstGeom>
          <a:solidFill>
            <a:srgbClr val="FFFFFF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67528" y="3557016"/>
            <a:ext cx="6208776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050" b="1">
                <a:solidFill>
                  <a:srgbClr val="DC2626"/>
                </a:solidFill>
                <a:latin typeface="Arial"/>
              </a:rPr>
              <a:t>PROTOTYPE IMAGE 2 (Corridor-Wise Yield &amp; Surge Analytics Table)</a:t>
            </a:r>
          </a:p>
        </p:txBody>
      </p:sp>
      <p:pic>
        <p:nvPicPr>
          <p:cNvPr id="15" name="Picture 14" descr="vayusuchak_prototype_tab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30952" y="3840480"/>
            <a:ext cx="6281928" cy="2057400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502920" y="6053328"/>
            <a:ext cx="11183112" cy="402336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🚀 Live Interactive Prototype: </a:t>
            </a:r>
            <a:r>
              <a:rPr sz="1100" b="1" u="sng">
                <a:solidFill>
                  <a:srgbClr val="FFFFFF"/>
                </a:solidFill>
                <a:latin typeface="Arial"/>
                <a:hlinkClick r:id="rId5"/>
              </a:rPr>
              <a:t>https://sih26056-airfare-cpi.vercel.app ↗</a:t>
            </a:r>
            <a:r>
              <a:rPr sz="1050">
                <a:solidFill>
                  <a:srgbClr val="F0FDF4"/>
                </a:solidFill>
                <a:latin typeface="Arial"/>
              </a:rPr>
              <a:t>   |   Click to Explore Live Real-Time Dashboard &amp; Ingestion Engine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01168"/>
            <a:ext cx="1645920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00000"/>
                </a:solidFill>
                <a:latin typeface="Arial"/>
              </a:defRPr>
            </a:pPr>
            <a:r>
              <a:t>Roorkies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109728"/>
            <a:ext cx="75895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500" b="1">
                <a:solidFill>
                  <a:srgbClr val="1B365D"/>
                </a:solidFill>
                <a:latin typeface="Times New Roman"/>
              </a:defRPr>
            </a:pPr>
            <a:r>
              <a:t>RESEARCH AND REFERENCES</a:t>
            </a:r>
          </a:p>
          <a:p>
            <a:pPr algn="ctr">
              <a:defRPr sz="1800" b="1">
                <a:solidFill>
                  <a:srgbClr val="1E40AF"/>
                </a:solidFill>
                <a:latin typeface="Times New Roman"/>
              </a:defRPr>
            </a:pPr>
            <a:r>
              <a:t>Academic Foundations, Official Data Sources &amp; Technical Documentation</a:t>
            </a:r>
          </a:p>
        </p:txBody>
      </p:sp>
      <p:pic>
        <p:nvPicPr>
          <p:cNvPr id="5" name="Picture 4" descr="page_1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109728"/>
            <a:ext cx="1645920" cy="77724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85800" y="1143000"/>
            <a:ext cx="5212080" cy="2487168"/>
          </a:xfrm>
          <a:prstGeom prst="roundRect">
            <a:avLst>
              <a:gd name="adj" fmla="val 5000"/>
            </a:avLst>
          </a:prstGeom>
          <a:solidFill>
            <a:srgbClr val="EFF6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1252728"/>
            <a:ext cx="4809744" cy="22677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600"/>
              </a:spcAft>
              <a:defRPr sz="1200" b="1">
                <a:solidFill>
                  <a:srgbClr val="1D4ED8"/>
                </a:solidFill>
                <a:latin typeface="Arial"/>
              </a:defRPr>
            </a:pPr>
            <a:r>
              <a:t>SUPPORTING RESEARCH PAPERS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Cavallo &amp; Rigobon (2016). 'The Billion Prices Project: Using Online Data for Measurement.' J. Econ. Perspect. </a:t>
            </a:r>
            <a:r>
              <a:rPr sz="880" b="1" u="sng">
                <a:solidFill>
                  <a:srgbClr val="1D4ED8"/>
                </a:solidFill>
                <a:latin typeface="Arial"/>
                <a:hlinkClick r:id="rId3"/>
              </a:rPr>
              <a:t>[doi:10.1257/jep.30.2.151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UN, ILO, IMF, OECD, World Bank (2020). CPI Manual: Concepts &amp; Methods, Ch. 10 Elementary Indices. </a:t>
            </a:r>
            <a:r>
              <a:rPr sz="880" b="1" u="sng">
                <a:solidFill>
                  <a:srgbClr val="1D4ED8"/>
                </a:solidFill>
                <a:latin typeface="Arial"/>
                <a:hlinkClick r:id="rId4"/>
              </a:rPr>
              <a:t>[ilo.org/cpi-manual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Diewert, W. E. (2004). 'Elementary Indices.' In Consumer Price Index Theory, IMF Handbook. </a:t>
            </a:r>
            <a:r>
              <a:rPr sz="880" b="1" u="sng">
                <a:solidFill>
                  <a:srgbClr val="1D4ED8"/>
                </a:solidFill>
                <a:latin typeface="Arial"/>
                <a:hlinkClick r:id="rId5"/>
              </a:rPr>
              <a:t>[imf.org/cpi-theory ↗]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143000"/>
            <a:ext cx="5212080" cy="2487168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4808" y="1252728"/>
            <a:ext cx="4809744" cy="22677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600"/>
              </a:spcAft>
              <a:defRPr sz="1200" b="1">
                <a:solidFill>
                  <a:srgbClr val="0F172A"/>
                </a:solidFill>
                <a:latin typeface="Arial"/>
              </a:defRPr>
            </a:pPr>
            <a:r>
              <a:t>OFFICIAL DATA SOURCES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DGCA India: Monthly Scheduled Domestic Passenger Traffic &amp; Route Shares. </a:t>
            </a:r>
            <a:r>
              <a:rPr sz="880" b="1" u="sng">
                <a:solidFill>
                  <a:srgbClr val="1D4ED8"/>
                </a:solidFill>
                <a:latin typeface="Arial"/>
                <a:hlinkClick r:id="rId6"/>
              </a:rPr>
              <a:t>[dgca.gov.in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MoSPI NSO: Consumer Price Index Guidelines &amp; Base 2012 Methodology. </a:t>
            </a:r>
            <a:r>
              <a:rPr sz="880" b="1" u="sng">
                <a:solidFill>
                  <a:srgbClr val="1D4ED8"/>
                </a:solidFill>
                <a:latin typeface="Arial"/>
                <a:hlinkClick r:id="rId7"/>
              </a:rPr>
              <a:t>[mospi.gov.in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Direct Airline Portals: Daily Fare Quotes across IndiGo, Air India, Akasa, SpiceJet. </a:t>
            </a:r>
            <a:r>
              <a:rPr sz="880" b="1" u="sng">
                <a:solidFill>
                  <a:srgbClr val="1D4ED8"/>
                </a:solidFill>
                <a:latin typeface="Arial"/>
                <a:hlinkClick r:id="rId8"/>
              </a:rPr>
              <a:t>[goindigo.in ↗]</a:t>
            </a:r>
            <a:r>
              <a:rPr sz="880">
                <a:solidFill>
                  <a:srgbClr val="0F172A"/>
                </a:solidFill>
                <a:latin typeface="Arial"/>
              </a:rPr>
              <a:t> | </a:t>
            </a:r>
            <a:r>
              <a:rPr sz="880" b="1" u="sng">
                <a:solidFill>
                  <a:srgbClr val="1D4ED8"/>
                </a:solidFill>
                <a:latin typeface="Arial"/>
                <a:hlinkClick r:id="rId9"/>
              </a:rPr>
              <a:t>[airindia.com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Online Travel Aggregators: Non-Stop Corridor Pricing Feeds. </a:t>
            </a:r>
            <a:r>
              <a:rPr sz="880" b="1" u="sng">
                <a:solidFill>
                  <a:srgbClr val="1D4ED8"/>
                </a:solidFill>
                <a:latin typeface="Arial"/>
                <a:hlinkClick r:id="rId10"/>
              </a:rPr>
              <a:t>[makemytrip.com ↗]</a:t>
            </a:r>
            <a:r>
              <a:rPr sz="880">
                <a:solidFill>
                  <a:srgbClr val="0F172A"/>
                </a:solidFill>
                <a:latin typeface="Arial"/>
              </a:rPr>
              <a:t> | </a:t>
            </a:r>
            <a:r>
              <a:rPr sz="880" b="1" u="sng">
                <a:solidFill>
                  <a:srgbClr val="1D4ED8"/>
                </a:solidFill>
                <a:latin typeface="Arial"/>
                <a:hlinkClick r:id="rId11"/>
              </a:rPr>
              <a:t>[easemytrip.com ↗]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3822191"/>
            <a:ext cx="5212080" cy="256032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6968" y="3931919"/>
            <a:ext cx="4809744" cy="23408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600"/>
              </a:spcAft>
              <a:defRPr sz="1200" b="1">
                <a:solidFill>
                  <a:srgbClr val="0F172A"/>
                </a:solidFill>
                <a:latin typeface="Arial"/>
              </a:defRPr>
            </a:pPr>
            <a:r>
              <a:t>MARKET RESEARCH &amp; MOTIVATION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Indian domestic aviation traffic projected to grow at &gt;15% CAGR (2024–2030). </a:t>
            </a:r>
            <a:r>
              <a:rPr sz="880" b="1" u="sng">
                <a:solidFill>
                  <a:srgbClr val="1D4ED8"/>
                </a:solidFill>
                <a:latin typeface="Arial"/>
                <a:hlinkClick r:id="rId12"/>
              </a:rPr>
              <a:t>[iata.org/india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Algorithmic dynamic pricing generates 200–400% intraday fare volatility across metros. </a:t>
            </a:r>
            <a:r>
              <a:rPr sz="880" b="1" u="sng">
                <a:solidFill>
                  <a:srgbClr val="1D4ED8"/>
                </a:solidFill>
                <a:latin typeface="Arial"/>
                <a:hlinkClick r:id="rId13"/>
              </a:rPr>
              <a:t>[cci.gov.in/market-study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Over 90% of domestic air tickets sold digitally, making physical surveying obsolete. </a:t>
            </a:r>
            <a:r>
              <a:rPr sz="880" b="1" u="sng">
                <a:solidFill>
                  <a:srgbClr val="1D4ED8"/>
                </a:solidFill>
                <a:latin typeface="Arial"/>
                <a:hlinkClick r:id="rId14"/>
              </a:rPr>
              <a:t>[civilaviation.gov.in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VayuSuchak eliminates the critical 15-day MoSPI manual survey reporting lag with zero latency. </a:t>
            </a:r>
            <a:r>
              <a:rPr sz="880" b="1" u="sng">
                <a:solidFill>
                  <a:srgbClr val="1D4ED8"/>
                </a:solidFill>
                <a:latin typeface="Arial"/>
                <a:hlinkClick r:id="rId7"/>
              </a:rPr>
              <a:t>[mospi.gov.in/cpi-calendar ↗]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3822191"/>
            <a:ext cx="5212080" cy="2560320"/>
          </a:xfrm>
          <a:prstGeom prst="roundRect">
            <a:avLst>
              <a:gd name="adj" fmla="val 5000"/>
            </a:avLst>
          </a:prstGeom>
          <a:solidFill>
            <a:srgbClr val="EFF6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4808" y="3931919"/>
            <a:ext cx="4809744" cy="23408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600"/>
              </a:spcAft>
              <a:defRPr sz="1200" b="1">
                <a:solidFill>
                  <a:srgbClr val="1D4ED8"/>
                </a:solidFill>
                <a:latin typeface="Arial"/>
              </a:defRPr>
            </a:pPr>
            <a:r>
              <a:t>TECHNICAL DOCUMENTATION &amp; SPECS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Index Formulations: UN/ILO Jevons Geometric Mean Specification. </a:t>
            </a:r>
            <a:r>
              <a:rPr sz="880" b="1" u="sng">
                <a:solidFill>
                  <a:srgbClr val="1D4ED8"/>
                </a:solidFill>
                <a:latin typeface="Arial"/>
                <a:hlinkClick r:id="rId15"/>
              </a:rPr>
              <a:t>[ilo.org/manual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Harvester Engine: Playwright Chromium Headless with Ethical Scraping Protocols. </a:t>
            </a:r>
            <a:r>
              <a:rPr sz="880" b="1" u="sng">
                <a:solidFill>
                  <a:srgbClr val="1D4ED8"/>
                </a:solidFill>
                <a:latin typeface="Arial"/>
                <a:hlinkClick r:id="rId16"/>
              </a:rPr>
              <a:t>[playwright.dev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Provenance Vault: SHA-256 Hash Manifest conforming to NDSAP Standards. </a:t>
            </a:r>
            <a:r>
              <a:rPr sz="880" b="1" u="sng">
                <a:solidFill>
                  <a:srgbClr val="1D4ED8"/>
                </a:solidFill>
                <a:latin typeface="Arial"/>
                <a:hlinkClick r:id="rId17"/>
              </a:rPr>
              <a:t>[data.gov.in/ndsap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Production Deployment: Live Vercel Edge Serverless Architecture &amp; Dashboard. </a:t>
            </a:r>
            <a:r>
              <a:rPr sz="880" b="1" u="sng">
                <a:solidFill>
                  <a:srgbClr val="1D4ED8"/>
                </a:solidFill>
                <a:latin typeface="Arial"/>
                <a:hlinkClick r:id="rId18"/>
              </a:rPr>
              <a:t>[sih26056-airfare-cpi.vercel.app ↗]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