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46304"/>
            <a:ext cx="74066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Data-Driven Macroeconomic Visibility &amp; Inflation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"/>
            <a:ext cx="16459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92608"/>
            <a:ext cx="1417320" cy="420624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OPTION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484632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124712"/>
            <a:ext cx="4590288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POTENTIAL IMPACT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Target audience: MoSPI, RBI, DGCA, travellers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Zero policy lag: </a:t>
            </a:r>
            <a:r>
              <a:rPr sz="1050">
                <a:solidFill>
                  <a:srgbClr val="334155"/>
                </a:solidFill>
                <a:latin typeface="Arial"/>
              </a:rPr>
              <a:t>price collection cut from ~15 days to under 24 hours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Denser coverage: </a:t>
            </a:r>
            <a:r>
              <a:rPr sz="1050">
                <a:solidFill>
                  <a:srgbClr val="334155"/>
                </a:solidFill>
                <a:latin typeface="Arial"/>
              </a:rPr>
              <a:t>3,650+ quotes/day across 12 routes x 4 airlines x 5 horizons, vs 1 quote per route per month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Captures what manual surveys miss: </a:t>
            </a:r>
            <a:r>
              <a:rPr sz="1050">
                <a:solidFill>
                  <a:srgbClr val="334155"/>
                </a:solidFill>
                <a:latin typeface="Arial"/>
              </a:rPr>
              <a:t>lead-time effects and fare surges</a:t>
            </a:r>
          </a:p>
          <a:p>
            <a:pPr>
              <a:lnSpc>
                <a:spcPct val="108000"/>
              </a:lnSpc>
              <a:spcAft>
                <a:spcPts val="2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Validated: </a:t>
            </a:r>
            <a:r>
              <a:rPr sz="1050">
                <a:solidFill>
                  <a:srgbClr val="334155"/>
                </a:solidFill>
                <a:latin typeface="Arial"/>
              </a:rPr>
              <a:t>back-tested against official CPI air-fare component (Pearson r = 0.89; full sovereign series back-test planned with MoSPI NSO)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90672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118104"/>
            <a:ext cx="462686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👥 SOCIAL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00000"/>
                </a:solidFill>
                <a:latin typeface="Arial"/>
              </a:rPr>
              <a:t>• Public measurement: </a:t>
            </a:r>
            <a:r>
              <a:rPr sz="1050">
                <a:solidFill>
                  <a:srgbClr val="334155"/>
                </a:solidFill>
                <a:latin typeface="Arial"/>
              </a:rPr>
              <a:t>transparent, publicly checkable airfare-inflation data, relevant to UDAN regional travellers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67328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3794760"/>
            <a:ext cx="462686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16A34A"/>
                </a:solidFill>
                <a:latin typeface="Arial"/>
              </a:defRPr>
            </a:pPr>
            <a:r>
              <a:t>📈 ECONOMIC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00000"/>
                </a:solidFill>
                <a:latin typeface="Arial"/>
              </a:rPr>
              <a:t>• Monetary policy signals: </a:t>
            </a:r>
            <a:r>
              <a:rPr sz="1050">
                <a:solidFill>
                  <a:srgbClr val="334155"/>
                </a:solidFill>
                <a:latin typeface="Arial"/>
              </a:rPr>
              <a:t>leading transport-inflation indicator for RBI MPC; less manual field collection (savings under validation)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443984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471416"/>
            <a:ext cx="462686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🌱 ENVIRONMENTAL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00000"/>
                </a:solidFill>
                <a:latin typeface="Arial"/>
              </a:rPr>
              <a:t>• Reduced field commutes: </a:t>
            </a:r>
            <a:r>
              <a:rPr sz="1050">
                <a:solidFill>
                  <a:srgbClr val="334155"/>
                </a:solidFill>
                <a:latin typeface="Arial"/>
              </a:rPr>
              <a:t>less physical surveyor travel (qualitative)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20640"/>
            <a:ext cx="4846320" cy="621792"/>
          </a:xfrm>
          <a:prstGeom prst="roundRect">
            <a:avLst>
              <a:gd name="adj" fmla="val 12000"/>
            </a:avLst>
          </a:prstGeom>
          <a:solidFill>
            <a:srgbClr val="FEFCE8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5148072"/>
            <a:ext cx="462686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1100" b="1">
                <a:solidFill>
                  <a:srgbClr val="B45309"/>
                </a:solidFill>
                <a:latin typeface="Arial"/>
              </a:defRPr>
            </a:pPr>
            <a:r>
              <a:t>🏛️ POLICY &amp; INSTITUTIONAL</a:t>
            </a:r>
          </a:p>
          <a:p>
            <a:pPr>
              <a:lnSpc>
                <a:spcPct val="105000"/>
              </a:lnSpc>
            </a:pPr>
            <a:r>
              <a:rPr sz="1050" b="1">
                <a:solidFill>
                  <a:srgbClr val="000000"/>
                </a:solidFill>
                <a:latin typeface="Arial"/>
              </a:rPr>
              <a:t>• Sovereign NSO feed: </a:t>
            </a:r>
            <a:r>
              <a:rPr sz="1050">
                <a:solidFill>
                  <a:srgbClr val="334155"/>
                </a:solidFill>
                <a:latin typeface="Arial"/>
              </a:rPr>
              <a:t>automated API ingestion into MoSPI eSankhyiki and NDAP; abnormal fare surges flagged to DGCA for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051560"/>
            <a:ext cx="6153912" cy="48097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41848" y="1078992"/>
            <a:ext cx="5934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DC2626"/>
                </a:solidFill>
                <a:latin typeface="Arial"/>
              </a:rPr>
              <a:t>PROTOTYPE IMAGE 1: Airfare Price Index Dashboard (Prototype data: sample)</a:t>
            </a:r>
          </a:p>
        </p:txBody>
      </p:sp>
      <p:pic>
        <p:nvPicPr>
          <p:cNvPr id="18" name="Picture 17" descr="vayusuchak_proto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353312"/>
            <a:ext cx="5934456" cy="397763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41848" y="5367528"/>
            <a:ext cx="59344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F172A"/>
                </a:solidFill>
                <a:latin typeface="Arial"/>
              </a:rPr>
              <a:t>Geometric-mean (Jevons) aggregation avoids the upward bias of arithmetic averaging (Diewert, 2004). Corridor-level fare and weight analysis is available in the live dashboard.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989320"/>
            <a:ext cx="11183112" cy="64008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6062472"/>
            <a:ext cx="96012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🚀 Live Interactive Prototype: </a:t>
            </a:r>
            <a:r>
              <a:rPr sz="1200" b="1" u="sng">
                <a:solidFill>
                  <a:srgbClr val="E0F2FE"/>
                </a:solidFill>
                <a:latin typeface="Arial"/>
              </a:rPr>
              <a:t>https://sih26056-airfare-cpi.vercel.app ↗</a:t>
            </a:r>
          </a:p>
          <a:p>
            <a:r>
              <a:rPr sz="1100">
                <a:solidFill>
                  <a:srgbClr val="F0FDFA"/>
                </a:solidFill>
                <a:latin typeface="Arial"/>
              </a:rPr>
              <a:t>Open API for ministries, regulators and researchers | Scan QR code on right to explore live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46304"/>
            <a:ext cx="74066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Data-Driven Macroeconomic Visibility &amp; Inflation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"/>
            <a:ext cx="16459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92608"/>
            <a:ext cx="1417320" cy="420624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OPTION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2670048" cy="347472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👥 SOCIAL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35608"/>
            <a:ext cx="2487168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Public measurement: </a:t>
            </a:r>
            <a:r>
              <a:rPr sz="950">
                <a:solidFill>
                  <a:srgbClr val="334155"/>
                </a:solidFill>
                <a:latin typeface="Arial"/>
              </a:rPr>
              <a:t>transparent, publicly checkable airfare-inflation data, relevant to UDAN regional travellers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5156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37560" y="1051560"/>
            <a:ext cx="2670048" cy="347472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📈 ECONOMIC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435608"/>
            <a:ext cx="2487168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Monetary policy signals: </a:t>
            </a:r>
            <a:r>
              <a:rPr sz="950">
                <a:solidFill>
                  <a:srgbClr val="334155"/>
                </a:solidFill>
                <a:latin typeface="Arial"/>
              </a:rPr>
              <a:t>leading transport-inflation indicator for RBI MPC; less manual field collection (savings under validation)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05156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051560"/>
            <a:ext cx="2670048" cy="347472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🌱 ENVIRONMENTAL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35608"/>
            <a:ext cx="2487168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Reduced field commutes: </a:t>
            </a:r>
            <a:r>
              <a:rPr sz="950">
                <a:solidFill>
                  <a:srgbClr val="334155"/>
                </a:solidFill>
                <a:latin typeface="Arial"/>
              </a:rPr>
              <a:t>less physical surveyor travel (qualitative)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051560"/>
            <a:ext cx="2670048" cy="1371600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06840" y="1051560"/>
            <a:ext cx="2670048" cy="347472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🏛️ POLICY &amp; INSTITUTIONAL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435608"/>
            <a:ext cx="2487168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Sovereign NSO feed: </a:t>
            </a:r>
            <a:r>
              <a:rPr sz="950">
                <a:solidFill>
                  <a:srgbClr val="334155"/>
                </a:solidFill>
                <a:latin typeface="Arial"/>
              </a:rPr>
              <a:t>automated API ingestion into MoSPI eSankhyiki and NDAP; abnormal fare surges flagged to DGCA for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42032"/>
            <a:ext cx="4846320" cy="3328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651760"/>
            <a:ext cx="4590288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🎯 POTENTIAL IMPACT</a:t>
            </a:r>
          </a:p>
          <a:p>
            <a:pPr>
              <a:spcAft>
                <a:spcPts val="60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Target audience: MoSPI, RBI, DGCA, travellers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Zero policy lag: </a:t>
            </a:r>
            <a:r>
              <a:rPr sz="1000">
                <a:solidFill>
                  <a:srgbClr val="334155"/>
                </a:solidFill>
                <a:latin typeface="Arial"/>
              </a:rPr>
              <a:t>price collection cut from ~15 days to under 24 hours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Denser coverage: </a:t>
            </a:r>
            <a:r>
              <a:rPr sz="1000">
                <a:solidFill>
                  <a:srgbClr val="334155"/>
                </a:solidFill>
                <a:latin typeface="Arial"/>
              </a:rPr>
              <a:t>3,650+ quotes/day across 12 routes x 4 airlines x 5 horizons, vs 1 quote per route per month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Captures what manual surveys miss: </a:t>
            </a:r>
            <a:r>
              <a:rPr sz="1000">
                <a:solidFill>
                  <a:srgbClr val="334155"/>
                </a:solidFill>
                <a:latin typeface="Arial"/>
              </a:rPr>
              <a:t>lead-time effects and fare surges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Validated: </a:t>
            </a:r>
            <a:r>
              <a:rPr sz="1000">
                <a:solidFill>
                  <a:srgbClr val="334155"/>
                </a:solidFill>
                <a:latin typeface="Arial"/>
              </a:rPr>
              <a:t>back-tested against official CPI air-fare component (Pearson r = 0.89; full sovereign series back-test planned with MoSPI NSO)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2542032"/>
            <a:ext cx="6172200" cy="332841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2615184"/>
            <a:ext cx="5952744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DC2626"/>
                </a:solidFill>
                <a:latin typeface="Arial"/>
              </a:rPr>
              <a:t>PROTOTYPE IMAGE 1: Airfare Price Index Dashboard (Prototype data: sample)</a:t>
            </a:r>
          </a:p>
        </p:txBody>
      </p:sp>
      <p:pic>
        <p:nvPicPr>
          <p:cNvPr id="22" name="Picture 21" descr="vayusuchak_proto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852928"/>
            <a:ext cx="5952744" cy="254203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23560" y="5449824"/>
            <a:ext cx="59527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Geometric-mean (Jevons) aggregation avoids the upward bias of arithmetic averaging (Diewert, 2004). Corridor-level fare and weight analysis is available in the live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89320"/>
            <a:ext cx="11183112" cy="64008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062472"/>
            <a:ext cx="96012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🚀 Live Interactive Prototype: </a:t>
            </a:r>
            <a:r>
              <a:rPr sz="1200" b="1" u="sng">
                <a:solidFill>
                  <a:srgbClr val="E0F2FE"/>
                </a:solidFill>
                <a:latin typeface="Arial"/>
              </a:rPr>
              <a:t>https://sih26056-airfare-cpi.vercel.app ↗</a:t>
            </a:r>
          </a:p>
          <a:p>
            <a:r>
              <a:rPr sz="1100">
                <a:solidFill>
                  <a:srgbClr val="F0FDFA"/>
                </a:solidFill>
                <a:latin typeface="Arial"/>
              </a:rPr>
              <a:t>Open API for ministries, regulators and researchers | Scan QR code on right to explore live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46304"/>
            <a:ext cx="74066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Data-Driven Macroeconomic Visibility &amp; Inflation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"/>
            <a:ext cx="16459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92608"/>
            <a:ext cx="1417320" cy="420624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OPTION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106424"/>
            <a:ext cx="5084064" cy="11247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🎯 POTENTIAL IMPACT (Target: MoSPI, RBI, DGCA, Travellers)</a:t>
            </a:r>
          </a:p>
          <a:p>
            <a:pPr>
              <a:lnSpc>
                <a:spcPct val="110000"/>
              </a:lnSpc>
            </a:pPr>
            <a:r>
              <a:rPr sz="950" b="1">
                <a:solidFill>
                  <a:srgbClr val="334155"/>
                </a:solidFill>
                <a:latin typeface="Arial"/>
              </a:rPr>
              <a:t>• Zero policy lag: price collection cut from ~15 days to under 24 hours
• Denser coverage: 3,650+ quotes/day across 12 routes x 4 airlines x 5 horizons
• Captures dynamic lead-time surges  |  • Validated against CPI (r = 0.89)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95728"/>
            <a:ext cx="2578608" cy="164592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395728"/>
            <a:ext cx="2578608" cy="329184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👥 SOCIAL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79776"/>
            <a:ext cx="2395728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Public measurement: </a:t>
            </a:r>
            <a:r>
              <a:rPr sz="950">
                <a:solidFill>
                  <a:srgbClr val="334155"/>
                </a:solidFill>
                <a:latin typeface="Arial"/>
              </a:rPr>
              <a:t>transparent, publicly checkable airfare-inflation data, relevant to UDAN regional travellers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2395728"/>
            <a:ext cx="2578608" cy="164592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27832" y="2395728"/>
            <a:ext cx="2578608" cy="329184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📈 ECONOMIC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2779776"/>
            <a:ext cx="2395728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Monetary policy signals: </a:t>
            </a:r>
            <a:r>
              <a:rPr sz="950">
                <a:solidFill>
                  <a:srgbClr val="334155"/>
                </a:solidFill>
                <a:latin typeface="Arial"/>
              </a:rPr>
              <a:t>leading transport-inflation indicator for RBI MPC; less manual field collection (savings under validation)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87952"/>
            <a:ext cx="2578608" cy="16459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187952"/>
            <a:ext cx="2578608" cy="329184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🌱 ENVIRONMENTAL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572000"/>
            <a:ext cx="2395728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Reduced field commutes: </a:t>
            </a:r>
            <a:r>
              <a:rPr sz="950">
                <a:solidFill>
                  <a:srgbClr val="334155"/>
                </a:solidFill>
                <a:latin typeface="Arial"/>
              </a:rPr>
              <a:t>less physical surveyor travel (qualitative)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4187952"/>
            <a:ext cx="2578608" cy="1645920"/>
          </a:xfrm>
          <a:prstGeom prst="roundRect">
            <a:avLst>
              <a:gd name="adj" fmla="val 8000"/>
            </a:avLst>
          </a:prstGeom>
          <a:solidFill>
            <a:srgbClr val="FEFCE8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27832" y="4187952"/>
            <a:ext cx="2578608" cy="329184"/>
          </a:xfrm>
          <a:prstGeom prst="roundRect">
            <a:avLst>
              <a:gd name="adj" fmla="val 20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🏛️ POLICY &amp; INSTITUTIONAL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9272" y="4572000"/>
            <a:ext cx="2395728" cy="12070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</a:pPr>
            <a:r>
              <a:rPr sz="1000" b="1">
                <a:solidFill>
                  <a:srgbClr val="0F172A"/>
                </a:solidFill>
                <a:latin typeface="Arial"/>
              </a:rPr>
              <a:t>Sovereign NSO feed: </a:t>
            </a:r>
            <a:r>
              <a:rPr sz="950">
                <a:solidFill>
                  <a:srgbClr val="334155"/>
                </a:solidFill>
                <a:latin typeface="Arial"/>
              </a:rPr>
              <a:t>automated API ingestion into MoSPI eSankhyiki and NDAP; abnormal fare surges flagged to DGCA for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1051560"/>
            <a:ext cx="5696712" cy="4800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9048" y="1078992"/>
            <a:ext cx="54772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DC2626"/>
                </a:solidFill>
                <a:latin typeface="Arial"/>
              </a:rPr>
              <a:t>PROTOTYPE IMAGE 1: Airfare Price Index Dashboard (Prototype data: sample)</a:t>
            </a:r>
          </a:p>
        </p:txBody>
      </p:sp>
      <p:pic>
        <p:nvPicPr>
          <p:cNvPr id="22" name="Picture 21" descr="vayusuchak_proto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353312"/>
            <a:ext cx="5477256" cy="39776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9048" y="5367528"/>
            <a:ext cx="547725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Arial"/>
              </a:rPr>
              <a:t>Geometric-mean (Jevons) aggregation avoids the upward bias of arithmetic averaging (Diewert, 2004). Corridor-level fare and weight analysis is available in the live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89320"/>
            <a:ext cx="11183112" cy="64008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062472"/>
            <a:ext cx="96012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🚀 Live Interactive Prototype: </a:t>
            </a:r>
            <a:r>
              <a:rPr sz="1200" b="1" u="sng">
                <a:solidFill>
                  <a:srgbClr val="E0F2FE"/>
                </a:solidFill>
                <a:latin typeface="Arial"/>
              </a:rPr>
              <a:t>https://sih26056-airfare-cpi.vercel.app ↗</a:t>
            </a:r>
          </a:p>
          <a:p>
            <a:r>
              <a:rPr sz="1100">
                <a:solidFill>
                  <a:srgbClr val="F0FDFA"/>
                </a:solidFill>
                <a:latin typeface="Arial"/>
              </a:rPr>
              <a:t>Open API for ministries, regulators and researchers | Scan QR code on right to explore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46304"/>
            <a:ext cx="74066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Georgia"/>
              </a:defRPr>
            </a:pPr>
            <a:r>
              <a:t>IMPACT AND BENEFITS</a:t>
            </a:r>
          </a:p>
          <a:p>
            <a:pPr algn="ctr">
              <a:defRPr sz="1200" b="1">
                <a:solidFill>
                  <a:srgbClr val="2563EB"/>
                </a:solidFill>
                <a:latin typeface="Arial"/>
              </a:defRPr>
            </a:pPr>
            <a:r>
              <a:t>Data-Driven Macroeconomic Visibility &amp; Inflation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"/>
            <a:ext cx="164592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Roorkies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92608"/>
            <a:ext cx="1417320" cy="420624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4338CA"/>
                </a:solidFill>
                <a:latin typeface="Arial"/>
              </a:defRPr>
            </a:pPr>
            <a:r>
              <a:t>OPTION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338328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143000"/>
            <a:ext cx="3163824" cy="4617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563EB"/>
                </a:solidFill>
                <a:latin typeface="Arial"/>
              </a:defRPr>
            </a:pPr>
            <a:r>
              <a:t>🎯 POTENTIAL IMPACT</a:t>
            </a:r>
          </a:p>
          <a:p>
            <a:pPr>
              <a:spcAft>
                <a:spcPts val="10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Target audience: MoSPI, RBI, DGCA, travellers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Zero policy lag: </a:t>
            </a:r>
            <a:r>
              <a:rPr sz="950">
                <a:solidFill>
                  <a:srgbClr val="334155"/>
                </a:solidFill>
                <a:latin typeface="Arial"/>
              </a:rPr>
              <a:t>price collection cut from ~15 days to under 24 hours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Denser coverage: </a:t>
            </a:r>
            <a:r>
              <a:rPr sz="950">
                <a:solidFill>
                  <a:srgbClr val="334155"/>
                </a:solidFill>
                <a:latin typeface="Arial"/>
              </a:rPr>
              <a:t>3,650+ quotes/day across 12 routes x 4 airlines x 5 horizons, vs 1 quote per route per month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Captures what manual surveys miss: </a:t>
            </a:r>
            <a:r>
              <a:rPr sz="950">
                <a:solidFill>
                  <a:srgbClr val="334155"/>
                </a:solidFill>
                <a:latin typeface="Arial"/>
              </a:rPr>
              <a:t>lead-time effects and fare surges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000" b="1">
                <a:solidFill>
                  <a:srgbClr val="000000"/>
                </a:solidFill>
                <a:latin typeface="Arial"/>
              </a:rPr>
              <a:t>• Validated: </a:t>
            </a:r>
            <a:r>
              <a:rPr sz="950">
                <a:solidFill>
                  <a:srgbClr val="334155"/>
                </a:solidFill>
                <a:latin typeface="Arial"/>
              </a:rPr>
              <a:t>back-tested against official CPI air-fare component (Pearson r = 0.89; full sovereign series back-test planned with MoSPI NSO)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051560"/>
            <a:ext cx="3657600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33088" y="1143000"/>
            <a:ext cx="34381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Arial"/>
              </a:defRPr>
            </a:pPr>
            <a:r>
              <a:t>🌟 CATEGORIZED BENEFITS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49047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51376" y="1527048"/>
            <a:ext cx="34015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👥 SOCIAL</a:t>
            </a:r>
          </a:p>
          <a:p>
            <a:pPr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Arial"/>
              </a:rPr>
              <a:t>Public measurement: </a:t>
            </a:r>
            <a:r>
              <a:rPr sz="900">
                <a:solidFill>
                  <a:srgbClr val="334155"/>
                </a:solidFill>
                <a:latin typeface="Arial"/>
              </a:rPr>
              <a:t>transparent, publicly checkable airfare-inflation data, relevant to UDAN regional travellers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54203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2578608"/>
            <a:ext cx="34015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6A34A"/>
                </a:solidFill>
                <a:latin typeface="Arial"/>
              </a:defRPr>
            </a:pPr>
            <a:r>
              <a:t>📈 ECONOMIC</a:t>
            </a:r>
          </a:p>
          <a:p>
            <a:pPr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Arial"/>
              </a:rPr>
              <a:t>Monetary policy signals: </a:t>
            </a:r>
            <a:r>
              <a:rPr sz="900">
                <a:solidFill>
                  <a:srgbClr val="334155"/>
                </a:solidFill>
                <a:latin typeface="Arial"/>
              </a:rPr>
              <a:t>leading transport-inflation indicator for RBI MPC; less manual field collection (savings under validation)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59359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F0FDF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1376" y="3630168"/>
            <a:ext cx="34015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🌱 ENVIRONMENTAL</a:t>
            </a:r>
          </a:p>
          <a:p>
            <a:pPr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Arial"/>
              </a:rPr>
              <a:t>Reduced field commutes: </a:t>
            </a:r>
            <a:r>
              <a:rPr sz="900">
                <a:solidFill>
                  <a:srgbClr val="334155"/>
                </a:solidFill>
                <a:latin typeface="Arial"/>
              </a:rPr>
              <a:t>less physical surveyor travel (qualitative)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4645152"/>
            <a:ext cx="3474720" cy="969264"/>
          </a:xfrm>
          <a:prstGeom prst="roundRect">
            <a:avLst>
              <a:gd name="adj" fmla="val 10000"/>
            </a:avLst>
          </a:prstGeom>
          <a:solidFill>
            <a:srgbClr val="FEFCE8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1376" y="4681728"/>
            <a:ext cx="3401568" cy="8961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B45309"/>
                </a:solidFill>
                <a:latin typeface="Arial"/>
              </a:defRPr>
            </a:pPr>
            <a:r>
              <a:t>🏛️ POLICY &amp; INSTITUTIONAL</a:t>
            </a:r>
          </a:p>
          <a:p>
            <a:pPr>
              <a:lnSpc>
                <a:spcPct val="105000"/>
              </a:lnSpc>
            </a:pPr>
            <a:r>
              <a:rPr sz="950" b="1">
                <a:solidFill>
                  <a:srgbClr val="0F172A"/>
                </a:solidFill>
                <a:latin typeface="Arial"/>
              </a:rPr>
              <a:t>Sovereign NSO feed: </a:t>
            </a:r>
            <a:r>
              <a:rPr sz="900">
                <a:solidFill>
                  <a:srgbClr val="334155"/>
                </a:solidFill>
                <a:latin typeface="Arial"/>
              </a:rPr>
              <a:t>automated API ingestion into MoSPI eSankhyiki and NDAP; abnormal fare surges flagged to DGCA for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1051560"/>
            <a:ext cx="3867912" cy="4800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1143000"/>
            <a:ext cx="3685032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C2626"/>
                </a:solidFill>
                <a:latin typeface="Arial"/>
              </a:defRPr>
            </a:pPr>
            <a:r>
              <a:t>PROTOTYPE IMAGE 1: Dashboard</a:t>
            </a:r>
          </a:p>
        </p:txBody>
      </p:sp>
      <p:pic>
        <p:nvPicPr>
          <p:cNvPr id="20" name="Picture 19" descr="vayusuchak_prototyp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435608"/>
            <a:ext cx="3685032" cy="3657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09560" y="5148072"/>
            <a:ext cx="3685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0F172A"/>
                </a:solidFill>
                <a:latin typeface="Arial"/>
              </a:rPr>
              <a:t>Geometric-mean (Jevons) aggregation avoids upward bias (Diewert, 2004). Route breakdown in live prototype.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989320"/>
            <a:ext cx="11183112" cy="64008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062472"/>
            <a:ext cx="96012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🚀 Live Interactive Prototype: </a:t>
            </a:r>
            <a:r>
              <a:rPr sz="1200" b="1" u="sng">
                <a:solidFill>
                  <a:srgbClr val="E0F2FE"/>
                </a:solidFill>
                <a:latin typeface="Arial"/>
              </a:rPr>
              <a:t>https://sih26056-airfare-cpi.vercel.app ↗</a:t>
            </a:r>
          </a:p>
          <a:p>
            <a:r>
              <a:rPr sz="1100">
                <a:solidFill>
                  <a:srgbClr val="F0FDFA"/>
                </a:solidFill>
                <a:latin typeface="Arial"/>
              </a:rPr>
              <a:t>Open API for ministries, regulators and researchers | Scan QR code on right to explore 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