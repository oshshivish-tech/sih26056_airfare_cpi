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46304"/>
            <a:ext cx="74066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300" b="1">
                <a:solidFill>
                  <a:srgbClr val="0F172A"/>
                </a:solidFill>
                <a:latin typeface="Georgia"/>
              </a:defRPr>
            </a:pPr>
            <a:r>
              <a:t>IMPACT AND BENEFITS</a:t>
            </a:r>
          </a:p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Data-Driven Macroeconomic Visibility &amp; Inflation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"/>
            <a:ext cx="164592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Roorkies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292608"/>
            <a:ext cx="1600200" cy="420624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OPTION 4 (PERFECT)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3429000" cy="480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124712"/>
            <a:ext cx="320954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🎯 POTENTIAL IMPACT</a:t>
            </a:r>
          </a:p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Target audience: MoSPI, RBI, DGCA, travellers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27048"/>
            <a:ext cx="3246120" cy="969264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581912"/>
            <a:ext cx="31363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⚡ Zero Policy Lag (&lt;24h vs ~15d)</a:t>
            </a:r>
          </a:p>
          <a:p>
            <a:pPr>
              <a:lnSpc>
                <a:spcPct val="108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Price collection cut from ~15 days to under 24 hours via rate-limited compliant harvesting.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78608"/>
            <a:ext cx="3246120" cy="969264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633472"/>
            <a:ext cx="31363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E7490"/>
                </a:solidFill>
                <a:latin typeface="Arial"/>
              </a:defRPr>
            </a:pPr>
            <a:r>
              <a:t>📊 Denser Route Coverage (3,650+/day)</a:t>
            </a:r>
          </a:p>
          <a:p>
            <a:pPr>
              <a:lnSpc>
                <a:spcPct val="108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3,650+ quotes/day across 12 routes x 4 airlines x 5 horizons (vs 1 single quote/route/month).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30168"/>
            <a:ext cx="3246120" cy="969264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3685032"/>
            <a:ext cx="31363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6D28D9"/>
                </a:solidFill>
                <a:latin typeface="Arial"/>
              </a:defRPr>
            </a:pPr>
            <a:r>
              <a:t>🔍 Dynamic Surge &amp; Lead-Time Capture</a:t>
            </a:r>
          </a:p>
          <a:p>
            <a:pPr>
              <a:lnSpc>
                <a:spcPct val="108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Captures what manual surveys miss: lead-time effects (T+1..T+45) and real-time booking surges.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681728"/>
            <a:ext cx="3246120" cy="969264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4736592"/>
            <a:ext cx="31363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2410C"/>
                </a:solidFill>
                <a:latin typeface="Arial"/>
              </a:defRPr>
            </a:pPr>
            <a:r>
              <a:t>🎯 Sovereign CPI Validation (r = 0.89)</a:t>
            </a:r>
          </a:p>
          <a:p>
            <a:pPr>
              <a:lnSpc>
                <a:spcPct val="108000"/>
              </a:lnSpc>
              <a:defRPr sz="1000">
                <a:solidFill>
                  <a:srgbClr val="334155"/>
                </a:solidFill>
                <a:latin typeface="Arial"/>
              </a:defRPr>
            </a:pPr>
            <a:r>
              <a:t>Back-tested against official CPI air-fare component; sovereign series back-test planned with NSO.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051560"/>
            <a:ext cx="3611880" cy="480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78808" y="1124712"/>
            <a:ext cx="339242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Arial"/>
              </a:defRPr>
            </a:pPr>
            <a:r>
              <a:t>🌟 CATEGORIZED BENEFITS</a:t>
            </a:r>
          </a:p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Four Pillars of Macroeconomic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1527048"/>
            <a:ext cx="3429000" cy="969264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7096" y="1581912"/>
            <a:ext cx="3355848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👥 SOCIAL BENEFITS</a:t>
            </a:r>
          </a:p>
          <a:p>
            <a:pPr>
              <a:lnSpc>
                <a:spcPct val="108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Public measurement: </a:t>
            </a:r>
            <a:r>
              <a:rPr sz="950">
                <a:solidFill>
                  <a:srgbClr val="334155"/>
                </a:solidFill>
                <a:latin typeface="Arial"/>
              </a:rPr>
              <a:t>transparent, publicly checkable airfare-inflation data, relevant to UDAN regional travellers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578608"/>
            <a:ext cx="3429000" cy="969264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7096" y="2633472"/>
            <a:ext cx="3355848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6A34A"/>
                </a:solidFill>
                <a:latin typeface="Arial"/>
              </a:defRPr>
            </a:pPr>
            <a:r>
              <a:t>📈 ECONOMIC BENEFITS</a:t>
            </a:r>
          </a:p>
          <a:p>
            <a:pPr>
              <a:lnSpc>
                <a:spcPct val="108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Monetary policy signals: </a:t>
            </a:r>
            <a:r>
              <a:rPr sz="950">
                <a:solidFill>
                  <a:srgbClr val="334155"/>
                </a:solidFill>
                <a:latin typeface="Arial"/>
              </a:rPr>
              <a:t>leading transport-inflation indicator for RBI MPC; less manual field collection (savings under validation)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630168"/>
            <a:ext cx="3429000" cy="969264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7096" y="3685032"/>
            <a:ext cx="3355848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🌱 ENVIRONMENTAL BENEFITS</a:t>
            </a:r>
          </a:p>
          <a:p>
            <a:pPr>
              <a:lnSpc>
                <a:spcPct val="108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Reduced field commutes: </a:t>
            </a:r>
            <a:r>
              <a:rPr sz="950">
                <a:solidFill>
                  <a:srgbClr val="334155"/>
                </a:solidFill>
                <a:latin typeface="Arial"/>
              </a:rPr>
              <a:t>less physical surveyor travel across travel counters and airports (qualitative)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681728"/>
            <a:ext cx="3429000" cy="969264"/>
          </a:xfrm>
          <a:prstGeom prst="roundRect">
            <a:avLst>
              <a:gd name="adj" fmla="val 10000"/>
            </a:avLst>
          </a:prstGeom>
          <a:solidFill>
            <a:srgbClr val="FEFCE8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97096" y="4736592"/>
            <a:ext cx="3355848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B45309"/>
                </a:solidFill>
                <a:latin typeface="Arial"/>
              </a:defRPr>
            </a:pPr>
            <a:r>
              <a:t>🏛️ POLICY &amp; INSTITUTIONAL</a:t>
            </a:r>
          </a:p>
          <a:p>
            <a:pPr>
              <a:lnSpc>
                <a:spcPct val="108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Sovereign NSO feed: </a:t>
            </a:r>
            <a:r>
              <a:rPr sz="950">
                <a:solidFill>
                  <a:srgbClr val="334155"/>
                </a:solidFill>
                <a:latin typeface="Arial"/>
              </a:rPr>
              <a:t>automated API ingestion into MoSPI eSankhyiki and NDAP; abnormal fare surges flagged to DGCA for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1051560"/>
            <a:ext cx="3867912" cy="480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1143000"/>
            <a:ext cx="368503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C2626"/>
                </a:solidFill>
                <a:latin typeface="Arial"/>
              </a:defRPr>
            </a:pPr>
            <a:r>
              <a:t>PROTOTYPE IMAGE 1: Dashboard</a:t>
            </a:r>
          </a:p>
        </p:txBody>
      </p:sp>
      <p:pic>
        <p:nvPicPr>
          <p:cNvPr id="28" name="Picture 27" descr="vayusuchak_prototy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435608"/>
            <a:ext cx="3685032" cy="3657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09560" y="5148072"/>
            <a:ext cx="3685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rial"/>
              </a:rPr>
              <a:t>Geometric-mean (Jevons) aggregation avoids upward bias (Diewert, 2004). Route breakdown in live prototype.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989320"/>
            <a:ext cx="11183112" cy="64008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062472"/>
            <a:ext cx="96012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🚀 Live Interactive Prototype: </a:t>
            </a:r>
            <a:r>
              <a:rPr sz="1200" b="1" u="sng">
                <a:solidFill>
                  <a:srgbClr val="E0F2FE"/>
                </a:solidFill>
                <a:latin typeface="Arial"/>
              </a:rPr>
              <a:t>https://sih26056-airfare-cpi.vercel.app ↗</a:t>
            </a:r>
          </a:p>
          <a:p>
            <a:r>
              <a:rPr sz="1100">
                <a:solidFill>
                  <a:srgbClr val="F0FDFA"/>
                </a:solidFill>
                <a:latin typeface="Arial"/>
              </a:rPr>
              <a:t>Open API for ministries, regulators and researchers | Scan QR code on right to explore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