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01168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"/>
            <a:ext cx="7589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00000"/>
                </a:solidFill>
                <a:latin typeface="Arial"/>
              </a:defRPr>
            </a:pPr>
            <a:r>
              <a:t>VayuSuchak: Real-Time Airfare Price Index</a:t>
            </a:r>
          </a:p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Augmenting CPI Transport Inflation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09728"/>
            <a:ext cx="164592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98755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rial"/>
              </a:rPr>
              <a:t>❖ Proposed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nel_1_manual_vs_vayusuchak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81328"/>
            <a:ext cx="5120640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251960"/>
            <a:ext cx="51206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E40AF"/>
                </a:solidFill>
                <a:latin typeface="Arial"/>
              </a:rPr>
              <a:t>Core Mechanism: </a:t>
            </a:r>
            <a:r>
              <a:rPr sz="1050">
                <a:solidFill>
                  <a:srgbClr val="0F172A"/>
                </a:solidFill>
                <a:latin typeface="Arial"/>
              </a:rPr>
              <a:t>Automated daily crawlers capture live ticket quotes across T+1..T+45 advance booking windows. An intelligent dynamic IQR filter eliminates cache anomalies and phantom pricing, feeding a UN/ILO Jevons geometric mean index that eliminates Dutot upward substitution bias for sovereign CPI publication.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371600"/>
            <a:ext cx="54406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nel_2_dynamic_yield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1481328"/>
            <a:ext cx="512064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9944" y="3867912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Uniqueness of Solution: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Dynamic Yield Sensitivity: </a:t>
            </a:r>
            <a:r>
              <a:rPr sz="950">
                <a:solidFill>
                  <a:srgbClr val="0F172A"/>
                </a:solidFill>
                <a:latin typeface="Arial"/>
              </a:rPr>
              <a:t>Captures high-frequency intraday algorithmic surges across T+1..T+45 advance windows vs 15-day delayed manual visits.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Zero Upward Substitution Bias: </a:t>
            </a:r>
            <a:r>
              <a:rPr sz="950">
                <a:solidFill>
                  <a:srgbClr val="0F172A"/>
                </a:solidFill>
                <a:latin typeface="Arial"/>
              </a:rPr>
              <a:t>Employs UN/ILO Chapter 10 Jevons geometric mean, mathematically eliminating Dutot distortion.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Cryptographic Legal Audit: </a:t>
            </a:r>
            <a:r>
              <a:rPr sz="950">
                <a:solidFill>
                  <a:srgbClr val="0F172A"/>
                </a:solidFill>
                <a:latin typeface="Arial"/>
              </a:rPr>
              <a:t>SHA-256 batch fingerprints ensure tamper-proof evidentiary standards for MoSPI NSO &amp; RBI.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79008"/>
            <a:ext cx="1118311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815584"/>
            <a:ext cx="1100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00000"/>
                </a:solidFill>
                <a:latin typeface="Arial"/>
              </a:defRPr>
            </a:pPr>
            <a:r>
              <a:t>DATA HARVESTING &gt; IQR OUTLIER TRUNCATION &gt; JEVONS GEOMETRIC INDEX &gt; SHA-256 PROVENANCE &gt; MoSPI &amp; RBI CPI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