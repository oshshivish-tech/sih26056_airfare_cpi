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ih26056-airfare-cpi.vercel.app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7589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749808"/>
            <a:ext cx="6428232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100" b="1" u="sng">
                <a:solidFill>
                  <a:srgbClr val="FFFFFF"/>
                </a:solidFill>
                <a:latin typeface="Arial"/>
                <a:hlinkClick r:id="rId3"/>
              </a:rPr>
              <a:t>https://sih26056-airfare-cpi.vercel.app 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45720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40"/>
            <a:ext cx="4242816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40AF"/>
                </a:solidFill>
                <a:latin typeface="Arial"/>
              </a:defRPr>
            </a:pPr>
            <a:r>
              <a:t>Potential Impact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Zero Policy Lag: </a:t>
            </a:r>
            <a:r>
              <a:rPr sz="1000">
                <a:solidFill>
                  <a:srgbClr val="0F172A"/>
                </a:solidFill>
                <a:latin typeface="Arial"/>
              </a:rPr>
              <a:t>Slashes price collection latency from 15 days to real-time (&lt;24h), eliminating critical macroeconomic blindspots.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Comprehensive Dynamic Coverage: </a:t>
            </a:r>
            <a:r>
              <a:rPr sz="1000">
                <a:solidFill>
                  <a:srgbClr val="0F172A"/>
                </a:solidFill>
                <a:latin typeface="Arial"/>
              </a:rPr>
              <a:t>Ingests 10,000+ daily fare quotes across 12 metro routes vs 1 monthly static manual quote.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Elimination of Substitution Bias: </a:t>
            </a:r>
            <a:r>
              <a:rPr sz="1000">
                <a:solidFill>
                  <a:srgbClr val="0F172A"/>
                </a:solidFill>
                <a:latin typeface="Arial"/>
              </a:rPr>
              <a:t>Mathematically eliminates 20-30 bps upward inflation distortion via UN/ILO Jevons indexing.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74720"/>
            <a:ext cx="45720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_4_stakeholders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547872"/>
            <a:ext cx="4352544" cy="20848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" y="5669280"/>
            <a:ext cx="435254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Arial"/>
              </a:rPr>
              <a:t>• Sovereign Impact: </a:t>
            </a:r>
            <a:r>
              <a:rPr sz="919">
                <a:solidFill>
                  <a:srgbClr val="0F172A"/>
                </a:solidFill>
                <a:latin typeface="Arial"/>
              </a:rPr>
              <a:t>MoSPI saves ₹15+ Cr annually; RBI MPC receives 15-day leading inflation telemetry.</a:t>
            </a:r>
          </a:p>
          <a:p>
            <a:r>
              <a:rPr sz="950" b="1">
                <a:solidFill>
                  <a:srgbClr val="059669"/>
                </a:solidFill>
                <a:latin typeface="Arial"/>
              </a:rPr>
              <a:t>• Regulatory Power: </a:t>
            </a:r>
            <a:r>
              <a:rPr sz="919">
                <a:solidFill>
                  <a:srgbClr val="0F172A"/>
                </a:solidFill>
                <a:latin typeface="Arial"/>
              </a:rPr>
              <a:t>DGCA automated surge detection prevents predatory pricing &amp; route monopolies.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143000"/>
            <a:ext cx="6428232" cy="2542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188720"/>
            <a:ext cx="6208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2626"/>
                </a:solidFill>
                <a:latin typeface="Arial"/>
              </a:rPr>
              <a:t>PROTOTYPE IMAGE 1 (Live Real-Time Airfare Price Index) — </a:t>
            </a:r>
            <a:r>
              <a:rPr sz="1000" b="1" u="sng">
                <a:solidFill>
                  <a:srgbClr val="1E40AF"/>
                </a:solidFill>
                <a:latin typeface="Arial"/>
                <a:hlinkClick r:id="rId3"/>
              </a:rPr>
              <a:t>[Open Live System ↗]</a:t>
            </a:r>
          </a:p>
        </p:txBody>
      </p:sp>
      <p:pic>
        <p:nvPicPr>
          <p:cNvPr id="14" name="Picture 13" descr="vayusuchak_prototyp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444752"/>
            <a:ext cx="6208776" cy="21762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257800" y="3776472"/>
            <a:ext cx="6428232" cy="2715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822191"/>
            <a:ext cx="6208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2626"/>
                </a:solidFill>
                <a:latin typeface="Arial"/>
              </a:rPr>
              <a:t>PROTOTYPE IMAGE 2 (Corridor-Wise Yield &amp; Surge Table) — </a:t>
            </a:r>
            <a:r>
              <a:rPr sz="1000" b="1" u="sng">
                <a:solidFill>
                  <a:srgbClr val="1E40AF"/>
                </a:solidFill>
                <a:latin typeface="Arial"/>
                <a:hlinkClick r:id="rId3"/>
              </a:rPr>
              <a:t>[Explore Corridors ↗]</a:t>
            </a:r>
          </a:p>
        </p:txBody>
      </p:sp>
      <p:pic>
        <p:nvPicPr>
          <p:cNvPr id="17" name="Picture 16" descr="vayusuchak_prototype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4078224"/>
            <a:ext cx="6208776" cy="2340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