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01168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Arial"/>
              </a:defRPr>
            </a:pPr>
            <a:r>
              <a:t>Team Rookie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09728"/>
            <a:ext cx="7589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latin typeface="Arial"/>
              </a:defRPr>
            </a:pPr>
            <a:r>
              <a:t>VayuSuchak: Real-Time Airfare Price Index</a:t>
            </a:r>
          </a:p>
          <a:p>
            <a:pPr algn="ctr">
              <a:defRPr sz="1500" b="1">
                <a:solidFill>
                  <a:srgbClr val="1E40AF"/>
                </a:solidFill>
                <a:latin typeface="Arial"/>
              </a:defRPr>
            </a:pPr>
            <a:r>
              <a:t>Augmenting CPI Transport Inflation</a:t>
            </a:r>
          </a:p>
        </p:txBody>
      </p:sp>
      <p:pic>
        <p:nvPicPr>
          <p:cNvPr id="4" name="Picture 3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09728"/>
            <a:ext cx="16459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E40AF"/>
                </a:solidFill>
                <a:latin typeface="Arial"/>
              </a:defRPr>
            </a:pPr>
            <a:r>
              <a:t>❖ Proposed Solution: Problem vs. Solution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89888"/>
            <a:ext cx="5440680" cy="2542032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5440680" cy="4114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THE PROBLEM (Current MoSPI Manual Survey)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65376"/>
            <a:ext cx="5074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• 15-Day Information Lag: </a:t>
            </a:r>
            <a:r>
              <a:rPr sz="1000">
                <a:solidFill>
                  <a:srgbClr val="0F172A"/>
                </a:solidFill>
                <a:latin typeface="Arial"/>
              </a:rPr>
              <a:t>Manual surveyor field visits create severe reporting delays, missing high-frequency price volatility.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• Static Single Snapshot: </a:t>
            </a:r>
            <a:r>
              <a:rPr sz="1000">
                <a:solidFill>
                  <a:srgbClr val="0F172A"/>
                </a:solidFill>
                <a:latin typeface="Arial"/>
              </a:rPr>
              <a:t>Only 1 quote collected per route/month, failing to capture 10,000+ daily algorithmic fares.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• Dutot Upward Bias: </a:t>
            </a:r>
            <a:r>
              <a:rPr sz="1000">
                <a:solidFill>
                  <a:srgbClr val="0F172A"/>
                </a:solidFill>
                <a:latin typeface="Arial"/>
              </a:rPr>
              <a:t>Arithmetic mean formula overstates airfare transport inflation by 20–30 bps (substitution bias).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1050" b="1">
                <a:solidFill>
                  <a:srgbClr val="B91C1C"/>
                </a:solidFill>
                <a:latin typeface="Arial"/>
              </a:rPr>
              <a:t>• High Operational Cost: </a:t>
            </a:r>
            <a:r>
              <a:rPr sz="1000">
                <a:solidFill>
                  <a:srgbClr val="0F172A"/>
                </a:solidFill>
                <a:latin typeface="Arial"/>
              </a:rPr>
              <a:t>Multi-crore physical surveyor logistics across airports with zero cryptographic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89888"/>
            <a:ext cx="5440680" cy="2542032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5352" y="1389888"/>
            <a:ext cx="54406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💡 HOW OUR APP SOLVES IT (VayuSuchak Engine)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865376"/>
            <a:ext cx="5074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1050" b="1">
                <a:solidFill>
                  <a:srgbClr val="15803D"/>
                </a:solidFill>
                <a:latin typeface="Arial"/>
              </a:rPr>
              <a:t>✓ Real-Time Extraction: </a:t>
            </a:r>
            <a:r>
              <a:rPr sz="1000">
                <a:solidFill>
                  <a:srgbClr val="0F172A"/>
                </a:solidFill>
                <a:latin typeface="Arial"/>
              </a:rPr>
              <a:t>Playwright headless bots harvest 10,000+ live fares daily with sub-24h latency at 02:00 AM IST.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1050" b="1">
                <a:solidFill>
                  <a:srgbClr val="15803D"/>
                </a:solidFill>
                <a:latin typeface="Arial"/>
              </a:rPr>
              <a:t>✓ T+1..T+45 Advance Horizons: </a:t>
            </a:r>
            <a:r>
              <a:rPr sz="1000">
                <a:solidFill>
                  <a:srgbClr val="0F172A"/>
                </a:solidFill>
                <a:latin typeface="Arial"/>
              </a:rPr>
              <a:t>Captures urgent vs saver fares weighted dynamically by official DGCA passenger volumes.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1050" b="1">
                <a:solidFill>
                  <a:srgbClr val="15803D"/>
                </a:solidFill>
                <a:latin typeface="Arial"/>
              </a:rPr>
              <a:t>✓ UN/ILO Jevons Index: </a:t>
            </a:r>
            <a:r>
              <a:rPr sz="1000">
                <a:solidFill>
                  <a:srgbClr val="0F172A"/>
                </a:solidFill>
                <a:latin typeface="Arial"/>
              </a:rPr>
              <a:t>Geometric mean formulation mathematically eliminates Dutot upward substitution distortion.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1050" b="1">
                <a:solidFill>
                  <a:srgbClr val="15803D"/>
                </a:solidFill>
                <a:latin typeface="Arial"/>
              </a:rPr>
              <a:t>✓ SHA-256 Audit Ledger: </a:t>
            </a:r>
            <a:r>
              <a:rPr sz="1000">
                <a:solidFill>
                  <a:srgbClr val="0F172A"/>
                </a:solidFill>
                <a:latin typeface="Arial"/>
              </a:rPr>
              <a:t>Immutable cryptographic fingerprints ensure sovereign-grade evidentiary auditability for MoSPI.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41648"/>
            <a:ext cx="2679192" cy="153619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133088"/>
            <a:ext cx="2459736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  <a:latin typeface="Arial"/>
              </a:defRPr>
            </a:pPr>
            <a:r>
              <a:t>🎯 Dynamic Yield Tracking</a:t>
            </a:r>
          </a:p>
          <a:p>
            <a:pPr>
              <a:lnSpc>
                <a:spcPct val="115000"/>
              </a:lnSpc>
              <a:defRPr sz="919">
                <a:solidFill>
                  <a:srgbClr val="0F172A"/>
                </a:solidFill>
                <a:latin typeface="Arial"/>
              </a:defRPr>
            </a:pPr>
            <a:r>
              <a:t>Captures 200–400% intraday surge swings across advance windows that manual monthly visits miss.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041648"/>
            <a:ext cx="2679192" cy="1536192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24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4133088"/>
            <a:ext cx="2459736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333EA"/>
                </a:solidFill>
                <a:latin typeface="Arial"/>
              </a:defRPr>
            </a:pPr>
            <a:r>
              <a:t>🧹 Dynamic IQR Scrubber</a:t>
            </a:r>
          </a:p>
          <a:p>
            <a:pPr>
              <a:lnSpc>
                <a:spcPct val="115000"/>
              </a:lnSpc>
              <a:defRPr sz="919">
                <a:solidFill>
                  <a:srgbClr val="0F172A"/>
                </a:solidFill>
                <a:latin typeface="Arial"/>
              </a:defRPr>
            </a:pPr>
            <a:r>
              <a:t>SciPy algorithm automatically isolates base fare, scrubbing phantom seats, taxes, and cache glitches.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41648"/>
            <a:ext cx="2679192" cy="1536192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4133088"/>
            <a:ext cx="2459736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🔒 Sovereign Audit Vault</a:t>
            </a:r>
          </a:p>
          <a:p>
            <a:pPr>
              <a:lnSpc>
                <a:spcPct val="115000"/>
              </a:lnSpc>
              <a:defRPr sz="919">
                <a:solidFill>
                  <a:srgbClr val="0F172A"/>
                </a:solidFill>
                <a:latin typeface="Arial"/>
              </a:defRPr>
            </a:pPr>
            <a:r>
              <a:t>SHA-256 batch Merkle tree proofs conform to NDSAP open data standards for MoSPI &amp; RBI scrutiny.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4041648"/>
            <a:ext cx="2679192" cy="1536192"/>
          </a:xfrm>
          <a:prstGeom prst="roundRect">
            <a:avLst>
              <a:gd name="adj" fmla="val 8000"/>
            </a:avLst>
          </a:prstGeom>
          <a:solidFill>
            <a:srgbClr val="FEFCE8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4133088"/>
            <a:ext cx="2459736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⚡ Real-Time DPI Delivery</a:t>
            </a:r>
          </a:p>
          <a:p>
            <a:pPr>
              <a:lnSpc>
                <a:spcPct val="115000"/>
              </a:lnSpc>
              <a:defRPr sz="919">
                <a:solidFill>
                  <a:srgbClr val="0F172A"/>
                </a:solidFill>
                <a:latin typeface="Arial"/>
              </a:defRPr>
            </a:pPr>
            <a:r>
              <a:t>Sub-10ms REST API &amp; automated eSankhyiki CSV ingestion feeds monetary policy at &lt;₹3,500/month.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15000"/>
            <a:ext cx="11183112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88152"/>
            <a:ext cx="110002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DATA HARVESTING  ➔  IQR OUTLIER TRUNCATION  ➔  JEVONS GEOMETRIC INDEX  ➔  SHA-256 PROVENANCE  ➔  MoSPI &amp; RBI CPI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