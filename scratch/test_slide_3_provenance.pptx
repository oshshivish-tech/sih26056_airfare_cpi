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sih26056-airfare-cpi.vercel.app" TargetMode="External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02920" y="201168"/>
            <a:ext cx="16459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000000"/>
                </a:solidFill>
                <a:latin typeface="Arial"/>
              </a:defRPr>
            </a:pPr>
            <a:r>
              <a:t>Team Rookie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164592"/>
            <a:ext cx="758952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1B365D"/>
                </a:solidFill>
                <a:latin typeface="Times New Roman"/>
              </a:defRPr>
            </a:pPr>
            <a:r>
              <a:t>TECHNICAL APPROACH</a:t>
            </a:r>
          </a:p>
        </p:txBody>
      </p:sp>
      <p:pic>
        <p:nvPicPr>
          <p:cNvPr id="5" name="Picture 4" descr="page_1_img_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0" y="109728"/>
            <a:ext cx="1645920" cy="7772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502920" y="1051560"/>
            <a:ext cx="3383280" cy="54406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179576"/>
            <a:ext cx="3108960" cy="51846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800"/>
              </a:spcAft>
              <a:defRPr sz="1600" b="1">
                <a:solidFill>
                  <a:srgbClr val="1E40AF"/>
                </a:solidFill>
                <a:latin typeface="Arial"/>
              </a:defRPr>
            </a:pPr>
            <a:r>
              <a:t>Technologies Used:</a:t>
            </a:r>
          </a:p>
          <a:p>
            <a:pPr>
              <a:spcAft>
                <a:spcPts val="800"/>
              </a:spcAft>
            </a:pPr>
            <a:r>
              <a:rPr sz="1300" b="1">
                <a:solidFill>
                  <a:srgbClr val="DC2626"/>
                </a:solidFill>
                <a:latin typeface="Arial"/>
              </a:rPr>
              <a:t>Languages: </a:t>
            </a:r>
            <a:r>
              <a:rPr sz="1150" b="1">
                <a:solidFill>
                  <a:srgbClr val="000000"/>
                </a:solidFill>
                <a:latin typeface="Arial"/>
              </a:rPr>
              <a:t>Python 3.13 (Crawlers &amp; Engine), TypeScript (Dashboard), SQL (Storage).</a:t>
            </a:r>
          </a:p>
          <a:p>
            <a:pPr>
              <a:spcAft>
                <a:spcPts val="400"/>
              </a:spcAft>
              <a:defRPr sz="1300" b="1">
                <a:solidFill>
                  <a:srgbClr val="DC2626"/>
                </a:solidFill>
                <a:latin typeface="Arial"/>
              </a:defRPr>
            </a:pPr>
            <a:r>
              <a:t>Tools &amp; Frameworks: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Playwright Headless (Anti-Detection Scraping)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UN/ILO Jevons Index Formula (Aggregation)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SciPy &amp; NumPy (Dynamic IQR Outlier Filter)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SHA-256 Cryptographic Vault (Audit Ledger)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FastAPI &amp; Uvicorn (REST Microservices)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PostgreSQL (Relational Time-Series Store)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React 19 &amp; TailwindCSS (Dashboards)</a:t>
            </a:r>
          </a:p>
          <a:p>
            <a:pPr>
              <a:spcAft>
                <a:spcPts val="350"/>
              </a:spcAft>
            </a:pPr>
            <a:r>
              <a:rPr sz="1050" b="1">
                <a:solidFill>
                  <a:srgbClr val="000000"/>
                </a:solidFill>
                <a:latin typeface="Arial"/>
              </a:rPr>
              <a:t>• Vercel Edge &amp; GitHub Actions (Serverless)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300" b="1">
                <a:solidFill>
                  <a:srgbClr val="DC2626"/>
                </a:solidFill>
                <a:latin typeface="Arial"/>
              </a:defRPr>
            </a:pPr>
            <a:r>
              <a:t>Key Design Standards: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59669"/>
                </a:solidFill>
                <a:latin typeface="Arial"/>
              </a:rPr>
              <a:t>✓ UN/ILO Chapter 10 Axiomatic Axioms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59669"/>
                </a:solidFill>
                <a:latin typeface="Arial"/>
              </a:rPr>
              <a:t>✓ NDSAP Sovereign Open Data Mandate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59669"/>
                </a:solidFill>
                <a:latin typeface="Arial"/>
              </a:rPr>
              <a:t>✓ Sub-10ms Real-Time API Response SLA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059669"/>
                </a:solidFill>
                <a:latin typeface="Arial"/>
              </a:rPr>
              <a:t>✓ Zero Cloudflare / Anti-Bot Throttling</a:t>
            </a:r>
          </a:p>
        </p:txBody>
      </p:sp>
      <p:pic>
        <p:nvPicPr>
          <p:cNvPr id="8" name="Picture 7" descr="architecture_diagram_h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69080" y="1051560"/>
            <a:ext cx="7616952" cy="3776472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4069080" y="4937760"/>
            <a:ext cx="3337560" cy="1554480"/>
          </a:xfrm>
          <a:prstGeom prst="rect">
            <a:avLst/>
          </a:prstGeom>
          <a:solidFill>
            <a:srgbClr val="FFFF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78808" y="5010912"/>
            <a:ext cx="3118104" cy="140817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</a:pPr>
            <a:r>
              <a:rPr sz="1100" b="1">
                <a:solidFill>
                  <a:srgbClr val="DC2626"/>
                </a:solidFill>
                <a:latin typeface="Arial"/>
              </a:rPr>
              <a:t>Product Status: </a:t>
            </a:r>
            <a:r>
              <a:rPr sz="1050" b="1">
                <a:solidFill>
                  <a:srgbClr val="000000"/>
                </a:solidFill>
                <a:latin typeface="Arial"/>
              </a:rPr>
              <a:t>100% Production Pipeline Built &amp; Functional.</a:t>
            </a:r>
          </a:p>
          <a:p>
            <a:pPr>
              <a:spcAft>
                <a:spcPts val="300"/>
              </a:spcAft>
            </a:pPr>
            <a:r>
              <a:rPr sz="1050" b="1">
                <a:solidFill>
                  <a:srgbClr val="1E40AF"/>
                </a:solidFill>
                <a:latin typeface="Arial"/>
              </a:rPr>
              <a:t>🌐 Live System: </a:t>
            </a:r>
            <a:r>
              <a:rPr sz="1050" b="1" u="sng">
                <a:solidFill>
                  <a:srgbClr val="1E40AF"/>
                </a:solidFill>
                <a:latin typeface="Arial"/>
                <a:hlinkClick r:id="rId4"/>
              </a:rPr>
              <a:t>sih26056-airfare-cpi.vercel.app ↗</a:t>
            </a:r>
          </a:p>
          <a:p>
            <a:r>
              <a:rPr sz="1000" b="1">
                <a:solidFill>
                  <a:srgbClr val="059669"/>
                </a:solidFill>
                <a:latin typeface="Arial"/>
              </a:rPr>
              <a:t>MoSPI &amp; RBI Ready: </a:t>
            </a:r>
            <a:r>
              <a:rPr sz="950">
                <a:solidFill>
                  <a:srgbClr val="0F172A"/>
                </a:solidFill>
                <a:latin typeface="Arial"/>
              </a:rPr>
              <a:t>Direct eSankhyiki CSV &amp; monetary inflation telemetry.</a:t>
            </a:r>
          </a:p>
        </p:txBody>
      </p:sp>
      <p:pic>
        <p:nvPicPr>
          <p:cNvPr id="11" name="Picture 10" descr="panel_3_provenance_h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16368" y="4937760"/>
            <a:ext cx="4169664" cy="15544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