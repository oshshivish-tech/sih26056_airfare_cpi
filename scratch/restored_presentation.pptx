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961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365D"/>
                </a:solidFill>
                <a:latin typeface="Times New Roman"/>
              </a:defRPr>
            </a:pPr>
            <a:r>
              <a:t>SMART INDIA HACKATHON 2026</a:t>
            </a:r>
          </a:p>
        </p:txBody>
      </p:sp>
      <p:pic>
        <p:nvPicPr>
          <p:cNvPr id="4" name="Picture 3" descr="sih_2026_log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914400"/>
          </a:xfrm>
          <a:prstGeom prst="rect">
            <a:avLst/>
          </a:prstGeom>
        </p:spPr>
      </p:pic>
      <p:pic>
        <p:nvPicPr>
          <p:cNvPr id="5" name="Picture 4" descr="sih_cover_badge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280160"/>
            <a:ext cx="41148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508760"/>
            <a:ext cx="6858000" cy="4892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• Problem Statement ID – </a:t>
            </a:r>
            <a:r>
              <a:rPr sz="1800" b="1">
                <a:solidFill>
                  <a:srgbClr val="184C94"/>
                </a:solidFill>
                <a:latin typeface="Arial"/>
              </a:rPr>
              <a:t>SIH26056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• Problem Statement Title- </a:t>
            </a:r>
            <a:r>
              <a:rPr sz="1600" b="1">
                <a:solidFill>
                  <a:srgbClr val="184C94"/>
                </a:solidFill>
                <a:latin typeface="Arial"/>
              </a:rPr>
              <a:t>Development of a Real-time Airfare Price Index for India through Automated Web Scraping of Airline and Online Travel Aggregator Portals for Augmentation of the Consumer Price Index (CPI)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• Theme- </a:t>
            </a:r>
            <a:r>
              <a:rPr sz="1800" b="1">
                <a:solidFill>
                  <a:srgbClr val="184C94"/>
                </a:solidFill>
                <a:latin typeface="Arial"/>
              </a:rPr>
              <a:t>Smart Governance / Miscellaneous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• PS Category- </a:t>
            </a:r>
            <a:r>
              <a:rPr sz="1800" b="1">
                <a:solidFill>
                  <a:srgbClr val="184C94"/>
                </a:solidFill>
                <a:latin typeface="Arial"/>
              </a:rPr>
              <a:t>Software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• Team ID- </a:t>
            </a:r>
            <a:r>
              <a:rPr sz="1800" b="1">
                <a:solidFill>
                  <a:srgbClr val="184C94"/>
                </a:solidFill>
                <a:latin typeface="Arial"/>
              </a:rPr>
              <a:t>Team Rookie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• Team Name- </a:t>
            </a:r>
            <a:r>
              <a:rPr sz="1800" b="1">
                <a:solidFill>
                  <a:srgbClr val="184C94"/>
                </a:solidFill>
                <a:latin typeface="Arial"/>
              </a:rPr>
              <a:t>Team Rookie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• Team Members- </a:t>
            </a:r>
            <a:r>
              <a:rPr sz="1600" b="1">
                <a:solidFill>
                  <a:srgbClr val="184C94"/>
                </a:solidFill>
                <a:latin typeface="Arial"/>
              </a:rPr>
              <a:t>Nikhil Kanse, Shivish Kumar, Tejas Patil, Pranav Pawale, Harsh Narkar, Blessy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73952"/>
            <a:ext cx="112772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12772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Arial"/>
              </a:rPr>
              <a:t>Team Rookie  |  </a:t>
            </a:r>
            <a:r>
              <a:rPr sz="1000" b="1">
                <a:solidFill>
                  <a:srgbClr val="1E293B"/>
                </a:solidFill>
                <a:latin typeface="Arial"/>
              </a:rPr>
              <a:t>[ Nikhil Kanse , Shivish Kumar , Tejas Patil , Pranav Pawale , Harsh Narkar , Blessy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228600"/>
            <a:ext cx="164592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4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0000"/>
                </a:solidFill>
                <a:latin typeface="Arial"/>
              </a:defRPr>
            </a:pPr>
            <a:r>
              <a:t>Team Rookie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8288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800" b="1">
                <a:solidFill>
                  <a:srgbClr val="1B365D"/>
                </a:solidFill>
                <a:latin typeface="Times New Roman"/>
              </a:defRPr>
            </a:pPr>
            <a:r>
              <a:t>VAYUSUCHAK (वायु सूचक)</a:t>
            </a:r>
          </a:p>
          <a:p>
            <a:pPr algn="ctr">
              <a:defRPr sz="1400" b="1">
                <a:solidFill>
                  <a:srgbClr val="000000"/>
                </a:solidFill>
                <a:latin typeface="Arial"/>
              </a:defRPr>
            </a:pPr>
            <a:r>
              <a:t>Augmenting CPI through High-Frequency Algorithmic Web Scraping</a:t>
            </a:r>
          </a:p>
        </p:txBody>
      </p:sp>
      <p:pic>
        <p:nvPicPr>
          <p:cNvPr id="5" name="Picture 4" descr="sih_2026_log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46304"/>
            <a:ext cx="18288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280160"/>
            <a:ext cx="3657600" cy="5212080"/>
          </a:xfrm>
          <a:prstGeom prst="roundRect">
            <a:avLst/>
          </a:prstGeom>
          <a:solidFill>
            <a:srgbClr val="EEF5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329184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2800" b="1">
                <a:solidFill>
                  <a:srgbClr val="7033A0"/>
                </a:solidFill>
                <a:latin typeface="Arial"/>
              </a:defRPr>
            </a:pPr>
            <a:r>
              <a:t>PROBLEM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Arial"/>
              </a:defRPr>
            </a:pPr>
            <a:r>
              <a:t>• Manual Survey Bottleneck: Field staff manually query airline portals once a month for single spot quotes.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Arial"/>
              </a:defRPr>
            </a:pPr>
            <a:r>
              <a:t>• Blind to Dynamic Pricing: Fails to capture algorithmic yield spikes, peak hour surges, and holiday load factors.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Arial"/>
              </a:defRPr>
            </a:pPr>
            <a:r>
              <a:t>• Lead-Time Neglect: Completely ignores booking curves (1-day emergency surge vs. 45-day advance booking).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Arial"/>
              </a:defRPr>
            </a:pPr>
            <a:r>
              <a:t>• 15-Day Policy Lag: Lagging data limits the responsiveness of RBI monetary policy and aviation regulators.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25880"/>
            <a:ext cx="877824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1. Ingestion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85232" y="1325880"/>
            <a:ext cx="877824" cy="502920"/>
          </a:xfrm>
          <a:prstGeom prst="roundRect">
            <a:avLst/>
          </a:prstGeom>
          <a:solidFill>
            <a:srgbClr val="E9D5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2. Cleanse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1325880"/>
            <a:ext cx="877824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3. Jevons GM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1325880"/>
            <a:ext cx="877824" cy="502920"/>
          </a:xfrm>
          <a:prstGeom prst="roundRect">
            <a:avLst/>
          </a:prstGeom>
          <a:solidFill>
            <a:srgbClr val="E9D5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4. Laspeyres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011680"/>
            <a:ext cx="3840480" cy="44805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148840"/>
            <a:ext cx="35661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Arial"/>
              </a:defRPr>
            </a:pPr>
            <a:r>
              <a:t>Our solution</a:t>
            </a:r>
          </a:p>
          <a:p>
            <a:pPr>
              <a:spcAft>
                <a:spcPts val="600"/>
              </a:spcAft>
              <a:defRPr sz="1150" b="1">
                <a:solidFill>
                  <a:srgbClr val="000000"/>
                </a:solidFill>
                <a:latin typeface="Arial"/>
              </a:defRPr>
            </a:pPr>
            <a:r>
              <a:t>An automated high-frequency pipeline that:</a:t>
            </a:r>
          </a:p>
          <a:p>
            <a:pPr>
              <a:spcAft>
                <a:spcPts val="4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Scrapes raw fares across IndiGo, Air India, SpiceJet &amp; OTAs via scheduled Playwright crawlers.</a:t>
            </a:r>
          </a:p>
          <a:p>
            <a:pPr>
              <a:spcAft>
                <a:spcPts val="4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Samples 5 forward lead times (1d, 7d, 15d, 30d, 45d) for complete horizon capture.</a:t>
            </a:r>
          </a:p>
          <a:p>
            <a:pPr>
              <a:spcAft>
                <a:spcPts val="4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Applies automated Z-score outlier filtering (|Z| &gt; 3.0) to flag dynamic surges.</a:t>
            </a:r>
          </a:p>
          <a:p>
            <a:pPr>
              <a:spcAft>
                <a:spcPts val="4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Calculates UN/ILO Jevons Elementary Geometric Mean to eliminate substitution bias.</a:t>
            </a:r>
          </a:p>
          <a:p>
            <a:pPr>
              <a:spcAft>
                <a:spcPts val="4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Aggregates National Laspeyres Index weighted by DGCA monthly passenger volume.</a:t>
            </a:r>
          </a:p>
          <a:p>
            <a:pPr>
              <a:spcAft>
                <a:spcPts val="4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Generates cryptographic SHA-256 provenance hashes for official MoSPI auditability.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280160"/>
            <a:ext cx="3566160" cy="2514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371600"/>
            <a:ext cx="3291840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Why different</a:t>
            </a:r>
          </a:p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Captures real-time dynamic yield algorithms, not single monthly static quotes.</a:t>
            </a:r>
          </a:p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Mathematically proven Jevons GM eliminates upward substitution bias over Dutot.</a:t>
            </a:r>
          </a:p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Cryptographic SHA-256 vault guarantees legal &amp; statistical reproducibility.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3977639"/>
            <a:ext cx="3566160" cy="23774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4069080"/>
            <a:ext cx="32918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Key Value Proposition</a:t>
            </a:r>
          </a:p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&gt;95% reduction in recurring survey costs across 12 metro airports.</a:t>
            </a:r>
          </a:p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Empowers RBI MPC with zero-lag transportation inflation leading indicators.</a:t>
            </a:r>
          </a:p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Equips DGCA with instant surge anomaly alerts to detect regional price gouging.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473952"/>
            <a:ext cx="112772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112772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Arial"/>
              </a:rPr>
              <a:t>Team Rookie  |  </a:t>
            </a:r>
            <a:r>
              <a:rPr sz="1000" b="1">
                <a:solidFill>
                  <a:srgbClr val="1E293B"/>
                </a:solidFill>
                <a:latin typeface="Arial"/>
              </a:rPr>
              <a:t>[ Nikhil Kanse , Shivish Kumar , Tejas Patil , Pranav Pawale , Harsh Narkar , Blessy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228600"/>
            <a:ext cx="164592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4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0000"/>
                </a:solidFill>
                <a:latin typeface="Arial"/>
              </a:defRPr>
            </a:pPr>
            <a:r>
              <a:t>Team Rookie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8288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800" b="1">
                <a:solidFill>
                  <a:srgbClr val="1B365D"/>
                </a:solidFill>
                <a:latin typeface="Times New Roman"/>
              </a:defRPr>
            </a:pPr>
            <a:r>
              <a:t>TECHNICAL APPROACH</a:t>
            </a:r>
          </a:p>
        </p:txBody>
      </p:sp>
      <p:pic>
        <p:nvPicPr>
          <p:cNvPr id="5" name="Picture 4" descr="sih_2026_log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46304"/>
            <a:ext cx="18288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926080" y="1188720"/>
            <a:ext cx="2011680" cy="320040"/>
          </a:xfrm>
          <a:prstGeom prst="roundRect">
            <a:avLst/>
          </a:prstGeom>
          <a:solidFill>
            <a:srgbClr val="FEF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System Architecture</a:t>
            </a:r>
          </a:p>
        </p:txBody>
      </p:sp>
      <p:pic>
        <p:nvPicPr>
          <p:cNvPr id="7" name="Picture 6" descr="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6583680" cy="2377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926080" y="4069080"/>
            <a:ext cx="1828800" cy="320040"/>
          </a:xfrm>
          <a:prstGeom prst="roundRect">
            <a:avLst/>
          </a:prstGeom>
          <a:solidFill>
            <a:srgbClr val="FEF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Process Flowchart</a:t>
            </a:r>
          </a:p>
        </p:txBody>
      </p:sp>
      <p:pic>
        <p:nvPicPr>
          <p:cNvPr id="9" name="Picture 8" descr="flowchart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34840"/>
            <a:ext cx="6583680" cy="19659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0" y="1280160"/>
            <a:ext cx="4389120" cy="5074920"/>
          </a:xfrm>
          <a:prstGeom prst="roundRect">
            <a:avLst/>
          </a:prstGeom>
          <a:solidFill>
            <a:srgbClr val="FFFFFF"/>
          </a:solidFill>
          <a:ln w="76200">
            <a:solidFill>
              <a:srgbClr val="B4C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417320"/>
            <a:ext cx="402336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7C3AED"/>
                </a:solidFill>
                <a:latin typeface="Arial"/>
              </a:defRPr>
            </a:pPr>
            <a:r>
              <a:t>Tech Stack Used:</a:t>
            </a:r>
          </a:p>
          <a:p>
            <a:pPr algn="ctr">
              <a:spcAft>
                <a:spcPts val="300"/>
              </a:spcAft>
              <a:defRPr sz="1350" b="1">
                <a:solidFill>
                  <a:srgbClr val="000000"/>
                </a:solidFill>
                <a:latin typeface="Arial"/>
              </a:defRPr>
            </a:pPr>
            <a:r>
              <a:t>• Python 3.13</a:t>
            </a:r>
          </a:p>
          <a:p>
            <a:pPr algn="ctr">
              <a:spcAft>
                <a:spcPts val="300"/>
              </a:spcAft>
              <a:defRPr sz="1350" b="1">
                <a:solidFill>
                  <a:srgbClr val="000000"/>
                </a:solidFill>
                <a:latin typeface="Arial"/>
              </a:defRPr>
            </a:pPr>
            <a:r>
              <a:t>• Playwright</a:t>
            </a:r>
          </a:p>
          <a:p>
            <a:pPr algn="ctr">
              <a:spcAft>
                <a:spcPts val="300"/>
              </a:spcAft>
              <a:defRPr sz="1350" b="1">
                <a:solidFill>
                  <a:srgbClr val="000000"/>
                </a:solidFill>
                <a:latin typeface="Arial"/>
              </a:defRPr>
            </a:pPr>
            <a:r>
              <a:t>• Pandas &amp; NumPy</a:t>
            </a:r>
          </a:p>
          <a:p>
            <a:pPr algn="ctr">
              <a:spcAft>
                <a:spcPts val="300"/>
              </a:spcAft>
              <a:defRPr sz="1350" b="1">
                <a:solidFill>
                  <a:srgbClr val="000000"/>
                </a:solidFill>
                <a:latin typeface="Arial"/>
              </a:defRPr>
            </a:pPr>
            <a:r>
              <a:t>• SciPy (Z-score)</a:t>
            </a:r>
          </a:p>
          <a:p>
            <a:pPr algn="ctr">
              <a:spcAft>
                <a:spcPts val="300"/>
              </a:spcAft>
              <a:defRPr sz="1350" b="1">
                <a:solidFill>
                  <a:srgbClr val="000000"/>
                </a:solidFill>
                <a:latin typeface="Arial"/>
              </a:defRPr>
            </a:pPr>
            <a:r>
              <a:t>• UN/ILO Jevons Engine</a:t>
            </a:r>
          </a:p>
          <a:p>
            <a:pPr algn="ctr">
              <a:spcAft>
                <a:spcPts val="300"/>
              </a:spcAft>
              <a:defRPr sz="1350" b="1">
                <a:solidFill>
                  <a:srgbClr val="000000"/>
                </a:solidFill>
                <a:latin typeface="Arial"/>
              </a:defRPr>
            </a:pPr>
            <a:r>
              <a:t>• PostgreSQL</a:t>
            </a:r>
          </a:p>
          <a:p>
            <a:pPr algn="ctr">
              <a:spcAft>
                <a:spcPts val="300"/>
              </a:spcAft>
              <a:defRPr sz="1350" b="1">
                <a:solidFill>
                  <a:srgbClr val="000000"/>
                </a:solidFill>
                <a:latin typeface="Arial"/>
              </a:defRPr>
            </a:pPr>
            <a:r>
              <a:t>• React 19</a:t>
            </a:r>
          </a:p>
          <a:p>
            <a:pPr algn="ctr">
              <a:spcAft>
                <a:spcPts val="300"/>
              </a:spcAft>
              <a:defRPr sz="1350" b="1">
                <a:solidFill>
                  <a:srgbClr val="000000"/>
                </a:solidFill>
                <a:latin typeface="Arial"/>
              </a:defRPr>
            </a:pPr>
            <a:r>
              <a:t>• TypeScript</a:t>
            </a:r>
          </a:p>
          <a:p>
            <a:pPr algn="ctr">
              <a:spcAft>
                <a:spcPts val="300"/>
              </a:spcAft>
              <a:defRPr sz="1350" b="1">
                <a:solidFill>
                  <a:srgbClr val="000000"/>
                </a:solidFill>
                <a:latin typeface="Arial"/>
              </a:defRPr>
            </a:pPr>
            <a:r>
              <a:t>• Tailwind CSS</a:t>
            </a:r>
          </a:p>
          <a:p>
            <a:pPr algn="ctr">
              <a:spcAft>
                <a:spcPts val="300"/>
              </a:spcAft>
              <a:defRPr sz="1350" b="1">
                <a:solidFill>
                  <a:srgbClr val="000000"/>
                </a:solidFill>
                <a:latin typeface="Arial"/>
              </a:defRPr>
            </a:pPr>
            <a:r>
              <a:t>• Recharts SVG</a:t>
            </a:r>
          </a:p>
          <a:p>
            <a:pPr algn="ctr">
              <a:spcAft>
                <a:spcPts val="300"/>
              </a:spcAft>
              <a:defRPr sz="1350" b="1">
                <a:solidFill>
                  <a:srgbClr val="000000"/>
                </a:solidFill>
                <a:latin typeface="Arial"/>
              </a:defRPr>
            </a:pPr>
            <a:r>
              <a:t>• FastAPI &amp; Node.js</a:t>
            </a:r>
          </a:p>
          <a:p>
            <a:pPr algn="ctr">
              <a:spcAft>
                <a:spcPts val="300"/>
              </a:spcAft>
              <a:defRPr sz="1350" b="1">
                <a:solidFill>
                  <a:srgbClr val="000000"/>
                </a:solidFill>
                <a:latin typeface="Arial"/>
              </a:defRPr>
            </a:pPr>
            <a:r>
              <a:t>• Docker &amp; Vercel Edge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473952"/>
            <a:ext cx="112772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112772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Arial"/>
              </a:rPr>
              <a:t>Team Rookie  |  </a:t>
            </a:r>
            <a:r>
              <a:rPr sz="1000" b="1">
                <a:solidFill>
                  <a:srgbClr val="1E293B"/>
                </a:solidFill>
                <a:latin typeface="Arial"/>
              </a:rPr>
              <a:t>[ Nikhil Kanse , Shivish Kumar , Tejas Patil , Pranav Pawale , Harsh Narkar , Blessy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228600"/>
            <a:ext cx="164592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4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0000"/>
                </a:solidFill>
                <a:latin typeface="Arial"/>
              </a:defRPr>
            </a:pPr>
            <a:r>
              <a:t>Team Rookie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8288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800" b="1">
                <a:solidFill>
                  <a:srgbClr val="1B365D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pic>
        <p:nvPicPr>
          <p:cNvPr id="5" name="Picture 4" descr="sih_2026_log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46304"/>
            <a:ext cx="18288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280160"/>
            <a:ext cx="6858000" cy="25146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6492240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Risk assessment and mitigation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B91C1C"/>
                </a:solidFill>
                <a:latin typeface="Arial"/>
              </a:rPr>
              <a:t>Problem: Anti-Scraping / IP Blocks  ➔  </a:t>
            </a:r>
            <a:r>
              <a:rPr sz="1050" b="1">
                <a:solidFill>
                  <a:srgbClr val="15803D"/>
                </a:solidFill>
                <a:latin typeface="Arial"/>
              </a:rPr>
              <a:t>Solution: 02:00 AM off-peak cron + residential proxy rotation + jitter delays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B91C1C"/>
                </a:solidFill>
                <a:latin typeface="Arial"/>
              </a:rPr>
              <a:t>Problem: OTA DOM Layout Changes  ➔  </a:t>
            </a:r>
            <a:r>
              <a:rPr sz="1050" b="1">
                <a:solidFill>
                  <a:srgbClr val="15803D"/>
                </a:solidFill>
                <a:latin typeface="Arial"/>
              </a:rPr>
              <a:t>Solution: Multi-selector schema (ARIA / data-test) + cached baseline fallbacks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B91C1C"/>
                </a:solidFill>
                <a:latin typeface="Arial"/>
              </a:rPr>
              <a:t>Problem: Dynamic Surge &amp; Outliers  ➔  </a:t>
            </a:r>
            <a:r>
              <a:rPr sz="1050" b="1">
                <a:solidFill>
                  <a:srgbClr val="15803D"/>
                </a:solidFill>
                <a:latin typeface="Arial"/>
              </a:rPr>
              <a:t>Solution: Automated ±3.0σ Z-score truncation + UN/ILO Jevons geometric damping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280160"/>
            <a:ext cx="4114800" cy="25146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371600"/>
            <a:ext cx="3749039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Technical feasibility</a:t>
            </a:r>
          </a:p>
          <a:p>
            <a:pPr>
              <a:spcAft>
                <a:spcPts val="4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Automated headless Playwright extraction across Air India, IndiGo, SpiceJet &amp; MakeMyTrip.</a:t>
            </a:r>
          </a:p>
          <a:p>
            <a:pPr>
              <a:spcAft>
                <a:spcPts val="4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5 standard forward lead-times (1d, 7d, 15d, 30d, 45d) capturing full yield curves.</a:t>
            </a:r>
          </a:p>
          <a:p>
            <a:pPr>
              <a:spcAft>
                <a:spcPts val="4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Mathematical UN/ILO Jevons geometric mean &amp; DGCA passenger volume Laspeyres weighting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23360"/>
            <a:ext cx="4206240" cy="24688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38404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Resource Requirements</a:t>
            </a:r>
          </a:p>
          <a:p>
            <a:pPr>
              <a:spcAft>
                <a:spcPts val="4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Lightweight serverless cloud cron runner / VPS (Python &amp; Node.js).</a:t>
            </a:r>
          </a:p>
          <a:p>
            <a:pPr>
              <a:spcAft>
                <a:spcPts val="4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Open source statistical tools (Playwright, Pandas, SciPy, PostgreSQL, React 19).</a:t>
            </a:r>
          </a:p>
          <a:p>
            <a:pPr>
              <a:spcAft>
                <a:spcPts val="4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Secure cloud database to store flight quotes, formula IDs &amp; SHA-256 provenance hashes.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4114800"/>
            <a:ext cx="24688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Proven Frameworks</a:t>
            </a:r>
          </a:p>
          <a:p>
            <a:pPr algn="ctr">
              <a:spcAft>
                <a:spcPts val="4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✔ UN/ILO CPI Manual (2020)</a:t>
            </a:r>
          </a:p>
          <a:p>
            <a:pPr algn="ctr">
              <a:spcAft>
                <a:spcPts val="4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✔ DGCA Traffic Statistics</a:t>
            </a:r>
          </a:p>
          <a:p>
            <a:pPr algn="ctr">
              <a:spcAft>
                <a:spcPts val="4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✔ MoSPI CPI (2012=100)</a:t>
            </a:r>
          </a:p>
          <a:p>
            <a:pPr algn="ctr">
              <a:spcAft>
                <a:spcPts val="4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✔ MIT Billion Prices Project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4023360"/>
            <a:ext cx="4114800" cy="24688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114800"/>
            <a:ext cx="3749039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Economic Approach</a:t>
            </a:r>
          </a:p>
          <a:p>
            <a:pPr>
              <a:spcAft>
                <a:spcPts val="4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Slashes manual airport survey collection costs by &gt;95% across major Indian metros.</a:t>
            </a:r>
          </a:p>
          <a:p>
            <a:pPr>
              <a:spcAft>
                <a:spcPts val="4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Extremely low operational cloud footprint (&lt; ₹3,500 / month).</a:t>
            </a:r>
          </a:p>
          <a:p>
            <a:pPr>
              <a:spcAft>
                <a:spcPts val="4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High ROI: 30x increase in price sampling frequency at a fraction of manual survey costs.</a:t>
            </a:r>
          </a:p>
          <a:p>
            <a:pPr>
              <a:spcAft>
                <a:spcPts val="4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Scales easily across 250+ UDAN regional routes with zero additional hardware.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473952"/>
            <a:ext cx="112772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10528"/>
            <a:ext cx="112772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Arial"/>
              </a:rPr>
              <a:t>Team Rookie  |  </a:t>
            </a:r>
            <a:r>
              <a:rPr sz="1000" b="1">
                <a:solidFill>
                  <a:srgbClr val="1E293B"/>
                </a:solidFill>
                <a:latin typeface="Arial"/>
              </a:rPr>
              <a:t>[ Nikhil Kanse , Shivish Kumar , Tejas Patil , Pranav Pawale , Harsh Narkar , Blessy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228600"/>
            <a:ext cx="164592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4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0000"/>
                </a:solidFill>
                <a:latin typeface="Arial"/>
              </a:defRPr>
            </a:pPr>
            <a:r>
              <a:t>Team Rookie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8288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800" b="1">
                <a:solidFill>
                  <a:srgbClr val="1B365D"/>
                </a:solidFill>
                <a:latin typeface="Times New Roman"/>
              </a:defRPr>
            </a:pPr>
            <a:r>
              <a:t>IMPACT AND BENEFITS</a:t>
            </a:r>
          </a:p>
        </p:txBody>
      </p:sp>
      <p:pic>
        <p:nvPicPr>
          <p:cNvPr id="5" name="Picture 4" descr="sih_2026_log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46304"/>
            <a:ext cx="18288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1430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000000"/>
                </a:solidFill>
                <a:latin typeface="Arial"/>
              </a:defRPr>
            </a:pPr>
            <a:r>
              <a:t>“FROM SCATTERED AIRFARES TO SOVEREIGN REAL-TIME INFLATION INTELLIGENCE”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Arial"/>
              </a:defRPr>
            </a:pPr>
            <a:r>
              <a:t>IMPACTS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4572000" cy="804672"/>
          </a:xfrm>
          <a:prstGeom prst="roundRect">
            <a:avLst/>
          </a:prstGeom>
          <a:solidFill>
            <a:srgbClr val="BFDBFE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100" b="1">
                <a:solidFill>
                  <a:srgbClr val="1E40AF"/>
                </a:solidFill>
                <a:latin typeface="Arial"/>
              </a:defRPr>
            </a:pPr>
            <a:r>
              <a:t>Macroeconomic Policy Impact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Eliminates 15-day CPI lag; empowers RBI MPC with real-time transport inflation 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72384"/>
            <a:ext cx="4572000" cy="804672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100" b="1">
                <a:solidFill>
                  <a:srgbClr val="166534"/>
                </a:solidFill>
                <a:latin typeface="Arial"/>
              </a:defRPr>
            </a:pPr>
            <a:r>
              <a:t>Regulatory &amp; Aviation Impact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Enables DGCA to detect route monopolies, festival fare surges &amp; predatory pricing.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50208"/>
            <a:ext cx="4572000" cy="804672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100" b="1">
                <a:solidFill>
                  <a:srgbClr val="9A3412"/>
                </a:solidFill>
                <a:latin typeface="Arial"/>
              </a:defRPr>
            </a:pPr>
            <a:r>
              <a:t>Statistical Rigor Impact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Replaces single monthly spot checks with 10,000+ daily observations obeying UN/ILO standards.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28032"/>
            <a:ext cx="4572000" cy="804672"/>
          </a:xfrm>
          <a:prstGeom prst="roundRect">
            <a:avLst/>
          </a:prstGeom>
          <a:solidFill>
            <a:srgbClr val="E9D5FF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100" b="1">
                <a:solidFill>
                  <a:srgbClr val="6B21A8"/>
                </a:solidFill>
                <a:latin typeface="Arial"/>
              </a:defRPr>
            </a:pPr>
            <a:r>
              <a:t>National Governance Impact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Builds India's first sovereign high-frequency price aggregation platform.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705856"/>
            <a:ext cx="4572000" cy="804672"/>
          </a:xfrm>
          <a:prstGeom prst="roundRect">
            <a:avLst/>
          </a:prstGeom>
          <a:solidFill>
            <a:srgbClr val="FEF08A"/>
          </a:solidFill>
          <a:ln w="12700">
            <a:solidFill>
              <a:srgbClr val="854D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100" b="1">
                <a:solidFill>
                  <a:srgbClr val="854D0E"/>
                </a:solidFill>
                <a:latin typeface="Arial"/>
              </a:defRPr>
            </a:pPr>
            <a:r>
              <a:t>Technical &amp; Digital Impact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Demonstrates how automated scraping &amp; cryptographic provenance modernize national statistics.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560" y="2011680"/>
            <a:ext cx="27432" cy="448056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1737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Arial"/>
              </a:defRPr>
            </a:pPr>
            <a:r>
              <a:t>FUTURE PROSPECTS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194560"/>
            <a:ext cx="57607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UDAN Route Expansion: </a:t>
            </a:r>
            <a:r>
              <a:rPr sz="1200">
                <a:solidFill>
                  <a:srgbClr val="323232"/>
                </a:solidFill>
                <a:latin typeface="Arial"/>
              </a:rPr>
              <a:t>Scale from current 12 metro corridors to 250+ Tier-2 and Tier-3 regional airports nationwide.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Cabin Tier Differentiation: </a:t>
            </a:r>
            <a:r>
              <a:rPr sz="1200">
                <a:solidFill>
                  <a:srgbClr val="323232"/>
                </a:solidFill>
                <a:latin typeface="Arial"/>
              </a:rPr>
              <a:t>Segregate economy, premium economy, and business class into granular sub-indices.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Intraday Time-of-Day Yield: </a:t>
            </a:r>
            <a:r>
              <a:rPr sz="1200">
                <a:solidFill>
                  <a:srgbClr val="323232"/>
                </a:solidFill>
                <a:latin typeface="Arial"/>
              </a:rPr>
              <a:t>Model peak departure rush hours (06:00-09:00, 17:00-20:00) vs off-peak red-eye rates.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Central MoSPI NDAP Integration: </a:t>
            </a:r>
            <a:r>
              <a:rPr sz="1200">
                <a:solidFill>
                  <a:srgbClr val="323232"/>
                </a:solidFill>
                <a:latin typeface="Arial"/>
              </a:rPr>
              <a:t>Establish direct automated API pipelines feeding real-time indices into the official CPI release.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Autonomous AI Analyst: </a:t>
            </a:r>
            <a:r>
              <a:rPr sz="1200">
                <a:solidFill>
                  <a:srgbClr val="323232"/>
                </a:solidFill>
                <a:latin typeface="Arial"/>
              </a:rPr>
              <a:t>Deploy LLM agents to draft automated weekly inflation briefs and alert DGCA of pricing anomalies.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73952"/>
            <a:ext cx="112772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10528"/>
            <a:ext cx="112772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Arial"/>
              </a:rPr>
              <a:t>Team Rookie  |  </a:t>
            </a:r>
            <a:r>
              <a:rPr sz="1000" b="1">
                <a:solidFill>
                  <a:srgbClr val="1E293B"/>
                </a:solidFill>
                <a:latin typeface="Arial"/>
              </a:rPr>
              <a:t>[ Nikhil Kanse , Shivish Kumar , Tejas Patil , Pranav Pawale , Harsh Narkar , Blessy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18288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800" b="1">
                <a:solidFill>
                  <a:srgbClr val="1B365D"/>
                </a:solidFill>
                <a:latin typeface="Times New Roman"/>
              </a:defRPr>
            </a:pPr>
            <a:r>
              <a:t>RESEARCH AND REFERENCES</a:t>
            </a:r>
          </a:p>
        </p:txBody>
      </p:sp>
      <p:pic>
        <p:nvPicPr>
          <p:cNvPr id="4" name="Picture 3" descr="sih_2026_log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46304"/>
            <a:ext cx="1828800" cy="914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0040" y="1234440"/>
            <a:ext cx="5715000" cy="2423160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25780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SUPPORTING RESEARCH PAPERS</a:t>
            </a:r>
          </a:p>
          <a:p>
            <a:pPr>
              <a:spcAft>
                <a:spcPts val="600"/>
              </a:spcAft>
              <a:defRPr sz="1100">
                <a:solidFill>
                  <a:srgbClr val="000000"/>
                </a:solidFill>
                <a:latin typeface="Arial"/>
              </a:defRPr>
            </a:pPr>
            <a:r>
              <a:t>• Cavallo, A., &amp; Rigobon, R. (2016). 'The Billion Prices Project: Using Online Data for Measurement and Research.' Journal of Economic Perspectives.</a:t>
            </a:r>
          </a:p>
          <a:p>
            <a:pPr>
              <a:spcAft>
                <a:spcPts val="600"/>
              </a:spcAft>
              <a:defRPr sz="1100">
                <a:solidFill>
                  <a:srgbClr val="000000"/>
                </a:solidFill>
                <a:latin typeface="Arial"/>
              </a:defRPr>
            </a:pPr>
            <a:r>
              <a:t>• UN, ILO, IMF, OECD, Eurostat, World Bank (2020). Consumer Price Index Manual: Concepts and Methods, Chapter 10 (Elementary Indices).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234440"/>
            <a:ext cx="5715000" cy="24231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525780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DATA SOURCES</a:t>
            </a:r>
          </a:p>
          <a:p>
            <a:pPr algn="ctr">
              <a:spcAft>
                <a:spcPts val="400"/>
              </a:spcAft>
              <a:defRPr sz="1050">
                <a:solidFill>
                  <a:srgbClr val="DCE6FA"/>
                </a:solidFill>
                <a:latin typeface="Arial"/>
              </a:defRPr>
            </a:pPr>
            <a:r>
              <a:t>https://www.dgca.gov.in/ (DGCA Monthly Scheduled Domestic Passenger Traffic)</a:t>
            </a:r>
          </a:p>
          <a:p>
            <a:pPr algn="ctr">
              <a:spcAft>
                <a:spcPts val="400"/>
              </a:spcAft>
              <a:defRPr sz="1050">
                <a:solidFill>
                  <a:srgbClr val="DCE6FA"/>
                </a:solidFill>
                <a:latin typeface="Arial"/>
              </a:defRPr>
            </a:pPr>
            <a:r>
              <a:t>https://www.mospi.gov.in/ (CSO Consumer Price Index Manual &amp; Guidelines)</a:t>
            </a:r>
          </a:p>
          <a:p>
            <a:pPr algn="ctr">
              <a:spcAft>
                <a:spcPts val="400"/>
              </a:spcAft>
              <a:defRPr sz="1050">
                <a:solidFill>
                  <a:srgbClr val="DCE6FA"/>
                </a:solidFill>
                <a:latin typeface="Arial"/>
              </a:defRPr>
            </a:pPr>
            <a:r>
              <a:t>https://www.airindia.com/ &amp; https://www.goindigo.in/ (Direct Carrier Portals)</a:t>
            </a:r>
          </a:p>
          <a:p>
            <a:pPr algn="ctr">
              <a:spcAft>
                <a:spcPts val="400"/>
              </a:spcAft>
              <a:defRPr sz="1050">
                <a:solidFill>
                  <a:srgbClr val="DCE6FA"/>
                </a:solidFill>
                <a:latin typeface="Arial"/>
              </a:defRPr>
            </a:pPr>
            <a:r>
              <a:t>https://www.makemytrip.com/ (Online Travel Aggregator Non-Stop Domestic Flight Rates)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886200"/>
            <a:ext cx="5715000" cy="2423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069080"/>
            <a:ext cx="525780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C7D2FE"/>
                </a:solidFill>
                <a:latin typeface="Arial"/>
              </a:defRPr>
            </a:pPr>
            <a:r>
              <a:t>MARKET RESEARCH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  <a:latin typeface="Arial"/>
              </a:defRPr>
            </a:pPr>
            <a:r>
              <a:t>• Indian domestic air passenger traffic is projected to grow at &gt;15% CAGR (2024–2030).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  <a:latin typeface="Arial"/>
              </a:defRPr>
            </a:pPr>
            <a:r>
              <a:t>• Algorithmic dynamic pricing creates massive intraday and lead-time fare dispersion.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  <a:latin typeface="Arial"/>
              </a:defRPr>
            </a:pPr>
            <a:r>
              <a:t>• Zero automated tools currently exist in India for daily algorithmic CPI airfare tracking.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  <a:latin typeface="Arial"/>
              </a:defRPr>
            </a:pPr>
            <a:r>
              <a:t>• VayuSuchak fills the critical 15-day MoSPI manual survey lag with zero latency.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3886200"/>
            <a:ext cx="5715000" cy="242316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69080"/>
            <a:ext cx="525780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TECHNICAL DOCUMENTATION</a:t>
            </a:r>
          </a:p>
          <a:p>
            <a:pPr>
              <a:spcAft>
                <a:spcPts val="400"/>
              </a:spcAft>
              <a:defRPr sz="1050" b="1">
                <a:solidFill>
                  <a:srgbClr val="000000"/>
                </a:solidFill>
                <a:latin typeface="Arial"/>
              </a:defRPr>
            </a:pPr>
            <a:r>
              <a:t>• Index Formulations: UN/ILO Jevons Geometric Mean vs Dutot Arithmetic Comparison.</a:t>
            </a:r>
          </a:p>
          <a:p>
            <a:pPr>
              <a:spcAft>
                <a:spcPts val="400"/>
              </a:spcAft>
              <a:defRPr sz="1050" b="1">
                <a:solidFill>
                  <a:srgbClr val="000000"/>
                </a:solidFill>
                <a:latin typeface="Arial"/>
              </a:defRPr>
            </a:pPr>
            <a:r>
              <a:t>• Scraper Framework: Playwright Chromium Headless with Random UA &amp; Stealth Evasion.</a:t>
            </a:r>
          </a:p>
          <a:p>
            <a:pPr>
              <a:spcAft>
                <a:spcPts val="400"/>
              </a:spcAft>
              <a:defRPr sz="1050" b="1">
                <a:solidFill>
                  <a:srgbClr val="000000"/>
                </a:solidFill>
                <a:latin typeface="Arial"/>
              </a:defRPr>
            </a:pPr>
            <a:r>
              <a:t>• Provenance Architecture: SHA-256 Hash Manifest conforming to NDSAP open standards.</a:t>
            </a:r>
          </a:p>
          <a:p>
            <a:pPr>
              <a:spcAft>
                <a:spcPts val="400"/>
              </a:spcAft>
              <a:defRPr sz="1050" b="1">
                <a:solidFill>
                  <a:srgbClr val="000000"/>
                </a:solidFill>
                <a:latin typeface="Arial"/>
              </a:defRPr>
            </a:pPr>
            <a:r>
              <a:t>• Deployment: Dockerized serverless cron (02:00 AM) + Vercel Edge Web Portal.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72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112772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Arial"/>
              </a:rPr>
              <a:t>Team Rookie  |  </a:t>
            </a:r>
            <a:r>
              <a:rPr sz="1000" b="1">
                <a:solidFill>
                  <a:srgbClr val="1E293B"/>
                </a:solidFill>
                <a:latin typeface="Arial"/>
              </a:rPr>
              <a:t>[ Nikhil Kanse , Shivish Kumar , Tejas Patil , Pranav Pawale , Harsh Narkar , Blessy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