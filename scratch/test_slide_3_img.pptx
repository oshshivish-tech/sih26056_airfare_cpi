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https://sih26056-airfare-cpi.vercel.app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01168"/>
            <a:ext cx="1645920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00000"/>
                </a:solidFill>
                <a:latin typeface="Arial"/>
              </a:defRPr>
            </a:pPr>
            <a:r>
              <a:t>Team Rookie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164592"/>
            <a:ext cx="75895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B365D"/>
                </a:solidFill>
                <a:latin typeface="Times New Roman"/>
              </a:defRPr>
            </a:pPr>
            <a:r>
              <a:t>TECHNICAL APPROACH</a:t>
            </a:r>
          </a:p>
        </p:txBody>
      </p:sp>
      <p:pic>
        <p:nvPicPr>
          <p:cNvPr id="5" name="Picture 4" descr="page_1_img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109728"/>
            <a:ext cx="1645920" cy="7772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2920" y="1051560"/>
            <a:ext cx="3383280" cy="5440680"/>
          </a:xfrm>
          <a:prstGeom prst="rect">
            <a:avLst/>
          </a:prstGeom>
          <a:solidFill>
            <a:srgbClr val="FFFFFF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179576"/>
            <a:ext cx="3108960" cy="51846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E40AF"/>
                </a:solidFill>
                <a:latin typeface="Arial"/>
              </a:defRPr>
            </a:pPr>
            <a:r>
              <a:t>Technologies Used: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DC2626"/>
                </a:solidFill>
                <a:latin typeface="Arial"/>
              </a:rPr>
              <a:t>Languages: </a:t>
            </a:r>
            <a:r>
              <a:rPr sz="1150" b="1">
                <a:solidFill>
                  <a:srgbClr val="000000"/>
                </a:solidFill>
                <a:latin typeface="Arial"/>
              </a:rPr>
              <a:t>Python 3.13 (Crawlers &amp; Engine), TypeScript (Dashboard), SQL (Storage).</a:t>
            </a:r>
          </a:p>
          <a:p>
            <a:pPr>
              <a:spcAft>
                <a:spcPts val="400"/>
              </a:spcAft>
              <a:defRPr sz="1300" b="1">
                <a:solidFill>
                  <a:srgbClr val="DC2626"/>
                </a:solidFill>
                <a:latin typeface="Arial"/>
              </a:defRPr>
            </a:pPr>
            <a:r>
              <a:t>Tools &amp; Frameworks:</a:t>
            </a:r>
          </a:p>
          <a:p>
            <a:pPr>
              <a:spcAft>
                <a:spcPts val="350"/>
              </a:spcAft>
            </a:pPr>
            <a:r>
              <a:rPr sz="1050" b="1">
                <a:solidFill>
                  <a:srgbClr val="000000"/>
                </a:solidFill>
                <a:latin typeface="Arial"/>
              </a:rPr>
              <a:t>• Playwright Headless (Anti-Detection Scraping)</a:t>
            </a:r>
          </a:p>
          <a:p>
            <a:pPr>
              <a:spcAft>
                <a:spcPts val="350"/>
              </a:spcAft>
            </a:pPr>
            <a:r>
              <a:rPr sz="1050" b="1">
                <a:solidFill>
                  <a:srgbClr val="000000"/>
                </a:solidFill>
                <a:latin typeface="Arial"/>
              </a:rPr>
              <a:t>• UN/ILO Jevons Index Formula (Aggregation)</a:t>
            </a:r>
          </a:p>
          <a:p>
            <a:pPr>
              <a:spcAft>
                <a:spcPts val="350"/>
              </a:spcAft>
            </a:pPr>
            <a:r>
              <a:rPr sz="1050" b="1">
                <a:solidFill>
                  <a:srgbClr val="000000"/>
                </a:solidFill>
                <a:latin typeface="Arial"/>
              </a:rPr>
              <a:t>• SciPy &amp; NumPy (Dynamic IQR Outlier Filter)</a:t>
            </a:r>
          </a:p>
          <a:p>
            <a:pPr>
              <a:spcAft>
                <a:spcPts val="350"/>
              </a:spcAft>
            </a:pPr>
            <a:r>
              <a:rPr sz="1050" b="1">
                <a:solidFill>
                  <a:srgbClr val="000000"/>
                </a:solidFill>
                <a:latin typeface="Arial"/>
              </a:rPr>
              <a:t>• SHA-256 Cryptographic Vault (Audit Ledger)</a:t>
            </a:r>
          </a:p>
          <a:p>
            <a:pPr>
              <a:spcAft>
                <a:spcPts val="350"/>
              </a:spcAft>
            </a:pPr>
            <a:r>
              <a:rPr sz="1050" b="1">
                <a:solidFill>
                  <a:srgbClr val="000000"/>
                </a:solidFill>
                <a:latin typeface="Arial"/>
              </a:rPr>
              <a:t>• FastAPI &amp; Uvicorn (REST Microservices)</a:t>
            </a:r>
          </a:p>
          <a:p>
            <a:pPr>
              <a:spcAft>
                <a:spcPts val="350"/>
              </a:spcAft>
            </a:pPr>
            <a:r>
              <a:rPr sz="1050" b="1">
                <a:solidFill>
                  <a:srgbClr val="000000"/>
                </a:solidFill>
                <a:latin typeface="Arial"/>
              </a:rPr>
              <a:t>• PostgreSQL (Relational Time-Series Store)</a:t>
            </a:r>
          </a:p>
          <a:p>
            <a:pPr>
              <a:spcAft>
                <a:spcPts val="350"/>
              </a:spcAft>
            </a:pPr>
            <a:r>
              <a:rPr sz="1050" b="1">
                <a:solidFill>
                  <a:srgbClr val="000000"/>
                </a:solidFill>
                <a:latin typeface="Arial"/>
              </a:rPr>
              <a:t>• React 19 &amp; TailwindCSS (Dashboards)</a:t>
            </a:r>
          </a:p>
          <a:p>
            <a:pPr>
              <a:spcAft>
                <a:spcPts val="350"/>
              </a:spcAft>
            </a:pPr>
            <a:r>
              <a:rPr sz="1050" b="1">
                <a:solidFill>
                  <a:srgbClr val="000000"/>
                </a:solidFill>
                <a:latin typeface="Arial"/>
              </a:rPr>
              <a:t>• Vercel Edge &amp; GitHub Actions (Serverless)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300" b="1">
                <a:solidFill>
                  <a:srgbClr val="DC2626"/>
                </a:solidFill>
                <a:latin typeface="Arial"/>
              </a:defRPr>
            </a:pPr>
            <a:r>
              <a:t>Key Design Standards:</a:t>
            </a:r>
          </a:p>
          <a:p>
            <a:pPr>
              <a:spcAft>
                <a:spcPts val="300"/>
              </a:spcAft>
            </a:pPr>
            <a:r>
              <a:rPr sz="1050" b="1">
                <a:solidFill>
                  <a:srgbClr val="059669"/>
                </a:solidFill>
                <a:latin typeface="Arial"/>
              </a:rPr>
              <a:t>✓ UN/ILO Chapter 10 Axiomatic Axioms</a:t>
            </a:r>
          </a:p>
          <a:p>
            <a:pPr>
              <a:spcAft>
                <a:spcPts val="300"/>
              </a:spcAft>
            </a:pPr>
            <a:r>
              <a:rPr sz="1050" b="1">
                <a:solidFill>
                  <a:srgbClr val="059669"/>
                </a:solidFill>
                <a:latin typeface="Arial"/>
              </a:rPr>
              <a:t>✓ NDSAP Sovereign Open Data Mandate</a:t>
            </a:r>
          </a:p>
          <a:p>
            <a:pPr>
              <a:spcAft>
                <a:spcPts val="300"/>
              </a:spcAft>
            </a:pPr>
            <a:r>
              <a:rPr sz="1050" b="1">
                <a:solidFill>
                  <a:srgbClr val="059669"/>
                </a:solidFill>
                <a:latin typeface="Arial"/>
              </a:rPr>
              <a:t>✓ Sub-10ms Real-Time API Response SLA</a:t>
            </a:r>
          </a:p>
          <a:p>
            <a:pPr>
              <a:spcAft>
                <a:spcPts val="300"/>
              </a:spcAft>
            </a:pPr>
            <a:r>
              <a:rPr sz="1050" b="1">
                <a:solidFill>
                  <a:srgbClr val="059669"/>
                </a:solidFill>
                <a:latin typeface="Arial"/>
              </a:rPr>
              <a:t>✓ Zero Cloudflare / Anti-Bot Throttling</a:t>
            </a:r>
          </a:p>
        </p:txBody>
      </p:sp>
      <p:pic>
        <p:nvPicPr>
          <p:cNvPr id="8" name="Picture 7" descr="architecture_diagram_h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9080" y="1051560"/>
            <a:ext cx="7616952" cy="377647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069080" y="4937760"/>
            <a:ext cx="7616952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51960" y="5029200"/>
            <a:ext cx="7251192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DC2626"/>
                </a:solidFill>
                <a:latin typeface="Arial"/>
              </a:rPr>
              <a:t>Product Status: </a:t>
            </a:r>
            <a:r>
              <a:rPr sz="1100" b="1">
                <a:solidFill>
                  <a:srgbClr val="000000"/>
                </a:solidFill>
                <a:latin typeface="Arial"/>
              </a:rPr>
              <a:t>100% Production Pipeline Built &amp; Functional. Validated across 10,000+ live fare quotes.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1E40AF"/>
                </a:solidFill>
                <a:latin typeface="Arial"/>
              </a:rPr>
              <a:t>🌐 Live System: </a:t>
            </a:r>
            <a:r>
              <a:rPr sz="1100" b="1" u="sng">
                <a:solidFill>
                  <a:srgbClr val="1E40AF"/>
                </a:solidFill>
                <a:latin typeface="Arial"/>
                <a:hlinkClick r:id="rId4"/>
              </a:rPr>
              <a:t>https://sih26056-airfare-cpi.vercel.app</a:t>
            </a:r>
            <a:r>
              <a:rPr sz="1050" b="0">
                <a:solidFill>
                  <a:srgbClr val="0F172A"/>
                </a:solidFill>
                <a:latin typeface="Arial"/>
              </a:rPr>
              <a:t>  |  SHA-256 Provenance Ledger  |  Sub-10ms Jevons Aggregation</a:t>
            </a:r>
          </a:p>
          <a:p>
            <a:r>
              <a:rPr sz="1050" b="1">
                <a:solidFill>
                  <a:srgbClr val="059669"/>
                </a:solidFill>
                <a:latin typeface="Arial"/>
              </a:rPr>
              <a:t>Sovereign Integration: </a:t>
            </a:r>
            <a:r>
              <a:rPr sz="1050">
                <a:solidFill>
                  <a:srgbClr val="0F172A"/>
                </a:solidFill>
                <a:latin typeface="Arial"/>
              </a:rPr>
              <a:t>Direct MoSPI eSankhyiki Form 4 CSV export &amp; RBI MPC monetary inflation telemetry ready.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