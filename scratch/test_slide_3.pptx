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01168"/>
            <a:ext cx="1645920" cy="5029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00000"/>
                </a:solidFill>
                <a:latin typeface="Arial"/>
              </a:defRPr>
            </a:pPr>
            <a:r>
              <a:t>Team Rookie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164592"/>
            <a:ext cx="75895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1B365D"/>
                </a:solidFill>
                <a:latin typeface="Times New Roman"/>
              </a:defRPr>
            </a:pPr>
            <a:r>
              <a:t>TECHNICAL APPROACH</a:t>
            </a:r>
          </a:p>
        </p:txBody>
      </p:sp>
      <p:pic>
        <p:nvPicPr>
          <p:cNvPr id="5" name="Picture 4" descr="page_1_img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0" y="109728"/>
            <a:ext cx="1645920" cy="77724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02920" y="1051560"/>
            <a:ext cx="3931920" cy="5440680"/>
          </a:xfrm>
          <a:prstGeom prst="rect">
            <a:avLst/>
          </a:prstGeom>
          <a:solidFill>
            <a:srgbClr val="FFFFFF"/>
          </a:solidFill>
          <a:ln w="1905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188720"/>
            <a:ext cx="3621024" cy="5166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1E40AF"/>
                </a:solidFill>
                <a:latin typeface="Arial"/>
              </a:defRPr>
            </a:pPr>
            <a:r>
              <a:t>Technologies Used:</a:t>
            </a:r>
          </a:p>
          <a:p>
            <a:pPr>
              <a:spcAft>
                <a:spcPts val="1200"/>
              </a:spcAft>
            </a:pPr>
            <a:r>
              <a:rPr sz="1400" b="1">
                <a:solidFill>
                  <a:srgbClr val="DC2626"/>
                </a:solidFill>
                <a:latin typeface="Arial"/>
              </a:rPr>
              <a:t>Languages: </a:t>
            </a:r>
            <a:r>
              <a:rPr sz="1250" b="1">
                <a:solidFill>
                  <a:srgbClr val="000000"/>
                </a:solidFill>
                <a:latin typeface="Arial"/>
              </a:rPr>
              <a:t>Python 3.13 (Crawlers &amp; Engine), TypeScript (Dashboard), SQL (Storage).</a:t>
            </a:r>
          </a:p>
          <a:p>
            <a:pPr>
              <a:spcAft>
                <a:spcPts val="600"/>
              </a:spcAft>
              <a:defRPr sz="1400" b="1">
                <a:solidFill>
                  <a:srgbClr val="DC2626"/>
                </a:solidFill>
                <a:latin typeface="Arial"/>
              </a:defRPr>
            </a:pPr>
            <a:r>
              <a:t>Tools &amp; Frameworks:</a:t>
            </a:r>
          </a:p>
          <a:p>
            <a:pPr>
              <a:spcAft>
                <a:spcPts val="500"/>
              </a:spcAft>
            </a:pPr>
            <a:r>
              <a:rPr sz="1100" b="1">
                <a:solidFill>
                  <a:srgbClr val="000000"/>
                </a:solidFill>
                <a:latin typeface="Arial"/>
              </a:rPr>
              <a:t>• Playwright Headless (Anti-Detection Scraping)</a:t>
            </a:r>
          </a:p>
          <a:p>
            <a:pPr>
              <a:spcAft>
                <a:spcPts val="500"/>
              </a:spcAft>
            </a:pPr>
            <a:r>
              <a:rPr sz="1100" b="1">
                <a:solidFill>
                  <a:srgbClr val="000000"/>
                </a:solidFill>
                <a:latin typeface="Arial"/>
              </a:rPr>
              <a:t>• UN/ILO Jevons Index Formula (Elementary Aggregation)</a:t>
            </a:r>
          </a:p>
          <a:p>
            <a:pPr>
              <a:spcAft>
                <a:spcPts val="500"/>
              </a:spcAft>
            </a:pPr>
            <a:r>
              <a:rPr sz="1100" b="1">
                <a:solidFill>
                  <a:srgbClr val="000000"/>
                </a:solidFill>
                <a:latin typeface="Arial"/>
              </a:rPr>
              <a:t>• SciPy &amp; NumPy (Dynamic IQR Outlier Filter)</a:t>
            </a:r>
          </a:p>
          <a:p>
            <a:pPr>
              <a:spcAft>
                <a:spcPts val="500"/>
              </a:spcAft>
            </a:pPr>
            <a:r>
              <a:rPr sz="1100" b="1">
                <a:solidFill>
                  <a:srgbClr val="000000"/>
                </a:solidFill>
                <a:latin typeface="Arial"/>
              </a:rPr>
              <a:t>• SHA-256 Cryptographic Vault (Batch Audit Ledger)</a:t>
            </a:r>
          </a:p>
          <a:p>
            <a:pPr>
              <a:spcAft>
                <a:spcPts val="500"/>
              </a:spcAft>
            </a:pPr>
            <a:r>
              <a:rPr sz="1100" b="1">
                <a:solidFill>
                  <a:srgbClr val="000000"/>
                </a:solidFill>
                <a:latin typeface="Arial"/>
              </a:rPr>
              <a:t>• FastAPI &amp; Uvicorn (High-Throughput REST Microservices)</a:t>
            </a:r>
          </a:p>
          <a:p>
            <a:pPr>
              <a:spcAft>
                <a:spcPts val="500"/>
              </a:spcAft>
            </a:pPr>
            <a:r>
              <a:rPr sz="1100" b="1">
                <a:solidFill>
                  <a:srgbClr val="000000"/>
                </a:solidFill>
                <a:latin typeface="Arial"/>
              </a:rPr>
              <a:t>• PostgreSQL (Relational Time-Series Fare Database)</a:t>
            </a:r>
          </a:p>
          <a:p>
            <a:pPr>
              <a:spcAft>
                <a:spcPts val="500"/>
              </a:spcAft>
            </a:pPr>
            <a:r>
              <a:rPr sz="1100" b="1">
                <a:solidFill>
                  <a:srgbClr val="000000"/>
                </a:solidFill>
                <a:latin typeface="Arial"/>
              </a:rPr>
              <a:t>• React 19 &amp; TailwindCSS (Interactive Policy Dashboards)</a:t>
            </a:r>
          </a:p>
          <a:p>
            <a:pPr>
              <a:spcAft>
                <a:spcPts val="500"/>
              </a:spcAft>
            </a:pPr>
            <a:r>
              <a:rPr sz="1100" b="1">
                <a:solidFill>
                  <a:srgbClr val="000000"/>
                </a:solidFill>
                <a:latin typeface="Arial"/>
              </a:rPr>
              <a:t>• Vercel Edge &amp; GitHub Actions (Serverless Daily Cron)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90288" y="1051560"/>
            <a:ext cx="1655064" cy="54406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90288" y="1051560"/>
            <a:ext cx="1655064" cy="841248"/>
          </a:xfrm>
          <a:prstGeom prst="roundRect">
            <a:avLst>
              <a:gd name="adj" fmla="val 15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980" b="1">
                <a:solidFill>
                  <a:srgbClr val="FFFFFF"/>
                </a:solidFill>
                <a:latin typeface="Arial"/>
              </a:defRPr>
            </a:pPr>
            <a:r>
              <a:t>TIER 1: HARVESTING</a:t>
            </a:r>
          </a:p>
          <a:p>
            <a:pPr algn="ctr">
              <a:defRPr sz="800" b="1">
                <a:solidFill>
                  <a:srgbClr val="F1F5F9"/>
                </a:solidFill>
                <a:latin typeface="Arial"/>
              </a:defRPr>
            </a:pPr>
            <a:r>
              <a:t>Distributed Web Extraction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63440" y="1965960"/>
            <a:ext cx="1508760" cy="310896"/>
          </a:xfrm>
          <a:prstGeom prst="roundRect">
            <a:avLst>
              <a:gd name="adj" fmla="val 40000"/>
            </a:avLst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780" b="1">
                <a:solidFill>
                  <a:srgbClr val="2563EB"/>
                </a:solidFill>
                <a:latin typeface="Arial"/>
              </a:defRPr>
            </a:pPr>
            <a:r>
              <a:t>⏱️ 02:00 AM IST CRON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54296" y="2350008"/>
            <a:ext cx="1527048" cy="950976"/>
          </a:xfrm>
          <a:prstGeom prst="roundRect">
            <a:avLst>
              <a:gd name="adj" fmla="val 10000"/>
            </a:avLst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90872" y="2395728"/>
            <a:ext cx="1453896" cy="8595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80" b="1">
                <a:solidFill>
                  <a:srgbClr val="2563EB"/>
                </a:solidFill>
                <a:latin typeface="Arial"/>
              </a:defRPr>
            </a:pPr>
            <a:r>
              <a:t>🌐 Direct Portals</a:t>
            </a:r>
          </a:p>
          <a:p>
            <a:pPr>
              <a:defRPr sz="740" b="1">
                <a:solidFill>
                  <a:srgbClr val="0F172A"/>
                </a:solidFill>
                <a:latin typeface="Arial"/>
              </a:defRPr>
            </a:pPr>
            <a:r>
              <a:t>Live scrape: IndiGo, Air India, Akasa, SpiceJet</a:t>
            </a:r>
          </a:p>
          <a:p>
            <a:pPr>
              <a:defRPr sz="700">
                <a:solidFill>
                  <a:srgbClr val="475569"/>
                </a:solidFill>
                <a:latin typeface="Arial"/>
              </a:defRPr>
            </a:pPr>
            <a:r>
              <a:t>Zero API costs via direct endpoints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54296" y="3374136"/>
            <a:ext cx="1527048" cy="950976"/>
          </a:xfrm>
          <a:prstGeom prst="roundRect">
            <a:avLst>
              <a:gd name="adj" fmla="val 10000"/>
            </a:avLst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90872" y="3419856"/>
            <a:ext cx="1453896" cy="8595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80" b="1">
                <a:solidFill>
                  <a:srgbClr val="2563EB"/>
                </a:solidFill>
                <a:latin typeface="Arial"/>
              </a:defRPr>
            </a:pPr>
            <a:r>
              <a:t>🕷️ Stealth Engine</a:t>
            </a:r>
          </a:p>
          <a:p>
            <a:pPr>
              <a:defRPr sz="740" b="1">
                <a:solidFill>
                  <a:srgbClr val="0F172A"/>
                </a:solidFill>
                <a:latin typeface="Arial"/>
              </a:defRPr>
            </a:pPr>
            <a:r>
              <a:t>Playwright headless + stealth proxy pool</a:t>
            </a:r>
          </a:p>
          <a:p>
            <a:pPr>
              <a:defRPr sz="700">
                <a:solidFill>
                  <a:srgbClr val="475569"/>
                </a:solidFill>
                <a:latin typeface="Arial"/>
              </a:defRPr>
            </a:pPr>
            <a:r>
              <a:t>Evades anti-bot &amp; Cloudflare blocks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54296" y="4398264"/>
            <a:ext cx="1527048" cy="950976"/>
          </a:xfrm>
          <a:prstGeom prst="roundRect">
            <a:avLst>
              <a:gd name="adj" fmla="val 10000"/>
            </a:avLst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90872" y="4443984"/>
            <a:ext cx="1453896" cy="8595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80" b="1">
                <a:solidFill>
                  <a:srgbClr val="2563EB"/>
                </a:solidFill>
                <a:latin typeface="Arial"/>
              </a:defRPr>
            </a:pPr>
            <a:r>
              <a:t>📅 5 Horizons</a:t>
            </a:r>
          </a:p>
          <a:p>
            <a:pPr>
              <a:defRPr sz="740" b="1">
                <a:solidFill>
                  <a:srgbClr val="0F172A"/>
                </a:solidFill>
                <a:latin typeface="Arial"/>
              </a:defRPr>
            </a:pPr>
            <a:r>
              <a:t>T+1, T+7, T+15, T+30, T+45 advance curves</a:t>
            </a:r>
          </a:p>
          <a:p>
            <a:pPr>
              <a:defRPr sz="700">
                <a:solidFill>
                  <a:srgbClr val="475569"/>
                </a:solidFill>
                <a:latin typeface="Arial"/>
              </a:defRPr>
            </a:pPr>
            <a:r>
              <a:t>Captures full dynamic yield trajectory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654296" y="5422392"/>
            <a:ext cx="1527048" cy="950976"/>
          </a:xfrm>
          <a:prstGeom prst="roundRect">
            <a:avLst>
              <a:gd name="adj" fmla="val 10000"/>
            </a:avLst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90872" y="5468112"/>
            <a:ext cx="1453896" cy="8595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80" b="1">
                <a:solidFill>
                  <a:srgbClr val="2563EB"/>
                </a:solidFill>
                <a:latin typeface="Arial"/>
              </a:defRPr>
            </a:pPr>
            <a:r>
              <a:t>🛡️ Ethical Scrape</a:t>
            </a:r>
          </a:p>
          <a:p>
            <a:pPr>
              <a:defRPr sz="740" b="1">
                <a:solidFill>
                  <a:srgbClr val="0F172A"/>
                </a:solidFill>
                <a:latin typeface="Arial"/>
              </a:defRPr>
            </a:pPr>
            <a:r>
              <a:t>Strict robots.txt rate-limiting adherence</a:t>
            </a:r>
          </a:p>
          <a:p>
            <a:pPr>
              <a:defRPr sz="700">
                <a:solidFill>
                  <a:srgbClr val="475569"/>
                </a:solidFill>
                <a:latin typeface="Arial"/>
              </a:defRPr>
            </a:pPr>
            <a:r>
              <a:t>Off-peak nightly execution batches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6263640" y="4572000"/>
            <a:ext cx="118872" cy="237744"/>
          </a:xfrm>
          <a:prstGeom prst="right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400800" y="1051560"/>
            <a:ext cx="1655064" cy="54406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400800" y="1051560"/>
            <a:ext cx="1655064" cy="841248"/>
          </a:xfrm>
          <a:prstGeom prst="roundRect">
            <a:avLst>
              <a:gd name="adj" fmla="val 15000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980" b="1">
                <a:solidFill>
                  <a:srgbClr val="FFFFFF"/>
                </a:solidFill>
                <a:latin typeface="Arial"/>
              </a:defRPr>
            </a:pPr>
            <a:r>
              <a:t>TIER 2: CLEANSING</a:t>
            </a:r>
          </a:p>
          <a:p>
            <a:pPr algn="ctr">
              <a:defRPr sz="800" b="1">
                <a:solidFill>
                  <a:srgbClr val="F1F5F9"/>
                </a:solidFill>
                <a:latin typeface="Arial"/>
              </a:defRPr>
            </a:pPr>
            <a:r>
              <a:t>Normalization &amp; Outliers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73952" y="1965960"/>
            <a:ext cx="1508760" cy="310896"/>
          </a:xfrm>
          <a:prstGeom prst="roundRect">
            <a:avLst>
              <a:gd name="adj" fmla="val 40000"/>
            </a:avLst>
          </a:prstGeom>
          <a:solidFill>
            <a:srgbClr val="F0FDF4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780" b="1">
                <a:solidFill>
                  <a:srgbClr val="059669"/>
                </a:solidFill>
                <a:latin typeface="Arial"/>
              </a:defRPr>
            </a:pPr>
            <a:r>
              <a:t>📊 IQR DYNAMIC FILTER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64808" y="2350008"/>
            <a:ext cx="1527048" cy="950976"/>
          </a:xfrm>
          <a:prstGeom prst="roundRect">
            <a:avLst>
              <a:gd name="adj" fmla="val 10000"/>
            </a:avLst>
          </a:prstGeom>
          <a:solidFill>
            <a:srgbClr val="F0FDF4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01384" y="2395728"/>
            <a:ext cx="1453896" cy="8595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80" b="1">
                <a:solidFill>
                  <a:srgbClr val="059669"/>
                </a:solidFill>
                <a:latin typeface="Arial"/>
              </a:defRPr>
            </a:pPr>
            <a:r>
              <a:t>💰 Fare Isolator</a:t>
            </a:r>
          </a:p>
          <a:p>
            <a:pPr>
              <a:defRPr sz="740" b="1">
                <a:solidFill>
                  <a:srgbClr val="0F172A"/>
                </a:solidFill>
                <a:latin typeface="Arial"/>
              </a:defRPr>
            </a:pPr>
            <a:r>
              <a:t>Strips GST, UDF &amp; ancillary fees</a:t>
            </a:r>
          </a:p>
          <a:p>
            <a:pPr>
              <a:defRPr sz="700">
                <a:solidFill>
                  <a:srgbClr val="475569"/>
                </a:solidFill>
                <a:latin typeface="Arial"/>
              </a:defRPr>
            </a:pPr>
            <a:r>
              <a:t>Extracts pure base fare + fuel charge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64808" y="3374136"/>
            <a:ext cx="1527048" cy="950976"/>
          </a:xfrm>
          <a:prstGeom prst="roundRect">
            <a:avLst>
              <a:gd name="adj" fmla="val 10000"/>
            </a:avLst>
          </a:prstGeom>
          <a:solidFill>
            <a:srgbClr val="F0FDF4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01384" y="3419856"/>
            <a:ext cx="1453896" cy="8595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80" b="1">
                <a:solidFill>
                  <a:srgbClr val="059669"/>
                </a:solidFill>
                <a:latin typeface="Arial"/>
              </a:defRPr>
            </a:pPr>
            <a:r>
              <a:t>📋 Schema Norm</a:t>
            </a:r>
          </a:p>
          <a:p>
            <a:pPr>
              <a:defRPr sz="740" b="1">
                <a:solidFill>
                  <a:srgbClr val="0F172A"/>
                </a:solidFill>
                <a:latin typeface="Arial"/>
              </a:defRPr>
            </a:pPr>
            <a:r>
              <a:t>Unifies route, flight ID, date &amp; cabin tier</a:t>
            </a:r>
          </a:p>
          <a:p>
            <a:pPr>
              <a:defRPr sz="700">
                <a:solidFill>
                  <a:srgbClr val="475569"/>
                </a:solidFill>
                <a:latin typeface="Arial"/>
              </a:defRPr>
            </a:pPr>
            <a:r>
              <a:t>Consistent relational JSON schema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64808" y="4398264"/>
            <a:ext cx="1527048" cy="950976"/>
          </a:xfrm>
          <a:prstGeom prst="roundRect">
            <a:avLst>
              <a:gd name="adj" fmla="val 10000"/>
            </a:avLst>
          </a:prstGeom>
          <a:solidFill>
            <a:srgbClr val="F0FDF4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01384" y="4443984"/>
            <a:ext cx="1453896" cy="8595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80" b="1">
                <a:solidFill>
                  <a:srgbClr val="059669"/>
                </a:solidFill>
                <a:latin typeface="Arial"/>
              </a:defRPr>
            </a:pPr>
            <a:r>
              <a:t>✂️ Dynamic IQR</a:t>
            </a:r>
          </a:p>
          <a:p>
            <a:pPr>
              <a:defRPr sz="740" b="1">
                <a:solidFill>
                  <a:srgbClr val="0F172A"/>
                </a:solidFill>
                <a:latin typeface="Arial"/>
              </a:defRPr>
            </a:pPr>
            <a:r>
              <a:t>Interquartile outlier filter removes flash spikes</a:t>
            </a:r>
          </a:p>
          <a:p>
            <a:pPr>
              <a:defRPr sz="700">
                <a:solidFill>
                  <a:srgbClr val="475569"/>
                </a:solidFill>
                <a:latin typeface="Arial"/>
              </a:defRPr>
            </a:pPr>
            <a:r>
              <a:t>Truncates unrepresentative ±1.5 IQR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64808" y="5422392"/>
            <a:ext cx="1527048" cy="950976"/>
          </a:xfrm>
          <a:prstGeom prst="roundRect">
            <a:avLst>
              <a:gd name="adj" fmla="val 10000"/>
            </a:avLst>
          </a:prstGeom>
          <a:solidFill>
            <a:srgbClr val="F0FDF4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01384" y="5468112"/>
            <a:ext cx="1453896" cy="8595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80" b="1">
                <a:solidFill>
                  <a:srgbClr val="059669"/>
                </a:solidFill>
                <a:latin typeface="Arial"/>
              </a:defRPr>
            </a:pPr>
            <a:r>
              <a:t>🧹 Phantom Scrub</a:t>
            </a:r>
          </a:p>
          <a:p>
            <a:pPr>
              <a:defRPr sz="740" b="1">
                <a:solidFill>
                  <a:srgbClr val="0F172A"/>
                </a:solidFill>
                <a:latin typeface="Arial"/>
              </a:defRPr>
            </a:pPr>
            <a:r>
              <a:t>Purges cache glitches &amp; stale inventory</a:t>
            </a:r>
          </a:p>
          <a:p>
            <a:pPr>
              <a:defRPr sz="700">
                <a:solidFill>
                  <a:srgbClr val="475569"/>
                </a:solidFill>
                <a:latin typeface="Arial"/>
              </a:defRPr>
            </a:pPr>
            <a:r>
              <a:t>Validates seat availability in real time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8074152" y="4572000"/>
            <a:ext cx="118872" cy="237744"/>
          </a:xfrm>
          <a:prstGeom prst="right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211312" y="1051560"/>
            <a:ext cx="1655064" cy="54406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211312" y="1051560"/>
            <a:ext cx="1655064" cy="841248"/>
          </a:xfrm>
          <a:prstGeom prst="roundRect">
            <a:avLst>
              <a:gd name="adj" fmla="val 15000"/>
            </a:avLst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980" b="1">
                <a:solidFill>
                  <a:srgbClr val="FFFFFF"/>
                </a:solidFill>
                <a:latin typeface="Arial"/>
              </a:defRPr>
            </a:pPr>
            <a:r>
              <a:t>TIER 3: INDEX ENGINE</a:t>
            </a:r>
          </a:p>
          <a:p>
            <a:pPr algn="ctr">
              <a:defRPr sz="800" b="1">
                <a:solidFill>
                  <a:srgbClr val="F1F5F9"/>
                </a:solidFill>
                <a:latin typeface="Arial"/>
              </a:defRPr>
            </a:pPr>
            <a:r>
              <a:t>UN/ILO Statistical Math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84464" y="1965960"/>
            <a:ext cx="1508760" cy="310896"/>
          </a:xfrm>
          <a:prstGeom prst="roundRect">
            <a:avLst>
              <a:gd name="adj" fmla="val 40000"/>
            </a:avLst>
          </a:prstGeom>
          <a:solidFill>
            <a:srgbClr val="FEFCE8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780" b="1">
                <a:solidFill>
                  <a:srgbClr val="D97706"/>
                </a:solidFill>
                <a:latin typeface="Arial"/>
              </a:defRPr>
            </a:pPr>
            <a:r>
              <a:t>📐 UN/ILO CHAPTER 10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275320" y="2350008"/>
            <a:ext cx="1527048" cy="950976"/>
          </a:xfrm>
          <a:prstGeom prst="roundRect">
            <a:avLst>
              <a:gd name="adj" fmla="val 10000"/>
            </a:avLst>
          </a:prstGeom>
          <a:solidFill>
            <a:srgbClr val="FEFCE8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311896" y="2395728"/>
            <a:ext cx="1453896" cy="8595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80" b="1">
                <a:solidFill>
                  <a:srgbClr val="D97706"/>
                </a:solidFill>
                <a:latin typeface="Arial"/>
              </a:defRPr>
            </a:pPr>
            <a:r>
              <a:t>🧮 Jevons GM</a:t>
            </a:r>
          </a:p>
          <a:p>
            <a:pPr>
              <a:defRPr sz="740" b="1">
                <a:solidFill>
                  <a:srgbClr val="0F172A"/>
                </a:solidFill>
                <a:latin typeface="Arial"/>
              </a:defRPr>
            </a:pPr>
            <a:r>
              <a:t>I_J = ∏(p_t / p_0)^(1/n) geometric mean</a:t>
            </a:r>
          </a:p>
          <a:p>
            <a:pPr>
              <a:defRPr sz="700">
                <a:solidFill>
                  <a:srgbClr val="475569"/>
                </a:solidFill>
                <a:latin typeface="Arial"/>
              </a:defRPr>
            </a:pPr>
            <a:r>
              <a:t>Elementary unweighted price relative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275320" y="3374136"/>
            <a:ext cx="1527048" cy="950976"/>
          </a:xfrm>
          <a:prstGeom prst="roundRect">
            <a:avLst>
              <a:gd name="adj" fmla="val 10000"/>
            </a:avLst>
          </a:prstGeom>
          <a:solidFill>
            <a:srgbClr val="FEFCE8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11896" y="3419856"/>
            <a:ext cx="1453896" cy="8595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80" b="1">
                <a:solidFill>
                  <a:srgbClr val="D97706"/>
                </a:solidFill>
                <a:latin typeface="Arial"/>
              </a:defRPr>
            </a:pPr>
            <a:r>
              <a:t>⚖️ Zero Bias</a:t>
            </a:r>
          </a:p>
          <a:p>
            <a:pPr>
              <a:defRPr sz="740" b="1">
                <a:solidFill>
                  <a:srgbClr val="0F172A"/>
                </a:solidFill>
                <a:latin typeface="Arial"/>
              </a:defRPr>
            </a:pPr>
            <a:r>
              <a:t>Eliminates Dutot upward substitution distortion</a:t>
            </a:r>
          </a:p>
          <a:p>
            <a:pPr>
              <a:defRPr sz="700">
                <a:solidFill>
                  <a:srgbClr val="475569"/>
                </a:solidFill>
                <a:latin typeface="Arial"/>
              </a:defRPr>
            </a:pPr>
            <a:r>
              <a:t>UN/ILO Chapter 10 axiomatic compliance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275320" y="4398264"/>
            <a:ext cx="1527048" cy="950976"/>
          </a:xfrm>
          <a:prstGeom prst="roundRect">
            <a:avLst>
              <a:gd name="adj" fmla="val 10000"/>
            </a:avLst>
          </a:prstGeom>
          <a:solidFill>
            <a:srgbClr val="FEFCE8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311896" y="4443984"/>
            <a:ext cx="1453896" cy="8595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80" b="1">
                <a:solidFill>
                  <a:srgbClr val="D97706"/>
                </a:solidFill>
                <a:latin typeface="Arial"/>
              </a:defRPr>
            </a:pPr>
            <a:r>
              <a:t>✈️ DGCA Weights</a:t>
            </a:r>
          </a:p>
          <a:p>
            <a:pPr>
              <a:defRPr sz="740" b="1">
                <a:solidFill>
                  <a:srgbClr val="0F172A"/>
                </a:solidFill>
                <a:latin typeface="Arial"/>
              </a:defRPr>
            </a:pPr>
            <a:r>
              <a:t>Calibrated by monthly route passenger volume</a:t>
            </a:r>
          </a:p>
          <a:p>
            <a:pPr>
              <a:defRPr sz="700">
                <a:solidFill>
                  <a:srgbClr val="475569"/>
                </a:solidFill>
                <a:latin typeface="Arial"/>
              </a:defRPr>
            </a:pPr>
            <a:r>
              <a:t>Accurately reflects real consumer share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275320" y="5422392"/>
            <a:ext cx="1527048" cy="950976"/>
          </a:xfrm>
          <a:prstGeom prst="roundRect">
            <a:avLst>
              <a:gd name="adj" fmla="val 10000"/>
            </a:avLst>
          </a:prstGeom>
          <a:solidFill>
            <a:srgbClr val="FEFCE8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311896" y="5468112"/>
            <a:ext cx="1453896" cy="8595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80" b="1">
                <a:solidFill>
                  <a:srgbClr val="D97706"/>
                </a:solidFill>
                <a:latin typeface="Arial"/>
              </a:defRPr>
            </a:pPr>
            <a:r>
              <a:t>📈 Laspeyres</a:t>
            </a:r>
          </a:p>
          <a:p>
            <a:pPr>
              <a:defRPr sz="740" b="1">
                <a:solidFill>
                  <a:srgbClr val="0F172A"/>
                </a:solidFill>
                <a:latin typeface="Arial"/>
              </a:defRPr>
            </a:pPr>
            <a:r>
              <a:t>Aggregates 12 metro corridors composite index</a:t>
            </a:r>
          </a:p>
          <a:p>
            <a:pPr>
              <a:defRPr sz="700">
                <a:solidFill>
                  <a:srgbClr val="475569"/>
                </a:solidFill>
                <a:latin typeface="Arial"/>
              </a:defRPr>
            </a:pPr>
            <a:r>
              <a:t>Produces headline inflation relative</a:t>
            </a:r>
          </a:p>
        </p:txBody>
      </p:sp>
      <p:sp>
        <p:nvSpPr>
          <p:cNvPr id="43" name="Right Arrow 42"/>
          <p:cNvSpPr/>
          <p:nvPr/>
        </p:nvSpPr>
        <p:spPr>
          <a:xfrm>
            <a:off x="9884664" y="4572000"/>
            <a:ext cx="118872" cy="237744"/>
          </a:xfrm>
          <a:prstGeom prst="right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10021824" y="1051560"/>
            <a:ext cx="1655064" cy="54406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10021824" y="1051560"/>
            <a:ext cx="1655064" cy="841248"/>
          </a:xfrm>
          <a:prstGeom prst="roundRect">
            <a:avLst>
              <a:gd name="adj" fmla="val 15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980" b="1">
                <a:solidFill>
                  <a:srgbClr val="FFFFFF"/>
                </a:solidFill>
                <a:latin typeface="Arial"/>
              </a:defRPr>
            </a:pPr>
            <a:r>
              <a:t>TIER 4: VAULT &amp; API</a:t>
            </a:r>
          </a:p>
          <a:p>
            <a:pPr algn="ctr">
              <a:defRPr sz="800" b="1">
                <a:solidFill>
                  <a:srgbClr val="F1F5F9"/>
                </a:solidFill>
                <a:latin typeface="Arial"/>
              </a:defRPr>
            </a:pPr>
            <a:r>
              <a:t>Cryptographic Audit &amp; API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0094976" y="1965960"/>
            <a:ext cx="1508760" cy="310896"/>
          </a:xfrm>
          <a:prstGeom prst="roundRect">
            <a:avLst>
              <a:gd name="adj" fmla="val 40000"/>
            </a:avLst>
          </a:prstGeom>
          <a:solidFill>
            <a:srgbClr val="FAF5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780" b="1">
                <a:solidFill>
                  <a:srgbClr val="7C3AED"/>
                </a:solidFill>
                <a:latin typeface="Arial"/>
              </a:defRPr>
            </a:pPr>
            <a:r>
              <a:t>🔒 SHA-256 PROVENANCE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0085832" y="2350008"/>
            <a:ext cx="1527048" cy="950976"/>
          </a:xfrm>
          <a:prstGeom prst="roundRect">
            <a:avLst>
              <a:gd name="adj" fmla="val 10000"/>
            </a:avLst>
          </a:prstGeom>
          <a:solidFill>
            <a:srgbClr val="FAF5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122408" y="2395728"/>
            <a:ext cx="1453896" cy="8595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80" b="1">
                <a:solidFill>
                  <a:srgbClr val="7C3AED"/>
                </a:solidFill>
                <a:latin typeface="Arial"/>
              </a:defRPr>
            </a:pPr>
            <a:r>
              <a:t>🔐 SHA-256 Vault</a:t>
            </a:r>
          </a:p>
          <a:p>
            <a:pPr>
              <a:defRPr sz="740" b="1">
                <a:solidFill>
                  <a:srgbClr val="0F172A"/>
                </a:solidFill>
                <a:latin typeface="Arial"/>
              </a:defRPr>
            </a:pPr>
            <a:r>
              <a:t>Immutable Merkle batch audit fingerprints</a:t>
            </a:r>
          </a:p>
          <a:p>
            <a:pPr>
              <a:defRPr sz="700">
                <a:solidFill>
                  <a:srgbClr val="475569"/>
                </a:solidFill>
                <a:latin typeface="Arial"/>
              </a:defRPr>
            </a:pPr>
            <a:r>
              <a:t>Sovereign-grade judicial auditability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0085832" y="3374136"/>
            <a:ext cx="1527048" cy="950976"/>
          </a:xfrm>
          <a:prstGeom prst="roundRect">
            <a:avLst>
              <a:gd name="adj" fmla="val 10000"/>
            </a:avLst>
          </a:prstGeom>
          <a:solidFill>
            <a:srgbClr val="FAF5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122408" y="3419856"/>
            <a:ext cx="1453896" cy="8595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80" b="1">
                <a:solidFill>
                  <a:srgbClr val="7C3AED"/>
                </a:solidFill>
                <a:latin typeface="Arial"/>
              </a:defRPr>
            </a:pPr>
            <a:r>
              <a:t>🗄️ PostgreSQL</a:t>
            </a:r>
          </a:p>
          <a:p>
            <a:pPr>
              <a:defRPr sz="740" b="1">
                <a:solidFill>
                  <a:srgbClr val="0F172A"/>
                </a:solidFill>
                <a:latin typeface="Arial"/>
              </a:defRPr>
            </a:pPr>
            <a:r>
              <a:t>NDSAP-compliant sovereign relational store</a:t>
            </a:r>
          </a:p>
          <a:p>
            <a:pPr>
              <a:defRPr sz="700">
                <a:solidFill>
                  <a:srgbClr val="475569"/>
                </a:solidFill>
                <a:latin typeface="Arial"/>
              </a:defRPr>
            </a:pPr>
            <a:r>
              <a:t>Partitioned time-series historical DB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10085832" y="4398264"/>
            <a:ext cx="1527048" cy="950976"/>
          </a:xfrm>
          <a:prstGeom prst="roundRect">
            <a:avLst>
              <a:gd name="adj" fmla="val 10000"/>
            </a:avLst>
          </a:prstGeom>
          <a:solidFill>
            <a:srgbClr val="FAF5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122408" y="4443984"/>
            <a:ext cx="1453896" cy="8595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80" b="1">
                <a:solidFill>
                  <a:srgbClr val="7C3AED"/>
                </a:solidFill>
                <a:latin typeface="Arial"/>
              </a:defRPr>
            </a:pPr>
            <a:r>
              <a:t>⚡ FastAPI Feed</a:t>
            </a:r>
          </a:p>
          <a:p>
            <a:pPr>
              <a:defRPr sz="740" b="1">
                <a:solidFill>
                  <a:srgbClr val="0F172A"/>
                </a:solidFill>
                <a:latin typeface="Arial"/>
              </a:defRPr>
            </a:pPr>
            <a:r>
              <a:t>High-throughput REST API (/api/v1/apix/*)</a:t>
            </a:r>
          </a:p>
          <a:p>
            <a:pPr>
              <a:defRPr sz="700">
                <a:solidFill>
                  <a:srgbClr val="475569"/>
                </a:solidFill>
                <a:latin typeface="Arial"/>
              </a:defRPr>
            </a:pPr>
            <a:r>
              <a:t>Sub-10ms response with OpenAPI 3.1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10085832" y="5422392"/>
            <a:ext cx="1527048" cy="950976"/>
          </a:xfrm>
          <a:prstGeom prst="roundRect">
            <a:avLst>
              <a:gd name="adj" fmla="val 10000"/>
            </a:avLst>
          </a:prstGeom>
          <a:solidFill>
            <a:srgbClr val="FAF5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122408" y="5468112"/>
            <a:ext cx="1453896" cy="8595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80" b="1">
                <a:solidFill>
                  <a:srgbClr val="7C3AED"/>
                </a:solidFill>
                <a:latin typeface="Arial"/>
              </a:defRPr>
            </a:pPr>
            <a:r>
              <a:t>🏛️ MoSPI Portal</a:t>
            </a:r>
          </a:p>
          <a:p>
            <a:pPr>
              <a:defRPr sz="740" b="1">
                <a:solidFill>
                  <a:srgbClr val="0F172A"/>
                </a:solidFill>
                <a:latin typeface="Arial"/>
              </a:defRPr>
            </a:pPr>
            <a:r>
              <a:t>Direct eSankhyiki CSV &amp; live React 19 UI</a:t>
            </a:r>
          </a:p>
          <a:p>
            <a:pPr>
              <a:defRPr sz="700">
                <a:solidFill>
                  <a:srgbClr val="475569"/>
                </a:solidFill>
                <a:latin typeface="Arial"/>
              </a:defRPr>
            </a:pPr>
            <a:r>
              <a:t>Real-time feed for RBI policy setting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